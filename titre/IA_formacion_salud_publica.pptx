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4" d="100"/>
          <a:sy n="114" d="100"/>
        </p:scale>
        <p:origin x="43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Feuille_de_calcul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Parte del grupo que ya había usado una IA generativa</c:v>
                </c:pt>
              </c:strCache>
            </c:strRef>
          </c:tx>
          <c:spPr>
            <a:solidFill>
              <a:srgbClr val="1C6E7D"/>
            </a:solidFill>
            <a:effectLst/>
          </c:spPr>
          <c:invertIfNegative val="0"/>
          <c:dPt>
            <c:idx val="0"/>
            <c:invertIfNegative val="0"/>
            <c:bubble3D val="0"/>
            <c:extLst>
              <c:ext xmlns:c16="http://schemas.microsoft.com/office/drawing/2014/chart" uri="{C3380CC4-5D6E-409C-BE32-E72D297353CC}">
                <c16:uniqueId val="{00000001-75BB-4D84-82C8-6811661A5456}"/>
              </c:ext>
            </c:extLst>
          </c:dPt>
          <c:dPt>
            <c:idx val="1"/>
            <c:invertIfNegative val="0"/>
            <c:bubble3D val="0"/>
            <c:spPr>
              <a:solidFill>
                <a:srgbClr val="E29524"/>
              </a:solidFill>
              <a:effectLst/>
            </c:spPr>
            <c:extLst>
              <c:ext xmlns:c16="http://schemas.microsoft.com/office/drawing/2014/chart" uri="{C3380CC4-5D6E-409C-BE32-E72D297353CC}">
                <c16:uniqueId val="{00000003-75BB-4D84-82C8-6811661A5456}"/>
              </c:ext>
            </c:extLst>
          </c:dPt>
          <c:dLbls>
            <c:numFmt formatCode="0&quot; %&quot;" sourceLinked="0"/>
            <c:spPr>
              <a:noFill/>
              <a:ln>
                <a:noFill/>
              </a:ln>
              <a:effectLst/>
            </c:spPr>
            <c:txPr>
              <a:bodyPr/>
              <a:lstStyle/>
              <a:p>
                <a:pPr>
                  <a:defRPr sz="2000" b="1" i="0" u="none" strike="noStrike">
                    <a:solidFill>
                      <a:srgbClr val="0E2233"/>
                    </a:solidFill>
                    <a:latin typeface="Calibri"/>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Sheet1!$A$2:$A$3</c:f>
              <c:strCache>
                <c:ptCount val="2"/>
                <c:pt idx="0">
                  <c:v>Primavera 2023</c:v>
                </c:pt>
                <c:pt idx="1">
                  <c:v>Otoño 2023</c:v>
                </c:pt>
              </c:strCache>
            </c:strRef>
          </c:cat>
          <c:val>
            <c:numRef>
              <c:f>Sheet1!$B$2:$B$3</c:f>
              <c:numCache>
                <c:formatCode>General</c:formatCode>
                <c:ptCount val="2"/>
                <c:pt idx="0">
                  <c:v>3</c:v>
                </c:pt>
                <c:pt idx="1">
                  <c:v>100</c:v>
                </c:pt>
              </c:numCache>
            </c:numRef>
          </c:val>
          <c:extLst>
            <c:ext xmlns:c16="http://schemas.microsoft.com/office/drawing/2014/chart" uri="{C3380CC4-5D6E-409C-BE32-E72D297353CC}">
              <c16:uniqueId val="{00000004-75BB-4D84-82C8-6811661A5456}"/>
            </c:ext>
          </c:extLst>
        </c:ser>
        <c:dLbls>
          <c:showLegendKey val="0"/>
          <c:showVal val="1"/>
          <c:showCatName val="0"/>
          <c:showSerName val="0"/>
          <c:showPercent val="0"/>
          <c:showBubbleSize val="0"/>
        </c:dLbls>
        <c:gapWidth val="13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E2233"/>
                </a:solidFill>
                <a:latin typeface="Calibri"/>
              </a:defRPr>
            </a:pPr>
            <a:endParaRPr lang="fr-FR"/>
          </a:p>
        </c:txPr>
        <c:crossAx val="2094734552"/>
        <c:crosses val="autoZero"/>
        <c:auto val="1"/>
        <c:lblAlgn val="ctr"/>
        <c:lblOffset val="100"/>
        <c:noMultiLvlLbl val="1"/>
      </c:catAx>
      <c:valAx>
        <c:axId val="2094734552"/>
        <c:scaling>
          <c:orientation val="minMax"/>
          <c:max val="110"/>
          <c:min val="0"/>
        </c:scaling>
        <c:delete val="0"/>
        <c:axPos val="l"/>
        <c:majorGridlines>
          <c:spPr>
            <a:ln w="12700" cap="flat">
              <a:solidFill>
                <a:srgbClr val="E2E8EC"/>
              </a:solidFill>
              <a:prstDash val="solid"/>
              <a:round/>
            </a:ln>
          </c:spPr>
        </c:majorGridlines>
        <c:numFmt formatCode="0&quot; %&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B78"/>
                </a:solidFill>
                <a:latin typeface="Calibri"/>
              </a:defRPr>
            </a:pPr>
            <a:endParaRPr lang="fr-FR"/>
          </a:p>
        </c:txPr>
        <c:crossAx val="2094734554"/>
        <c:crosses val="autoZero"/>
        <c:crossBetween val="between"/>
        <c:majorUnit val="2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8565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30] Ouvrir sur le chiffre. « Au printemps 2023, la première fois que j'ai donné cette séance, moins de 3 % du groupe avait déjà utilisé une IA générative. À l'automne, six mois plus tard, dans le même cours, avec une autre cohorte : la quasi-totalité. » Insister tout de suite sur ce que ce n'est pas : ce n'est pas un résultat pédagogique, personne n'a fait passer ce groupe de 3 à 100 %. C'est le point de départ imposé. Préciser le cours : MSO 6083, Pratiques de santé publique, ESPUM.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30] Le cœur du cadrage — prendre le temps. Deux cohortes du même cours, six mois d'écart. Aucune variable pédagogique n'explique ce saut : il vient de l'extérieur. Point le plus important de la diapo : la question s'inverse. On ne se demande plus s'il faut introduire l'outil dans la formation — il y est déjà, par la porte de derrière. On se demande comment enseigner le jugement sur un outil que tout le monde utilise. Utiliser le repère orange : ChatGPT ouvre au public le 30 novembre 2022, et cinq mois plus tard le groupe du printemps est encore sous les 3 %. La diffusion n'a pas été instantanée — elle a explosé entre les deux cohortes. Nuance honnête à faire : ce sont des valeurs auto-déclarées, et le chiffre du printemps mesure aussi une réticence à le dire. Pour le public DSP/INSPQ : le même saut s'est produit dans leurs équipes, sans politique.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30] Devant un fait accompli, il ne reste que trois postures. Interdire : déplace l'usage dans l'ombre, sans le faire disparaître. Ignorer : creuse l'écart entre les autodidactes et les autres. Enseigner : accepte que l'IA devienne un objet du cours, avec ses critères de qualité. Transition : « Concrètement, ça donne trois axes.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Diapo à insérer après le dilemme. Message : ce dispositif n'a pas été construit à partir de la littérature, il la rejoint après coup — c'est ce qui rend la démarche transférable plutôt qu'idiosyncrasique. Le point le plus frappant est celui de Caballar : Zingaro, à Toronto, en informatique, a mis en place une vidéo d'explication par les étudiants, exactement comme dans MSO 6083, sans qu'il y ait eu de contact. Le point d'Ali et al. est contre-intuitif et vaut la peine d'être souligné : ce n'est pas la pression des pairs qui explique l'adoption, c'est la confiance dans l'outil. Lin et Zhao servent de pont vers l'axe géomatique — une carte produite avec l'IA n'est jamais neutre.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Diapo de structure : annoncer le plan. Ne pas s'attarder — chaque axe a sa diapo. Souligner la phrase du bas : c'est le point qui surprend le plus un public de santé publique, l'évaluation elle-même mobilise l'IA.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Le cœur de l'argument : le prompt engineering n'est pas un truc, c'est une compétence, au même titre que la recherche documentaire. Les quatre critères de droite sont l'argument à défendre : transmissible, documentable, corrigeable, évaluable. Si un seul de ces quatre manquait, ça resterait un truc.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30] Exemple concret : montrer où se trouvent les cinq composantes dans le prompt réel. Insister sur le contexte — un élu municipal n'est pas un pair scientifique — et sur la contrainte de citation, qui rend le résultat vérifiable. C'est ici que les étudiants comprennent que la précision de la demande est déjà un exercice de santé publique.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Quatre cas, mais insister surtout sur le fait qu'ils sont travaillés sur des données réelles du territoire. Adapter les exemples au public : recensement, INSPQ, rôle foncier parlent directement à une DSP. Ne pas détailler les quatre — en développer un ou deux selon le temps.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La chaîne complète, de la question de terrain à l'outil déployé. Le message de la bande du bas est le plus fort de la présentation : la compétence enseignée n'est pas de coder, c'est de formuler une question de santé publique assez précise pour qu'elle devienne calculable. Enchaîner sur la seconde phrase, en amber : Lin et Zhao montrent que produire une carte sans règles programmées déplace le pouvoir vers des acteurs non humains. Pour un public de santé publique qui produit des cartes de vulnérabilité, c'est un enjeu concret — la réflexivité n'est pas un ornement théorique.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L'idée directrice. La distinction substitution / amplification est le fil de tout le cours. La phrase de conclusion — « sans expertise, on ne sait pas qu'on se fait tromper » — est celle que les étudiants retiennent. Elle vaut aussi pour les équipes professionnelles dans la salle.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Le livrable multimodal. Trois composantes : rédiger avec l'IA, analyser sa propre démarche, puis expliquer oralement sans assistance. La vidéo est le garde-fou : elle réintroduit une compétence non délégable. Souligner que « efficacité de la démarche IA » est un critère noté à part entière — c'est l'élément le plus transférable à d'autres cours. Mentionner la ligne du bas : le même dispositif vidéo est apparu indépendamment en enseignement de la programmation, ce qui suggère qu'il répond à un problème structurel et non à une préférence personnelle.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30] Les trois outils formatifs. Ils ont été produits pour le cours, mais ils illustrent aussi le propos : ce sont exactement le type d'artefacts que la démarche rend faisables. Mentionner qu'ils sont libres et adaptables — plusieurs personnes dans la salle pourraient les reprendre pour leurs propres formations.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Définir le terme, parce qu'il circule sans être défini. Karpathy, cofondateur d'OpenAI, le lance sur X le 2 février 2025 : décrire ce qu'on veut, accepter le code sans relire les lignes, coller les messages d'erreur dans la conversation. Le post était volontairement provocateur et il réservait la méthode à des projets sans enjeu — mais le terme lui a échappé, jusqu'à devenir mot de l'année 2025 chez Collins. Pour un public de santé publique, le point utile est la bande du bas : prototyper, oui ; diffuser sans relecture, non. C'est ce qui distingue un outil de la DSP d'un projet de fin de semaine. Enchaîner directement sur la diapo suivante : c'est cette pratique qui explique que des étudiants produisent maintenant leurs propres applications.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30] La retombée non planifiée, et probablement le moment le plus marquant de la présentation. Le seuil technique s'est déplacé : produire une application web n'exige plus des mois de formation. Ce qui reste rare, c'est de savoir quelle question mérite un outil et comment interpréter un résultat. C'est précisément ce que le programme enseigne.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Diapo d'honnêteté, et diapo la plus utile pour un public de pratique. À gauche : ce qu'un cours ne peut pas déplacer — le taux d'adoption était acquis avant la première séance, la vitesse de diffusion échappe aux programmes. À droite : ce qu'il déplace réellement — l'usage devient dicible, la démarche se documente, l'écart entre étudiants se resserre. Assumer la mention du bas : ce sont des observations qualitatives, pas une évaluation contrôlée. Cette prudence est un atout devant des épidémiologistes.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30] Les limites. Ne pas les traiter comme un avertissement de fin, mais comme une partie du contenu enseigné. Insister sur les données sensibles (règle absolue en milieu de santé) et sur la dépendance à l'outil, qui justifie la composante vidéo. Mentionner les inégalités d'accès : les fonctionnalités les plus utiles sont payantes.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La demande de clôture : ce qui est transférable. Les six pistes fonctionnent indépendamment du contenu disciplinaire. Si le temps manque, retenir les trois premières : prescrire plutôt qu'interdire, évaluer la démarche et pas seulement le produit, conserver une composante non délégable.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Message de fin. Marquer une pause après la phrase. Puis refermer la boucle : le passage de moins de 3 % à près de 100 % s'est fait sans nous, en six mois. Ce qui reste à enseigner, c'est le jugement. Ouvrir la période de questions.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Diapo de référence, à laisser à l'écran pendant les questions. Les quatre outils sont accessibles publiquement et librement réutilisables.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233"/>
        </a:solidFill>
        <a:effectLst/>
      </p:bgPr>
    </p:bg>
    <p:spTree>
      <p:nvGrpSpPr>
        <p:cNvPr id="1" name=""/>
        <p:cNvGrpSpPr/>
        <p:nvPr/>
      </p:nvGrpSpPr>
      <p:grpSpPr>
        <a:xfrm>
          <a:off x="0" y="0"/>
          <a:ext cx="0" cy="0"/>
          <a:chOff x="0" y="0"/>
          <a:chExt cx="0" cy="0"/>
        </a:xfrm>
      </p:grpSpPr>
      <p:sp>
        <p:nvSpPr>
          <p:cNvPr id="2" name="Text 0"/>
          <p:cNvSpPr/>
          <p:nvPr/>
        </p:nvSpPr>
        <p:spPr>
          <a:xfrm>
            <a:off x="777240" y="777240"/>
            <a:ext cx="8229600" cy="274320"/>
          </a:xfrm>
          <a:prstGeom prst="rect">
            <a:avLst/>
          </a:prstGeom>
          <a:noFill/>
          <a:ln/>
        </p:spPr>
        <p:txBody>
          <a:bodyPr wrap="square" lIns="0" tIns="0" rIns="0" bIns="0" rtlCol="0" anchor="ctr"/>
          <a:lstStyle/>
          <a:p>
            <a:pPr marL="0" indent="0">
              <a:buNone/>
            </a:pPr>
            <a:r>
              <a:rPr lang="en-US" sz="1200" kern="0" spc="150" dirty="0">
                <a:solidFill>
                  <a:srgbClr val="3D9AA8"/>
                </a:solidFill>
                <a:latin typeface="Calibri" pitchFamily="34" charset="0"/>
                <a:ea typeface="Calibri" pitchFamily="34" charset="-122"/>
                <a:cs typeface="Calibri" pitchFamily="34" charset="-120"/>
              </a:rPr>
              <a:t>MSO 6083 · Prácticas de salud pública · ESPUM</a:t>
            </a:r>
            <a:endParaRPr lang="en-US" sz="1200" dirty="0"/>
          </a:p>
        </p:txBody>
      </p:sp>
      <p:sp>
        <p:nvSpPr>
          <p:cNvPr id="3" name="Text 1"/>
          <p:cNvSpPr/>
          <p:nvPr/>
        </p:nvSpPr>
        <p:spPr>
          <a:xfrm>
            <a:off x="777240" y="1234440"/>
            <a:ext cx="10607040" cy="105156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Del 3 % a casi el 100 %</a:t>
            </a:r>
            <a:endParaRPr lang="en-US" sz="5400" dirty="0"/>
          </a:p>
        </p:txBody>
      </p:sp>
      <p:sp>
        <p:nvSpPr>
          <p:cNvPr id="4" name="Text 2"/>
          <p:cNvSpPr/>
          <p:nvPr/>
        </p:nvSpPr>
        <p:spPr>
          <a:xfrm>
            <a:off x="777240" y="2286000"/>
            <a:ext cx="10058400" cy="548640"/>
          </a:xfrm>
          <a:prstGeom prst="rect">
            <a:avLst/>
          </a:prstGeom>
          <a:noFill/>
          <a:ln/>
        </p:spPr>
        <p:txBody>
          <a:bodyPr wrap="square" lIns="0" tIns="0" rIns="0" bIns="0" rtlCol="0" anchor="ctr"/>
          <a:lstStyle/>
          <a:p>
            <a:pPr marL="0" indent="0">
              <a:buNone/>
            </a:pPr>
            <a:r>
              <a:rPr lang="en-US" sz="2200" dirty="0">
                <a:solidFill>
                  <a:srgbClr val="E29524"/>
                </a:solidFill>
                <a:latin typeface="Calibri" pitchFamily="34" charset="0"/>
                <a:ea typeface="Calibri" pitchFamily="34" charset="-122"/>
                <a:cs typeface="Calibri" pitchFamily="34" charset="-120"/>
              </a:rPr>
              <a:t>Integrar la IA generativa en la formación en salud pública</a:t>
            </a:r>
            <a:endParaRPr lang="en-US" sz="2200" dirty="0"/>
          </a:p>
        </p:txBody>
      </p:sp>
      <p:sp>
        <p:nvSpPr>
          <p:cNvPr id="5" name="Shape 3"/>
          <p:cNvSpPr/>
          <p:nvPr/>
        </p:nvSpPr>
        <p:spPr>
          <a:xfrm>
            <a:off x="777240" y="3429000"/>
            <a:ext cx="1417320" cy="1417320"/>
          </a:xfrm>
          <a:prstGeom prst="ellipse">
            <a:avLst/>
          </a:prstGeom>
          <a:solidFill>
            <a:srgbClr val="1A3A52"/>
          </a:solidFill>
          <a:ln w="15875">
            <a:solidFill>
              <a:srgbClr val="3D9AA8"/>
            </a:solidFill>
            <a:prstDash val="solid"/>
          </a:ln>
        </p:spPr>
      </p:sp>
      <p:sp>
        <p:nvSpPr>
          <p:cNvPr id="6" name="Text 4"/>
          <p:cNvSpPr/>
          <p:nvPr/>
        </p:nvSpPr>
        <p:spPr>
          <a:xfrm>
            <a:off x="777240" y="3429000"/>
            <a:ext cx="1417320" cy="14173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&lt; 3 %</a:t>
            </a:r>
            <a:endParaRPr lang="en-US" sz="2200" dirty="0"/>
          </a:p>
        </p:txBody>
      </p:sp>
      <p:sp>
        <p:nvSpPr>
          <p:cNvPr id="7" name="Text 5"/>
          <p:cNvSpPr/>
          <p:nvPr/>
        </p:nvSpPr>
        <p:spPr>
          <a:xfrm>
            <a:off x="457200" y="4910328"/>
            <a:ext cx="2057400" cy="274320"/>
          </a:xfrm>
          <a:prstGeom prst="rect">
            <a:avLst/>
          </a:prstGeom>
          <a:noFill/>
          <a:ln/>
        </p:spPr>
        <p:txBody>
          <a:bodyPr wrap="square" lIns="0" tIns="0" rIns="0" bIns="0" rtlCol="0" anchor="ctr"/>
          <a:lstStyle/>
          <a:p>
            <a:pPr marL="0" indent="0" algn="ctr">
              <a:buNone/>
            </a:pPr>
            <a:r>
              <a:rPr lang="en-US" sz="1100" dirty="0">
                <a:solidFill>
                  <a:srgbClr val="5A6B78"/>
                </a:solidFill>
                <a:latin typeface="Calibri" pitchFamily="34" charset="0"/>
                <a:ea typeface="Calibri" pitchFamily="34" charset="-122"/>
                <a:cs typeface="Calibri" pitchFamily="34" charset="-120"/>
              </a:rPr>
              <a:t>primavera de 2023</a:t>
            </a:r>
            <a:endParaRPr lang="en-US" sz="1100" dirty="0"/>
          </a:p>
        </p:txBody>
      </p:sp>
      <p:sp>
        <p:nvSpPr>
          <p:cNvPr id="8" name="Shape 6"/>
          <p:cNvSpPr/>
          <p:nvPr/>
        </p:nvSpPr>
        <p:spPr>
          <a:xfrm>
            <a:off x="2423160" y="4142232"/>
            <a:ext cx="1143000" cy="0"/>
          </a:xfrm>
          <a:prstGeom prst="line">
            <a:avLst/>
          </a:prstGeom>
          <a:noFill/>
          <a:ln w="25400">
            <a:solidFill>
              <a:srgbClr val="E29524"/>
            </a:solidFill>
            <a:prstDash val="solid"/>
            <a:tailEnd type="triangle"/>
          </a:ln>
        </p:spPr>
      </p:sp>
      <p:sp>
        <p:nvSpPr>
          <p:cNvPr id="9" name="Shape 7"/>
          <p:cNvSpPr/>
          <p:nvPr/>
        </p:nvSpPr>
        <p:spPr>
          <a:xfrm>
            <a:off x="3794760" y="3429000"/>
            <a:ext cx="1417320" cy="1417320"/>
          </a:xfrm>
          <a:prstGeom prst="ellipse">
            <a:avLst/>
          </a:prstGeom>
          <a:solidFill>
            <a:srgbClr val="E29524"/>
          </a:solidFill>
          <a:ln/>
        </p:spPr>
      </p:sp>
      <p:sp>
        <p:nvSpPr>
          <p:cNvPr id="10" name="Text 8"/>
          <p:cNvSpPr/>
          <p:nvPr/>
        </p:nvSpPr>
        <p:spPr>
          <a:xfrm>
            <a:off x="3794760" y="3429000"/>
            <a:ext cx="1417320" cy="1417320"/>
          </a:xfrm>
          <a:prstGeom prst="rect">
            <a:avLst/>
          </a:prstGeom>
          <a:noFill/>
          <a:ln/>
        </p:spPr>
        <p:txBody>
          <a:bodyPr wrap="square" lIns="0" tIns="0" rIns="0" bIns="0" rtlCol="0" anchor="ctr"/>
          <a:lstStyle/>
          <a:p>
            <a:pPr marL="0" indent="0" algn="ctr">
              <a:buNone/>
            </a:pPr>
            <a:r>
              <a:rPr lang="en-US" sz="2100" b="1" dirty="0">
                <a:solidFill>
                  <a:srgbClr val="0E2233"/>
                </a:solidFill>
                <a:latin typeface="Calibri" pitchFamily="34" charset="0"/>
                <a:ea typeface="Calibri" pitchFamily="34" charset="-122"/>
                <a:cs typeface="Calibri" pitchFamily="34" charset="-120"/>
              </a:rPr>
              <a:t>~100 %</a:t>
            </a:r>
            <a:endParaRPr lang="en-US" sz="2100" dirty="0"/>
          </a:p>
        </p:txBody>
      </p:sp>
      <p:sp>
        <p:nvSpPr>
          <p:cNvPr id="11" name="Text 9"/>
          <p:cNvSpPr/>
          <p:nvPr/>
        </p:nvSpPr>
        <p:spPr>
          <a:xfrm>
            <a:off x="3474720" y="4910328"/>
            <a:ext cx="2057400" cy="274320"/>
          </a:xfrm>
          <a:prstGeom prst="rect">
            <a:avLst/>
          </a:prstGeom>
          <a:noFill/>
          <a:ln/>
        </p:spPr>
        <p:txBody>
          <a:bodyPr wrap="square" lIns="0" tIns="0" rIns="0" bIns="0" rtlCol="0" anchor="ctr"/>
          <a:lstStyle/>
          <a:p>
            <a:pPr marL="0" indent="0" algn="ctr">
              <a:buNone/>
            </a:pPr>
            <a:r>
              <a:rPr lang="en-US" sz="1100" dirty="0">
                <a:solidFill>
                  <a:srgbClr val="5A6B78"/>
                </a:solidFill>
                <a:latin typeface="Calibri" pitchFamily="34" charset="0"/>
                <a:ea typeface="Calibri" pitchFamily="34" charset="-122"/>
                <a:cs typeface="Calibri" pitchFamily="34" charset="-120"/>
              </a:rPr>
              <a:t>otoño de 2023</a:t>
            </a:r>
            <a:endParaRPr lang="en-US" sz="1100" dirty="0"/>
          </a:p>
        </p:txBody>
      </p:sp>
      <p:sp>
        <p:nvSpPr>
          <p:cNvPr id="12" name="Text 10"/>
          <p:cNvSpPr/>
          <p:nvPr/>
        </p:nvSpPr>
        <p:spPr>
          <a:xfrm>
            <a:off x="5852160" y="3474720"/>
            <a:ext cx="3108960" cy="1325880"/>
          </a:xfrm>
          <a:prstGeom prst="rect">
            <a:avLst/>
          </a:prstGeom>
          <a:noFill/>
          <a:ln/>
        </p:spPr>
        <p:txBody>
          <a:bodyPr wrap="square" lIns="0" tIns="0" rIns="0" bIns="0" rtlCol="0" anchor="ctr"/>
          <a:lstStyle/>
          <a:p>
            <a:pPr marL="0" indent="0">
              <a:lnSpc>
                <a:spcPts val="2000"/>
              </a:lnSpc>
              <a:buNone/>
            </a:pPr>
            <a:r>
              <a:rPr lang="en-US" sz="1300" dirty="0">
                <a:solidFill>
                  <a:srgbClr val="3D9AA8"/>
                </a:solidFill>
                <a:latin typeface="Calibri" pitchFamily="34" charset="0"/>
                <a:ea typeface="Calibri" pitchFamily="34" charset="-122"/>
                <a:cs typeface="Calibri" pitchFamily="34" charset="-120"/>
              </a:rPr>
              <a:t>Dos cohortes del mismo curso,</a:t>
            </a:r>
            <a:endParaRPr lang="en-US" sz="1300" dirty="0"/>
          </a:p>
          <a:p>
            <a:pPr marL="0" indent="0">
              <a:lnSpc>
                <a:spcPts val="2000"/>
              </a:lnSpc>
              <a:buNone/>
            </a:pPr>
            <a:r>
              <a:rPr lang="en-US" sz="1300" dirty="0">
                <a:solidFill>
                  <a:srgbClr val="3D9AA8"/>
                </a:solidFill>
                <a:latin typeface="Calibri" pitchFamily="34" charset="0"/>
                <a:ea typeface="Calibri" pitchFamily="34" charset="-122"/>
                <a:cs typeface="Calibri" pitchFamily="34" charset="-120"/>
              </a:rPr>
              <a:t>con seis meses de diferencia.</a:t>
            </a:r>
            <a:endParaRPr lang="en-US" sz="1300" dirty="0"/>
          </a:p>
          <a:p>
            <a:pPr marL="0" indent="0">
              <a:lnSpc>
                <a:spcPts val="2000"/>
              </a:lnSpc>
              <a:buNone/>
            </a:pPr>
            <a:r>
              <a:rPr lang="en-US" sz="1300" dirty="0">
                <a:solidFill>
                  <a:srgbClr val="3D9AA8"/>
                </a:solidFill>
                <a:latin typeface="Calibri" pitchFamily="34" charset="0"/>
                <a:ea typeface="Calibri" pitchFamily="34" charset="-122"/>
                <a:cs typeface="Calibri" pitchFamily="34" charset="-120"/>
              </a:rPr>
              <a:t>Parte del grupo que ya había</a:t>
            </a:r>
            <a:endParaRPr lang="en-US" sz="1300" dirty="0"/>
          </a:p>
          <a:p>
            <a:pPr marL="0" indent="0">
              <a:lnSpc>
                <a:spcPts val="2000"/>
              </a:lnSpc>
              <a:buNone/>
            </a:pPr>
            <a:r>
              <a:rPr lang="en-US" sz="1300" dirty="0">
                <a:solidFill>
                  <a:srgbClr val="3D9AA8"/>
                </a:solidFill>
                <a:latin typeface="Calibri" pitchFamily="34" charset="0"/>
                <a:ea typeface="Calibri" pitchFamily="34" charset="-122"/>
                <a:cs typeface="Calibri" pitchFamily="34" charset="-120"/>
              </a:rPr>
              <a:t>usado una IA generativa.</a:t>
            </a:r>
            <a:endParaRPr lang="en-US" sz="1300" dirty="0"/>
          </a:p>
        </p:txBody>
      </p:sp>
      <p:sp>
        <p:nvSpPr>
          <p:cNvPr id="13" name="Text 11"/>
          <p:cNvSpPr/>
          <p:nvPr/>
        </p:nvSpPr>
        <p:spPr>
          <a:xfrm>
            <a:off x="7132320" y="4892040"/>
            <a:ext cx="4480560" cy="1280160"/>
          </a:xfrm>
          <a:prstGeom prst="rect">
            <a:avLst/>
          </a:prstGeom>
          <a:noFill/>
          <a:ln/>
        </p:spPr>
        <p:txBody>
          <a:bodyPr wrap="square" lIns="0" tIns="0" rIns="0" bIns="0" rtlCol="0" anchor="b"/>
          <a:lstStyle/>
          <a:p>
            <a:pPr marL="0" indent="0" algn="r">
              <a:lnSpc>
                <a:spcPts val="1700"/>
              </a:lnSpc>
              <a:buNone/>
            </a:pPr>
            <a:r>
              <a:rPr lang="en-US" sz="1500" b="1" dirty="0">
                <a:solidFill>
                  <a:srgbClr val="FFFFFF"/>
                </a:solidFill>
                <a:latin typeface="Calibri" pitchFamily="34" charset="0"/>
                <a:ea typeface="Calibri" pitchFamily="34" charset="-122"/>
                <a:cs typeface="Calibri" pitchFamily="34" charset="-120"/>
              </a:rPr>
              <a:t>Éric Robitaille, Ph. D.
</a:t>
            </a:r>
            <a:r>
              <a:rPr lang="en-US" sz="1200" dirty="0">
                <a:solidFill>
                  <a:srgbClr val="5A6B78"/>
                </a:solidFill>
                <a:latin typeface="Calibri" pitchFamily="34" charset="0"/>
                <a:ea typeface="Calibri" pitchFamily="34" charset="-122"/>
                <a:cs typeface="Calibri" pitchFamily="34" charset="-120"/>
              </a:rPr>
              <a:t>Investigador y profesor adjunto de clínica</a:t>
            </a:r>
            <a:endParaRPr lang="en-US" sz="1500" dirty="0"/>
          </a:p>
          <a:p>
            <a:pPr marL="0" indent="0" algn="r">
              <a:lnSpc>
                <a:spcPts val="1700"/>
              </a:lnSpc>
              <a:buNone/>
            </a:pPr>
            <a:r>
              <a:rPr lang="en-US" sz="1200" dirty="0">
                <a:solidFill>
                  <a:srgbClr val="5A6B78"/>
                </a:solidFill>
                <a:latin typeface="Calibri" pitchFamily="34" charset="0"/>
                <a:ea typeface="Calibri" pitchFamily="34" charset="-122"/>
                <a:cs typeface="Calibri" pitchFamily="34" charset="-120"/>
              </a:rPr>
              <a:t>CISSS des Laurentides — Dirección de salud pública</a:t>
            </a:r>
            <a:endParaRPr lang="en-US" sz="1500" dirty="0"/>
          </a:p>
          <a:p>
            <a:pPr marL="0" indent="0" algn="r">
              <a:lnSpc>
                <a:spcPts val="1700"/>
              </a:lnSpc>
              <a:buNone/>
            </a:pPr>
            <a:r>
              <a:rPr lang="en-US" sz="1200" dirty="0">
                <a:solidFill>
                  <a:srgbClr val="5A6B78"/>
                </a:solidFill>
                <a:latin typeface="Calibri" pitchFamily="34" charset="0"/>
                <a:ea typeface="Calibri" pitchFamily="34" charset="-122"/>
                <a:cs typeface="Calibri" pitchFamily="34" charset="-120"/>
              </a:rPr>
              <a:t>Escuela de Salud Pública de la Universidad de Montreal</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lIns="0" tIns="0" rIns="0" bIns="0" rtlCol="0" anchor="ctr"/>
          <a:lstStyle/>
          <a:p>
            <a:pPr marL="0" indent="0">
              <a:buNone/>
            </a:pPr>
            <a:r>
              <a:rPr lang="en-US" sz="1100" b="1" kern="0" spc="200" dirty="0">
                <a:solidFill>
                  <a:srgbClr val="1C6E7D"/>
                </a:solidFill>
                <a:latin typeface="Calibri" pitchFamily="34" charset="0"/>
                <a:ea typeface="Calibri" pitchFamily="34" charset="-122"/>
                <a:cs typeface="Calibri" pitchFamily="34" charset="-120"/>
              </a:rPr>
              <a:t>EL PUNTO DE PARTIDA</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400" b="1" dirty="0">
                <a:solidFill>
                  <a:srgbClr val="0E2233"/>
                </a:solidFill>
                <a:latin typeface="Cambria" pitchFamily="34" charset="0"/>
                <a:ea typeface="Cambria" pitchFamily="34" charset="-122"/>
                <a:cs typeface="Cambria" pitchFamily="34" charset="-120"/>
              </a:rPr>
              <a:t>Dos cohortes, seis meses de diferencia</a:t>
            </a:r>
            <a:endParaRPr lang="en-US" sz="3400" dirty="0"/>
          </a:p>
        </p:txBody>
      </p:sp>
      <p:graphicFrame>
        <p:nvGraphicFramePr>
          <p:cNvPr id="4" name="Chart 0"/>
          <p:cNvGraphicFramePr/>
          <p:nvPr/>
        </p:nvGraphicFramePr>
        <p:xfrm>
          <a:off x="548640" y="1783080"/>
          <a:ext cx="6309360" cy="37033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1389888" y="2395728"/>
            <a:ext cx="0" cy="2679192"/>
          </a:xfrm>
          <a:prstGeom prst="line">
            <a:avLst/>
          </a:prstGeom>
          <a:noFill/>
          <a:ln w="22225">
            <a:solidFill>
              <a:srgbClr val="E29524"/>
            </a:solidFill>
            <a:prstDash val="dash"/>
          </a:ln>
        </p:spPr>
      </p:sp>
      <p:sp>
        <p:nvSpPr>
          <p:cNvPr id="6" name="Text 3"/>
          <p:cNvSpPr/>
          <p:nvPr/>
        </p:nvSpPr>
        <p:spPr>
          <a:xfrm>
            <a:off x="1536192" y="2057400"/>
            <a:ext cx="2286000" cy="502920"/>
          </a:xfrm>
          <a:prstGeom prst="rect">
            <a:avLst/>
          </a:prstGeom>
          <a:noFill/>
          <a:ln/>
        </p:spPr>
        <p:txBody>
          <a:bodyPr wrap="square" lIns="0" tIns="0" rIns="0" bIns="0" rtlCol="0" anchor="ctr"/>
          <a:lstStyle/>
          <a:p>
            <a:pPr marL="0" indent="0">
              <a:lnSpc>
                <a:spcPts val="1400"/>
              </a:lnSpc>
              <a:buNone/>
            </a:pPr>
            <a:r>
              <a:rPr lang="en-US" sz="1050" b="1" dirty="0">
                <a:solidFill>
                  <a:srgbClr val="B87614"/>
                </a:solidFill>
                <a:latin typeface="Calibri" pitchFamily="34" charset="0"/>
                <a:ea typeface="Calibri" pitchFamily="34" charset="-122"/>
                <a:cs typeface="Calibri" pitchFamily="34" charset="-120"/>
              </a:rPr>
              <a:t>ChatGPT abierto al público</a:t>
            </a:r>
            <a:endParaRPr lang="en-US" sz="1050" dirty="0"/>
          </a:p>
          <a:p>
            <a:pPr marL="0" indent="0">
              <a:lnSpc>
                <a:spcPts val="1400"/>
              </a:lnSpc>
              <a:buNone/>
            </a:pPr>
            <a:r>
              <a:rPr lang="en-US" sz="1050" b="1" dirty="0">
                <a:solidFill>
                  <a:srgbClr val="B87614"/>
                </a:solidFill>
                <a:latin typeface="Calibri" pitchFamily="34" charset="0"/>
                <a:ea typeface="Calibri" pitchFamily="34" charset="-122"/>
                <a:cs typeface="Calibri" pitchFamily="34" charset="-120"/>
              </a:rPr>
              <a:t>30 de noviembre de 2022</a:t>
            </a:r>
            <a:endParaRPr lang="en-US" sz="1050" dirty="0"/>
          </a:p>
        </p:txBody>
      </p:sp>
      <p:sp>
        <p:nvSpPr>
          <p:cNvPr id="7" name="Text 4"/>
          <p:cNvSpPr/>
          <p:nvPr/>
        </p:nvSpPr>
        <p:spPr>
          <a:xfrm>
            <a:off x="548640" y="5532120"/>
            <a:ext cx="6309360" cy="548640"/>
          </a:xfrm>
          <a:prstGeom prst="rect">
            <a:avLst/>
          </a:prstGeom>
          <a:noFill/>
          <a:ln/>
        </p:spPr>
        <p:txBody>
          <a:bodyPr wrap="square" lIns="0" tIns="0" rIns="0" bIns="0" rtlCol="0" anchor="ctr"/>
          <a:lstStyle/>
          <a:p>
            <a:pPr marL="0" indent="0">
              <a:lnSpc>
                <a:spcPts val="1500"/>
              </a:lnSpc>
              <a:buNone/>
            </a:pPr>
            <a:r>
              <a:rPr lang="en-US" sz="1050" i="1" dirty="0">
                <a:solidFill>
                  <a:srgbClr val="5A6B78"/>
                </a:solidFill>
                <a:latin typeface="Calibri" pitchFamily="34" charset="0"/>
                <a:ea typeface="Calibri" pitchFamily="34" charset="-122"/>
                <a:cs typeface="Calibri" pitchFamily="34" charset="-120"/>
              </a:rPr>
              <a:t>Dos cohortes del mismo curso (MSO 6083), valores autodeclarados al inicio de la sesión. Cinco meses después de la apertura pública de ChatGPT, menos del 3 % del grupo lo había usado; once meses después, casi la totalidad.</a:t>
            </a:r>
            <a:endParaRPr lang="en-US" sz="1050" dirty="0"/>
          </a:p>
        </p:txBody>
      </p:sp>
      <p:sp>
        <p:nvSpPr>
          <p:cNvPr id="8" name="Shape 5"/>
          <p:cNvSpPr/>
          <p:nvPr/>
        </p:nvSpPr>
        <p:spPr>
          <a:xfrm>
            <a:off x="7178040" y="1783080"/>
            <a:ext cx="4462272" cy="3703320"/>
          </a:xfrm>
          <a:prstGeom prst="roundRect">
            <a:avLst>
              <a:gd name="adj" fmla="val 2222"/>
            </a:avLst>
          </a:prstGeom>
          <a:solidFill>
            <a:srgbClr val="0E2233"/>
          </a:solidFill>
          <a:ln w="12700">
            <a:solidFill>
              <a:srgbClr val="0E2233"/>
            </a:solidFill>
            <a:prstDash val="solid"/>
          </a:ln>
        </p:spPr>
      </p:sp>
      <p:sp>
        <p:nvSpPr>
          <p:cNvPr id="9" name="Text 6"/>
          <p:cNvSpPr/>
          <p:nvPr/>
        </p:nvSpPr>
        <p:spPr>
          <a:xfrm>
            <a:off x="7543800" y="2011680"/>
            <a:ext cx="3749040" cy="365760"/>
          </a:xfrm>
          <a:prstGeom prst="rect">
            <a:avLst/>
          </a:prstGeom>
          <a:noFill/>
          <a:ln/>
        </p:spPr>
        <p:txBody>
          <a:bodyPr wrap="square" lIns="0" tIns="0" rIns="0" bIns="0" rtlCol="0" anchor="ctr"/>
          <a:lstStyle/>
          <a:p>
            <a:pPr marL="0" indent="0">
              <a:buNone/>
            </a:pPr>
            <a:r>
              <a:rPr lang="en-US" sz="1800" b="1" dirty="0">
                <a:solidFill>
                  <a:srgbClr val="E29524"/>
                </a:solidFill>
                <a:latin typeface="Calibri" pitchFamily="34" charset="0"/>
                <a:ea typeface="Calibri" pitchFamily="34" charset="-122"/>
                <a:cs typeface="Calibri" pitchFamily="34" charset="-120"/>
              </a:rPr>
              <a:t>Lo que revela este salto</a:t>
            </a:r>
            <a:endParaRPr lang="en-US" sz="1800" dirty="0"/>
          </a:p>
        </p:txBody>
      </p:sp>
      <p:sp>
        <p:nvSpPr>
          <p:cNvPr id="10" name="Text 7"/>
          <p:cNvSpPr/>
          <p:nvPr/>
        </p:nvSpPr>
        <p:spPr>
          <a:xfrm>
            <a:off x="7543800" y="2514600"/>
            <a:ext cx="3749040" cy="2743200"/>
          </a:xfrm>
          <a:prstGeom prst="rect">
            <a:avLst/>
          </a:prstGeom>
          <a:noFill/>
          <a:ln/>
        </p:spPr>
        <p:txBody>
          <a:bodyPr wrap="square" lIns="0" tIns="0" rIns="0" bIns="0" rtlCol="0" anchor="ctr"/>
          <a:lstStyle/>
          <a:p>
            <a:pPr marL="342900" indent="-342900">
              <a:lnSpc>
                <a:spcPts val="1800"/>
              </a:lnSpc>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Nada en el curso explica este salto: ocurrió fuera del aula, entre dos cohortes.</a:t>
            </a:r>
            <a:endParaRPr lang="en-US" sz="1250" dirty="0"/>
          </a:p>
          <a:p>
            <a:pPr marL="342900" indent="-342900">
              <a:lnSpc>
                <a:spcPts val="1800"/>
              </a:lnSpc>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La difusión fue más rápida que cualquier adaptación de programa o de política institucional.</a:t>
            </a:r>
            <a:endParaRPr lang="en-US" sz="1250" dirty="0"/>
          </a:p>
          <a:p>
            <a:pPr marL="342900" indent="-342900">
              <a:lnSpc>
                <a:spcPts val="1800"/>
              </a:lnSpc>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La pregunta pedagógica se invierte: ya no se trata de introducir una herramienta, sino de enseñar el juicio sobre una herramienta ya universal.</a:t>
            </a:r>
            <a:endParaRPr lang="en-US" sz="1250" dirty="0"/>
          </a:p>
          <a:p>
            <a:pPr marL="342900" indent="-342900">
              <a:lnSpc>
                <a:spcPts val="1800"/>
              </a:lnSpc>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La tasa de uso deja de ser el indicador interesante.</a:t>
            </a:r>
            <a:endParaRPr lang="en-US" sz="1250" dirty="0"/>
          </a:p>
        </p:txBody>
      </p:sp>
      <p:sp>
        <p:nvSpPr>
          <p:cNvPr id="11" name="Text 8"/>
          <p:cNvSpPr/>
          <p:nvPr/>
        </p:nvSpPr>
        <p:spPr>
          <a:xfrm>
            <a:off x="548640" y="6355080"/>
            <a:ext cx="7315200" cy="274320"/>
          </a:xfrm>
          <a:prstGeom prst="rect">
            <a:avLst/>
          </a:prstGeom>
          <a:noFill/>
          <a:ln/>
        </p:spPr>
        <p:txBody>
          <a:bodyPr wrap="square" lIns="0" tIns="0" rIns="0" bIns="0" rtlCol="0" anchor="ctr"/>
          <a:lstStyle/>
          <a:p>
            <a:pPr marL="0" indent="0">
              <a:buNone/>
            </a:pPr>
            <a:r>
              <a:rPr lang="en-US" sz="950" dirty="0">
                <a:solidFill>
                  <a:srgbClr val="5A6B78"/>
                </a:solidFill>
                <a:latin typeface="Calibri" pitchFamily="34" charset="0"/>
                <a:ea typeface="Calibri" pitchFamily="34" charset="-122"/>
                <a:cs typeface="Calibri" pitchFamily="34" charset="-120"/>
              </a:rPr>
              <a:t>Éric Robitaille, Ph. D. — CISSS des Laurentides / ESPUM</a:t>
            </a:r>
            <a:endParaRPr lang="en-US" sz="950" dirty="0"/>
          </a:p>
        </p:txBody>
      </p:sp>
      <p:sp>
        <p:nvSpPr>
          <p:cNvPr id="12" name="Text 9"/>
          <p:cNvSpPr/>
          <p:nvPr/>
        </p:nvSpPr>
        <p:spPr>
          <a:xfrm>
            <a:off x="11155680" y="6355080"/>
            <a:ext cx="502920" cy="274320"/>
          </a:xfrm>
          <a:prstGeom prst="rect">
            <a:avLst/>
          </a:prstGeom>
          <a:noFill/>
          <a:ln/>
        </p:spPr>
        <p:txBody>
          <a:bodyPr wrap="square" lIns="0" tIns="0" rIns="0" bIns="0" rtlCol="0" anchor="ctr"/>
          <a:lstStyle/>
          <a:p>
            <a:pPr marL="0" indent="0" algn="r">
              <a:buNone/>
            </a:pPr>
            <a:r>
              <a:rPr lang="en-US" sz="950" dirty="0">
                <a:solidFill>
                  <a:srgbClr val="5A6B78"/>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lIns="0" tIns="0" rIns="0" bIns="0" rtlCol="0" anchor="ctr"/>
          <a:lstStyle/>
          <a:p>
            <a:pPr marL="0" indent="0">
              <a:buNone/>
            </a:pPr>
            <a:r>
              <a:rPr lang="en-US" sz="1100" b="1" kern="0" spc="200" dirty="0">
                <a:solidFill>
                  <a:srgbClr val="1C6E7D"/>
                </a:solidFill>
                <a:latin typeface="Calibri" pitchFamily="34" charset="0"/>
                <a:ea typeface="Calibri" pitchFamily="34" charset="-122"/>
                <a:cs typeface="Calibri" pitchFamily="34" charset="-120"/>
              </a:rPr>
              <a:t>EL DILEMA PEDAGÓGICO</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400" b="1" dirty="0">
                <a:solidFill>
                  <a:srgbClr val="0E2233"/>
                </a:solidFill>
                <a:latin typeface="Cambria" pitchFamily="34" charset="0"/>
                <a:ea typeface="Cambria" pitchFamily="34" charset="-122"/>
                <a:cs typeface="Cambria" pitchFamily="34" charset="-120"/>
              </a:rPr>
              <a:t>Tres posturas ante el hecho consumado</a:t>
            </a:r>
            <a:endParaRPr lang="en-US" sz="3400" dirty="0"/>
          </a:p>
        </p:txBody>
      </p:sp>
      <p:sp>
        <p:nvSpPr>
          <p:cNvPr id="4" name="Shape 2"/>
          <p:cNvSpPr/>
          <p:nvPr/>
        </p:nvSpPr>
        <p:spPr>
          <a:xfrm>
            <a:off x="548640" y="1783080"/>
            <a:ext cx="3593592" cy="2834640"/>
          </a:xfrm>
          <a:prstGeom prst="roundRect">
            <a:avLst>
              <a:gd name="adj" fmla="val 2903"/>
            </a:avLst>
          </a:prstGeom>
          <a:solidFill>
            <a:srgbClr val="E7EDF1"/>
          </a:solidFill>
          <a:ln w="12700">
            <a:solidFill>
              <a:srgbClr val="E7EDF1"/>
            </a:solidFill>
            <a:prstDash val="solid"/>
          </a:ln>
        </p:spPr>
      </p:sp>
      <p:sp>
        <p:nvSpPr>
          <p:cNvPr id="5" name="Text 3"/>
          <p:cNvSpPr/>
          <p:nvPr/>
        </p:nvSpPr>
        <p:spPr>
          <a:xfrm>
            <a:off x="914400" y="2148840"/>
            <a:ext cx="2834640" cy="457200"/>
          </a:xfrm>
          <a:prstGeom prst="rect">
            <a:avLst/>
          </a:prstGeom>
          <a:noFill/>
          <a:ln/>
        </p:spPr>
        <p:txBody>
          <a:bodyPr wrap="square" lIns="0" tIns="0" rIns="0" bIns="0" rtlCol="0" anchor="ctr"/>
          <a:lstStyle/>
          <a:p>
            <a:pPr marL="0" indent="0">
              <a:buNone/>
            </a:pPr>
            <a:r>
              <a:rPr lang="en-US" sz="2600" b="1" dirty="0">
                <a:solidFill>
                  <a:srgbClr val="0E2233"/>
                </a:solidFill>
                <a:latin typeface="Cambria" pitchFamily="34" charset="0"/>
                <a:ea typeface="Cambria" pitchFamily="34" charset="-122"/>
                <a:cs typeface="Cambria" pitchFamily="34" charset="-120"/>
              </a:rPr>
              <a:t>Prohibir</a:t>
            </a:r>
            <a:endParaRPr lang="en-US" sz="2600" dirty="0"/>
          </a:p>
        </p:txBody>
      </p:sp>
      <p:sp>
        <p:nvSpPr>
          <p:cNvPr id="6" name="Text 4"/>
          <p:cNvSpPr/>
          <p:nvPr/>
        </p:nvSpPr>
        <p:spPr>
          <a:xfrm>
            <a:off x="914400" y="2743200"/>
            <a:ext cx="2880360" cy="1463040"/>
          </a:xfrm>
          <a:prstGeom prst="rect">
            <a:avLst/>
          </a:prstGeom>
          <a:noFill/>
          <a:ln/>
        </p:spPr>
        <p:txBody>
          <a:bodyPr wrap="square" lIns="0" tIns="0" rIns="0" bIns="0" rtlCol="0" anchor="ctr"/>
          <a:lstStyle/>
          <a:p>
            <a:pPr marL="0" indent="0">
              <a:lnSpc>
                <a:spcPts val="2100"/>
              </a:lnSpc>
              <a:buNone/>
            </a:pPr>
            <a:r>
              <a:rPr lang="en-US" sz="1350" dirty="0">
                <a:solidFill>
                  <a:srgbClr val="5A6B78"/>
                </a:solidFill>
                <a:latin typeface="Calibri" pitchFamily="34" charset="0"/>
                <a:ea typeface="Calibri" pitchFamily="34" charset="-122"/>
                <a:cs typeface="Calibri" pitchFamily="34" charset="-120"/>
              </a:rPr>
              <a:t>Desplaza el uso a la sombra. Se pierde toda capacidad de encuadrar, corregir y evaluar el proceso.</a:t>
            </a:r>
            <a:endParaRPr lang="en-US" sz="1350" dirty="0"/>
          </a:p>
        </p:txBody>
      </p:sp>
      <p:sp>
        <p:nvSpPr>
          <p:cNvPr id="7" name="Shape 5"/>
          <p:cNvSpPr/>
          <p:nvPr/>
        </p:nvSpPr>
        <p:spPr>
          <a:xfrm>
            <a:off x="4325112" y="1783080"/>
            <a:ext cx="3593592" cy="2834640"/>
          </a:xfrm>
          <a:prstGeom prst="roundRect">
            <a:avLst>
              <a:gd name="adj" fmla="val 2903"/>
            </a:avLst>
          </a:prstGeom>
          <a:solidFill>
            <a:srgbClr val="E7EDF1"/>
          </a:solidFill>
          <a:ln w="12700">
            <a:solidFill>
              <a:srgbClr val="E7EDF1"/>
            </a:solidFill>
            <a:prstDash val="solid"/>
          </a:ln>
        </p:spPr>
      </p:sp>
      <p:sp>
        <p:nvSpPr>
          <p:cNvPr id="8" name="Text 6"/>
          <p:cNvSpPr/>
          <p:nvPr/>
        </p:nvSpPr>
        <p:spPr>
          <a:xfrm>
            <a:off x="4690872" y="2148840"/>
            <a:ext cx="2834640" cy="457200"/>
          </a:xfrm>
          <a:prstGeom prst="rect">
            <a:avLst/>
          </a:prstGeom>
          <a:noFill/>
          <a:ln/>
        </p:spPr>
        <p:txBody>
          <a:bodyPr wrap="square" lIns="0" tIns="0" rIns="0" bIns="0" rtlCol="0" anchor="ctr"/>
          <a:lstStyle/>
          <a:p>
            <a:pPr marL="0" indent="0">
              <a:buNone/>
            </a:pPr>
            <a:r>
              <a:rPr lang="en-US" sz="2600" b="1" dirty="0">
                <a:solidFill>
                  <a:srgbClr val="0E2233"/>
                </a:solidFill>
                <a:latin typeface="Cambria" pitchFamily="34" charset="0"/>
                <a:ea typeface="Cambria" pitchFamily="34" charset="-122"/>
                <a:cs typeface="Cambria" pitchFamily="34" charset="-120"/>
              </a:rPr>
              <a:t>Ignorar</a:t>
            </a:r>
            <a:endParaRPr lang="en-US" sz="2600" dirty="0"/>
          </a:p>
        </p:txBody>
      </p:sp>
      <p:sp>
        <p:nvSpPr>
          <p:cNvPr id="9" name="Text 7"/>
          <p:cNvSpPr/>
          <p:nvPr/>
        </p:nvSpPr>
        <p:spPr>
          <a:xfrm>
            <a:off x="4690872" y="2743200"/>
            <a:ext cx="2880360" cy="1463040"/>
          </a:xfrm>
          <a:prstGeom prst="rect">
            <a:avLst/>
          </a:prstGeom>
          <a:noFill/>
          <a:ln/>
        </p:spPr>
        <p:txBody>
          <a:bodyPr wrap="square" lIns="0" tIns="0" rIns="0" bIns="0" rtlCol="0" anchor="ctr"/>
          <a:lstStyle/>
          <a:p>
            <a:pPr marL="0" indent="0">
              <a:lnSpc>
                <a:spcPts val="2100"/>
              </a:lnSpc>
              <a:buNone/>
            </a:pPr>
            <a:r>
              <a:rPr lang="en-US" sz="1350" dirty="0">
                <a:solidFill>
                  <a:srgbClr val="5A6B78"/>
                </a:solidFill>
                <a:latin typeface="Calibri" pitchFamily="34" charset="0"/>
                <a:ea typeface="Calibri" pitchFamily="34" charset="-122"/>
                <a:cs typeface="Calibri" pitchFamily="34" charset="-120"/>
              </a:rPr>
              <a:t>Deja que se instalen las desigualdades: quienes ya sabían usarla toman ventaja metodológica.</a:t>
            </a:r>
            <a:endParaRPr lang="en-US" sz="1350" dirty="0"/>
          </a:p>
        </p:txBody>
      </p:sp>
      <p:sp>
        <p:nvSpPr>
          <p:cNvPr id="10" name="Shape 8"/>
          <p:cNvSpPr/>
          <p:nvPr/>
        </p:nvSpPr>
        <p:spPr>
          <a:xfrm>
            <a:off x="8101584" y="1783080"/>
            <a:ext cx="3593592" cy="2834640"/>
          </a:xfrm>
          <a:prstGeom prst="roundRect">
            <a:avLst>
              <a:gd name="adj" fmla="val 2903"/>
            </a:avLst>
          </a:prstGeom>
          <a:solidFill>
            <a:srgbClr val="1C6E7D"/>
          </a:solidFill>
          <a:ln w="12700">
            <a:solidFill>
              <a:srgbClr val="1C6E7D"/>
            </a:solidFill>
            <a:prstDash val="solid"/>
          </a:ln>
        </p:spPr>
      </p:sp>
      <p:sp>
        <p:nvSpPr>
          <p:cNvPr id="11" name="Text 9"/>
          <p:cNvSpPr/>
          <p:nvPr/>
        </p:nvSpPr>
        <p:spPr>
          <a:xfrm>
            <a:off x="8467344" y="2148840"/>
            <a:ext cx="2834640" cy="45720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Enseñar</a:t>
            </a:r>
            <a:endParaRPr lang="en-US" sz="2600" dirty="0"/>
          </a:p>
        </p:txBody>
      </p:sp>
      <p:sp>
        <p:nvSpPr>
          <p:cNvPr id="12" name="Text 10"/>
          <p:cNvSpPr/>
          <p:nvPr/>
        </p:nvSpPr>
        <p:spPr>
          <a:xfrm>
            <a:off x="8467344" y="2743200"/>
            <a:ext cx="2880360" cy="1463040"/>
          </a:xfrm>
          <a:prstGeom prst="rect">
            <a:avLst/>
          </a:prstGeom>
          <a:noFill/>
          <a:ln/>
        </p:spPr>
        <p:txBody>
          <a:bodyPr wrap="square" lIns="0" tIns="0" rIns="0" bIns="0" rtlCol="0" anchor="ctr"/>
          <a:lstStyle/>
          <a:p>
            <a:pPr marL="0" indent="0">
              <a:lnSpc>
                <a:spcPts val="2100"/>
              </a:lnSpc>
              <a:buNone/>
            </a:pPr>
            <a:r>
              <a:rPr lang="en-US" sz="1350" dirty="0">
                <a:solidFill>
                  <a:srgbClr val="CFE3E8"/>
                </a:solidFill>
                <a:latin typeface="Calibri" pitchFamily="34" charset="0"/>
                <a:ea typeface="Calibri" pitchFamily="34" charset="-122"/>
                <a:cs typeface="Calibri" pitchFamily="34" charset="-120"/>
              </a:rPr>
              <a:t>Convierte la IA en un objeto de aprendizaje explícito — con sus métodos, sus criterios de calidad y sus límites.</a:t>
            </a:r>
            <a:endParaRPr lang="en-US" sz="1350" dirty="0"/>
          </a:p>
        </p:txBody>
      </p:sp>
      <p:sp>
        <p:nvSpPr>
          <p:cNvPr id="13" name="Shape 11"/>
          <p:cNvSpPr/>
          <p:nvPr/>
        </p:nvSpPr>
        <p:spPr>
          <a:xfrm>
            <a:off x="548640" y="4937760"/>
            <a:ext cx="11091672" cy="1051560"/>
          </a:xfrm>
          <a:prstGeom prst="roundRect">
            <a:avLst>
              <a:gd name="adj" fmla="val 7826"/>
            </a:avLst>
          </a:prstGeom>
          <a:solidFill>
            <a:srgbClr val="F1F5F7"/>
          </a:solidFill>
          <a:ln w="12700">
            <a:solidFill>
              <a:srgbClr val="F1F5F7"/>
            </a:solidFill>
            <a:prstDash val="solid"/>
          </a:ln>
        </p:spPr>
      </p:sp>
      <p:sp>
        <p:nvSpPr>
          <p:cNvPr id="14" name="Text 12"/>
          <p:cNvSpPr/>
          <p:nvPr/>
        </p:nvSpPr>
        <p:spPr>
          <a:xfrm>
            <a:off x="914400" y="4937760"/>
            <a:ext cx="10332720" cy="1051560"/>
          </a:xfrm>
          <a:prstGeom prst="rect">
            <a:avLst/>
          </a:prstGeom>
          <a:noFill/>
          <a:ln/>
        </p:spPr>
        <p:txBody>
          <a:bodyPr wrap="square" lIns="0" tIns="0" rIns="0" bIns="0" rtlCol="0" anchor="ctr"/>
          <a:lstStyle/>
          <a:p>
            <a:pPr marL="0" indent="0">
              <a:lnSpc>
                <a:spcPts val="2200"/>
              </a:lnSpc>
              <a:buNone/>
            </a:pPr>
            <a:r>
              <a:rPr lang="en-US" sz="1500" b="1" dirty="0">
                <a:solidFill>
                  <a:srgbClr val="0E2233"/>
                </a:solidFill>
                <a:latin typeface="Calibri" pitchFamily="34" charset="0"/>
                <a:ea typeface="Calibri" pitchFamily="34" charset="-122"/>
                <a:cs typeface="Calibri" pitchFamily="34" charset="-120"/>
              </a:rPr>
              <a:t>La apuesta del curso: </a:t>
            </a:r>
            <a:r>
              <a:rPr lang="en-US" sz="1500" dirty="0">
                <a:solidFill>
                  <a:srgbClr val="0E2233"/>
                </a:solidFill>
                <a:latin typeface="Calibri" pitchFamily="34" charset="0"/>
                <a:ea typeface="Calibri" pitchFamily="34" charset="-122"/>
                <a:cs typeface="Calibri" pitchFamily="34" charset="-120"/>
              </a:rPr>
              <a:t>tratar el prompt engineering como se trata la búsqueda documental o la lectura crítica — una competencia profesional que se enseña, se documenta y se evalúa.</a:t>
            </a:r>
            <a:endParaRPr lang="en-US" sz="1500" dirty="0"/>
          </a:p>
        </p:txBody>
      </p:sp>
      <p:sp>
        <p:nvSpPr>
          <p:cNvPr id="15" name="Text 13"/>
          <p:cNvSpPr/>
          <p:nvPr/>
        </p:nvSpPr>
        <p:spPr>
          <a:xfrm>
            <a:off x="548640" y="6355080"/>
            <a:ext cx="7315200" cy="274320"/>
          </a:xfrm>
          <a:prstGeom prst="rect">
            <a:avLst/>
          </a:prstGeom>
          <a:noFill/>
          <a:ln/>
        </p:spPr>
        <p:txBody>
          <a:bodyPr wrap="square" lIns="0" tIns="0" rIns="0" bIns="0" rtlCol="0" anchor="ctr"/>
          <a:lstStyle/>
          <a:p>
            <a:pPr marL="0" indent="0">
              <a:buNone/>
            </a:pPr>
            <a:r>
              <a:rPr lang="en-US" sz="950" dirty="0">
                <a:solidFill>
                  <a:srgbClr val="5A6B78"/>
                </a:solidFill>
                <a:latin typeface="Calibri" pitchFamily="34" charset="0"/>
                <a:ea typeface="Calibri" pitchFamily="34" charset="-122"/>
                <a:cs typeface="Calibri" pitchFamily="34" charset="-120"/>
              </a:rPr>
              <a:t>Éric Robitaille, Ph. D. — CISSS des Laurentides / ESPUM</a:t>
            </a:r>
            <a:endParaRPr lang="en-US" sz="950" dirty="0"/>
          </a:p>
        </p:txBody>
      </p:sp>
      <p:sp>
        <p:nvSpPr>
          <p:cNvPr id="16" name="Text 14"/>
          <p:cNvSpPr/>
          <p:nvPr/>
        </p:nvSpPr>
        <p:spPr>
          <a:xfrm>
            <a:off x="11155680" y="6355080"/>
            <a:ext cx="502920" cy="274320"/>
          </a:xfrm>
          <a:prstGeom prst="rect">
            <a:avLst/>
          </a:prstGeom>
          <a:noFill/>
          <a:ln/>
        </p:spPr>
        <p:txBody>
          <a:bodyPr wrap="square" lIns="0" tIns="0" rIns="0" bIns="0" rtlCol="0" anchor="ctr"/>
          <a:lstStyle/>
          <a:p>
            <a:pPr marL="0" indent="0" algn="r">
              <a:buNone/>
            </a:pPr>
            <a:r>
              <a:rPr lang="en-US" sz="950" dirty="0">
                <a:solidFill>
                  <a:srgbClr val="5A6B78"/>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lIns="0" tIns="0" rIns="0" bIns="0" rtlCol="0" anchor="ctr"/>
          <a:lstStyle/>
          <a:p>
            <a:pPr marL="0" indent="0">
              <a:buNone/>
            </a:pPr>
            <a:r>
              <a:rPr lang="en-US" sz="1100" b="1" kern="0" spc="200" dirty="0">
                <a:solidFill>
                  <a:srgbClr val="1C6E7D"/>
                </a:solidFill>
                <a:latin typeface="Calibri" pitchFamily="34" charset="0"/>
                <a:ea typeface="Calibri" pitchFamily="34" charset="-122"/>
                <a:cs typeface="Calibri" pitchFamily="34" charset="-120"/>
              </a:rPr>
              <a:t>LO QUE SE DOCUMENTA EN OTROS LUGARES</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400" b="1" dirty="0">
                <a:solidFill>
                  <a:srgbClr val="0E2233"/>
                </a:solidFill>
                <a:latin typeface="Cambria" pitchFamily="34" charset="0"/>
                <a:ea typeface="Cambria" pitchFamily="34" charset="-122"/>
                <a:cs typeface="Cambria" pitchFamily="34" charset="-120"/>
              </a:rPr>
              <a:t>Una convergencia con la literatura</a:t>
            </a:r>
            <a:endParaRPr lang="en-US" sz="3400" dirty="0"/>
          </a:p>
        </p:txBody>
      </p:sp>
      <p:sp>
        <p:nvSpPr>
          <p:cNvPr id="4" name="Shape 2"/>
          <p:cNvSpPr/>
          <p:nvPr/>
        </p:nvSpPr>
        <p:spPr>
          <a:xfrm>
            <a:off x="548640" y="1737360"/>
            <a:ext cx="5394960" cy="1920240"/>
          </a:xfrm>
          <a:prstGeom prst="roundRect">
            <a:avLst>
              <a:gd name="adj" fmla="val 4286"/>
            </a:avLst>
          </a:prstGeom>
          <a:solidFill>
            <a:srgbClr val="F1F5F7"/>
          </a:solidFill>
          <a:ln w="12700">
            <a:solidFill>
              <a:srgbClr val="F1F5F7"/>
            </a:solidFill>
            <a:prstDash val="solid"/>
          </a:ln>
        </p:spPr>
      </p:sp>
      <p:sp>
        <p:nvSpPr>
          <p:cNvPr id="5" name="Text 3"/>
          <p:cNvSpPr/>
          <p:nvPr/>
        </p:nvSpPr>
        <p:spPr>
          <a:xfrm>
            <a:off x="914400" y="1901952"/>
            <a:ext cx="4663440" cy="237744"/>
          </a:xfrm>
          <a:prstGeom prst="rect">
            <a:avLst/>
          </a:prstGeom>
          <a:noFill/>
          <a:ln/>
        </p:spPr>
        <p:txBody>
          <a:bodyPr wrap="square" lIns="0" tIns="0" rIns="0" bIns="0" rtlCol="0" anchor="ctr"/>
          <a:lstStyle/>
          <a:p>
            <a:pPr marL="0" indent="0">
              <a:buNone/>
            </a:pPr>
            <a:r>
              <a:rPr lang="en-US" sz="900" b="1" kern="0" spc="120" dirty="0">
                <a:solidFill>
                  <a:srgbClr val="1C6E7D"/>
                </a:solidFill>
                <a:latin typeface="Calibri" pitchFamily="34" charset="0"/>
                <a:ea typeface="Calibri" pitchFamily="34" charset="-122"/>
                <a:cs typeface="Calibri" pitchFamily="34" charset="-120"/>
              </a:rPr>
              <a:t>PRATHER ET AL. (2024) · ITICSE</a:t>
            </a:r>
            <a:endParaRPr lang="en-US" sz="900" dirty="0"/>
          </a:p>
        </p:txBody>
      </p:sp>
      <p:sp>
        <p:nvSpPr>
          <p:cNvPr id="6" name="Text 4"/>
          <p:cNvSpPr/>
          <p:nvPr/>
        </p:nvSpPr>
        <p:spPr>
          <a:xfrm>
            <a:off x="914400" y="2157984"/>
            <a:ext cx="4663440" cy="365760"/>
          </a:xfrm>
          <a:prstGeom prst="rect">
            <a:avLst/>
          </a:prstGeom>
          <a:noFill/>
          <a:ln/>
        </p:spPr>
        <p:txBody>
          <a:bodyPr wrap="square" lIns="0" tIns="0" rIns="0" bIns="0" rtlCol="0" anchor="ctr"/>
          <a:lstStyle/>
          <a:p>
            <a:pPr marL="0" indent="0">
              <a:buNone/>
            </a:pPr>
            <a:r>
              <a:rPr lang="en-US" sz="1600" b="1" dirty="0">
                <a:solidFill>
                  <a:srgbClr val="0E2233"/>
                </a:solidFill>
                <a:latin typeface="Calibri" pitchFamily="34" charset="0"/>
                <a:ea typeface="Calibri" pitchFamily="34" charset="-122"/>
                <a:cs typeface="Calibri" pitchFamily="34" charset="-120"/>
              </a:rPr>
              <a:t>Prohibir es impracticable</a:t>
            </a:r>
            <a:endParaRPr lang="en-US" sz="1600" dirty="0"/>
          </a:p>
        </p:txBody>
      </p:sp>
      <p:sp>
        <p:nvSpPr>
          <p:cNvPr id="7" name="Text 5"/>
          <p:cNvSpPr/>
          <p:nvPr/>
        </p:nvSpPr>
        <p:spPr>
          <a:xfrm>
            <a:off x="914400" y="2578608"/>
            <a:ext cx="4709160" cy="960120"/>
          </a:xfrm>
          <a:prstGeom prst="rect">
            <a:avLst/>
          </a:prstGeom>
          <a:noFill/>
          <a:ln/>
        </p:spPr>
        <p:txBody>
          <a:bodyPr wrap="square" lIns="0" tIns="0" rIns="0" bIns="0" rtlCol="0" anchor="ctr"/>
          <a:lstStyle/>
          <a:p>
            <a:pPr marL="0" indent="0">
              <a:lnSpc>
                <a:spcPts val="1600"/>
              </a:lnSpc>
              <a:buNone/>
            </a:pPr>
            <a:r>
              <a:rPr lang="en-US" sz="1150" dirty="0">
                <a:solidFill>
                  <a:srgbClr val="5A6B78"/>
                </a:solidFill>
                <a:latin typeface="Calibri" pitchFamily="34" charset="0"/>
                <a:ea typeface="Calibri" pitchFamily="34" charset="-122"/>
                <a:cs typeface="Calibri" pitchFamily="34" charset="-120"/>
              </a:rPr>
              <a:t>La investigación en educación informática pasó de las amenazas a la adopción práctica. Hacer los trabajos «a prueba de LLM» y prohibir la herramienta se consideran impracticables, ya que el acceso es libre fuera del aula.</a:t>
            </a:r>
            <a:endParaRPr lang="en-US" sz="1150" dirty="0"/>
          </a:p>
        </p:txBody>
      </p:sp>
      <p:sp>
        <p:nvSpPr>
          <p:cNvPr id="8" name="Shape 6"/>
          <p:cNvSpPr/>
          <p:nvPr/>
        </p:nvSpPr>
        <p:spPr>
          <a:xfrm>
            <a:off x="6245352" y="1737360"/>
            <a:ext cx="5394960" cy="1920240"/>
          </a:xfrm>
          <a:prstGeom prst="roundRect">
            <a:avLst>
              <a:gd name="adj" fmla="val 4286"/>
            </a:avLst>
          </a:prstGeom>
          <a:solidFill>
            <a:srgbClr val="F1F5F7"/>
          </a:solidFill>
          <a:ln w="12700">
            <a:solidFill>
              <a:srgbClr val="F1F5F7"/>
            </a:solidFill>
            <a:prstDash val="solid"/>
          </a:ln>
        </p:spPr>
      </p:sp>
      <p:sp>
        <p:nvSpPr>
          <p:cNvPr id="9" name="Text 7"/>
          <p:cNvSpPr/>
          <p:nvPr/>
        </p:nvSpPr>
        <p:spPr>
          <a:xfrm>
            <a:off x="6611112" y="1901952"/>
            <a:ext cx="4663440" cy="237744"/>
          </a:xfrm>
          <a:prstGeom prst="rect">
            <a:avLst/>
          </a:prstGeom>
          <a:noFill/>
          <a:ln/>
        </p:spPr>
        <p:txBody>
          <a:bodyPr wrap="square" lIns="0" tIns="0" rIns="0" bIns="0" rtlCol="0" anchor="ctr"/>
          <a:lstStyle/>
          <a:p>
            <a:pPr marL="0" indent="0">
              <a:buNone/>
            </a:pPr>
            <a:r>
              <a:rPr lang="en-US" sz="900" b="1" kern="0" spc="120" dirty="0">
                <a:solidFill>
                  <a:srgbClr val="1C6E7D"/>
                </a:solidFill>
                <a:latin typeface="Calibri" pitchFamily="34" charset="0"/>
                <a:ea typeface="Calibri" pitchFamily="34" charset="-122"/>
                <a:cs typeface="Calibri" pitchFamily="34" charset="-120"/>
              </a:rPr>
              <a:t>CABALLAR (2024) · IEEE SPECTRUM</a:t>
            </a:r>
            <a:endParaRPr lang="en-US" sz="900" dirty="0"/>
          </a:p>
        </p:txBody>
      </p:sp>
      <p:sp>
        <p:nvSpPr>
          <p:cNvPr id="10" name="Text 8"/>
          <p:cNvSpPr/>
          <p:nvPr/>
        </p:nvSpPr>
        <p:spPr>
          <a:xfrm>
            <a:off x="6611112" y="2157984"/>
            <a:ext cx="4663440" cy="365760"/>
          </a:xfrm>
          <a:prstGeom prst="rect">
            <a:avLst/>
          </a:prstGeom>
          <a:noFill/>
          <a:ln/>
        </p:spPr>
        <p:txBody>
          <a:bodyPr wrap="square" lIns="0" tIns="0" rIns="0" bIns="0" rtlCol="0" anchor="ctr"/>
          <a:lstStyle/>
          <a:p>
            <a:pPr marL="0" indent="0">
              <a:buNone/>
            </a:pPr>
            <a:r>
              <a:rPr lang="en-US" sz="1600" b="1" dirty="0">
                <a:solidFill>
                  <a:srgbClr val="0E2233"/>
                </a:solidFill>
                <a:latin typeface="Calibri" pitchFamily="34" charset="0"/>
                <a:ea typeface="Calibri" pitchFamily="34" charset="-122"/>
                <a:cs typeface="Calibri" pitchFamily="34" charset="-120"/>
              </a:rPr>
              <a:t>Menos sintaxis, más descomposición</a:t>
            </a:r>
            <a:endParaRPr lang="en-US" sz="1600" dirty="0"/>
          </a:p>
        </p:txBody>
      </p:sp>
      <p:sp>
        <p:nvSpPr>
          <p:cNvPr id="11" name="Text 9"/>
          <p:cNvSpPr/>
          <p:nvPr/>
        </p:nvSpPr>
        <p:spPr>
          <a:xfrm>
            <a:off x="6611112" y="2578608"/>
            <a:ext cx="4709160" cy="960120"/>
          </a:xfrm>
          <a:prstGeom prst="rect">
            <a:avLst/>
          </a:prstGeom>
          <a:noFill/>
          <a:ln/>
        </p:spPr>
        <p:txBody>
          <a:bodyPr wrap="square" lIns="0" tIns="0" rIns="0" bIns="0" rtlCol="0" anchor="ctr"/>
          <a:lstStyle/>
          <a:p>
            <a:pPr marL="0" indent="0">
              <a:lnSpc>
                <a:spcPts val="1600"/>
              </a:lnSpc>
              <a:buNone/>
            </a:pPr>
            <a:r>
              <a:rPr lang="en-US" sz="1150" dirty="0">
                <a:solidFill>
                  <a:srgbClr val="5A6B78"/>
                </a:solidFill>
                <a:latin typeface="Calibri" pitchFamily="34" charset="0"/>
                <a:ea typeface="Calibri" pitchFamily="34" charset="-122"/>
                <a:cs typeface="Calibri" pitchFamily="34" charset="-120"/>
              </a:rPr>
              <a:t>Los docentes desplazan el énfasis hacia la descomposición de problemas, la prueba y la verificación. Zingaro (Toronto) pide a sus estudiantes un video que explique su propio código.</a:t>
            </a:r>
            <a:endParaRPr lang="en-US" sz="1150" dirty="0"/>
          </a:p>
        </p:txBody>
      </p:sp>
      <p:sp>
        <p:nvSpPr>
          <p:cNvPr id="12" name="Shape 10"/>
          <p:cNvSpPr/>
          <p:nvPr/>
        </p:nvSpPr>
        <p:spPr>
          <a:xfrm>
            <a:off x="548640" y="3794760"/>
            <a:ext cx="5394960" cy="1920240"/>
          </a:xfrm>
          <a:prstGeom prst="roundRect">
            <a:avLst>
              <a:gd name="adj" fmla="val 4286"/>
            </a:avLst>
          </a:prstGeom>
          <a:solidFill>
            <a:srgbClr val="F1F5F7"/>
          </a:solidFill>
          <a:ln w="12700">
            <a:solidFill>
              <a:srgbClr val="F1F5F7"/>
            </a:solidFill>
            <a:prstDash val="solid"/>
          </a:ln>
        </p:spPr>
      </p:sp>
      <p:sp>
        <p:nvSpPr>
          <p:cNvPr id="13" name="Text 11"/>
          <p:cNvSpPr/>
          <p:nvPr/>
        </p:nvSpPr>
        <p:spPr>
          <a:xfrm>
            <a:off x="914400" y="3959352"/>
            <a:ext cx="4663440" cy="237744"/>
          </a:xfrm>
          <a:prstGeom prst="rect">
            <a:avLst/>
          </a:prstGeom>
          <a:noFill/>
          <a:ln/>
        </p:spPr>
        <p:txBody>
          <a:bodyPr wrap="square" lIns="0" tIns="0" rIns="0" bIns="0" rtlCol="0" anchor="ctr"/>
          <a:lstStyle/>
          <a:p>
            <a:pPr marL="0" indent="0">
              <a:buNone/>
            </a:pPr>
            <a:r>
              <a:rPr lang="en-US" sz="900" b="1" kern="0" spc="120" dirty="0">
                <a:solidFill>
                  <a:srgbClr val="1C6E7D"/>
                </a:solidFill>
                <a:latin typeface="Calibri" pitchFamily="34" charset="0"/>
                <a:ea typeface="Calibri" pitchFamily="34" charset="-122"/>
                <a:cs typeface="Calibri" pitchFamily="34" charset="-120"/>
              </a:rPr>
              <a:t>ALI ET AL. (2025) · J. COMPUT. EDUC.</a:t>
            </a:r>
            <a:endParaRPr lang="en-US" sz="900" dirty="0"/>
          </a:p>
        </p:txBody>
      </p:sp>
      <p:sp>
        <p:nvSpPr>
          <p:cNvPr id="14" name="Text 12"/>
          <p:cNvSpPr/>
          <p:nvPr/>
        </p:nvSpPr>
        <p:spPr>
          <a:xfrm>
            <a:off x="914400" y="4215384"/>
            <a:ext cx="4663440" cy="365760"/>
          </a:xfrm>
          <a:prstGeom prst="rect">
            <a:avLst/>
          </a:prstGeom>
          <a:noFill/>
          <a:ln/>
        </p:spPr>
        <p:txBody>
          <a:bodyPr wrap="square" lIns="0" tIns="0" rIns="0" bIns="0" rtlCol="0" anchor="ctr"/>
          <a:lstStyle/>
          <a:p>
            <a:pPr marL="0" indent="0">
              <a:buNone/>
            </a:pPr>
            <a:r>
              <a:rPr lang="en-US" sz="1600" b="1" dirty="0">
                <a:solidFill>
                  <a:srgbClr val="0E2233"/>
                </a:solidFill>
                <a:latin typeface="Calibri" pitchFamily="34" charset="0"/>
                <a:ea typeface="Calibri" pitchFamily="34" charset="-122"/>
                <a:cs typeface="Calibri" pitchFamily="34" charset="-120"/>
              </a:rPr>
              <a:t>La confianza, no la presión de los pares</a:t>
            </a:r>
            <a:endParaRPr lang="en-US" sz="1600" dirty="0"/>
          </a:p>
        </p:txBody>
      </p:sp>
      <p:sp>
        <p:nvSpPr>
          <p:cNvPr id="15" name="Text 13"/>
          <p:cNvSpPr/>
          <p:nvPr/>
        </p:nvSpPr>
        <p:spPr>
          <a:xfrm>
            <a:off x="914400" y="4636008"/>
            <a:ext cx="4709160" cy="960120"/>
          </a:xfrm>
          <a:prstGeom prst="rect">
            <a:avLst/>
          </a:prstGeom>
          <a:noFill/>
          <a:ln/>
        </p:spPr>
        <p:txBody>
          <a:bodyPr wrap="square" lIns="0" tIns="0" rIns="0" bIns="0" rtlCol="0" anchor="ctr"/>
          <a:lstStyle/>
          <a:p>
            <a:pPr marL="0" indent="0">
              <a:lnSpc>
                <a:spcPts val="1600"/>
              </a:lnSpc>
              <a:buNone/>
            </a:pPr>
            <a:r>
              <a:rPr lang="en-US" sz="1150" dirty="0">
                <a:solidFill>
                  <a:srgbClr val="5A6B78"/>
                </a:solidFill>
                <a:latin typeface="Calibri" pitchFamily="34" charset="0"/>
                <a:ea typeface="Calibri" pitchFamily="34" charset="-122"/>
                <a:cs typeface="Calibri" pitchFamily="34" charset="-120"/>
              </a:rPr>
              <a:t>Sobre 311 estudiantes, el interés por aprender, las metas de logro y la confianza predicen la adopción. La norma social, la duda y la inseguridad pesan poco.</a:t>
            </a:r>
            <a:endParaRPr lang="en-US" sz="1150" dirty="0"/>
          </a:p>
        </p:txBody>
      </p:sp>
      <p:sp>
        <p:nvSpPr>
          <p:cNvPr id="16" name="Shape 14"/>
          <p:cNvSpPr/>
          <p:nvPr/>
        </p:nvSpPr>
        <p:spPr>
          <a:xfrm>
            <a:off x="6245352" y="3794760"/>
            <a:ext cx="5394960" cy="1920240"/>
          </a:xfrm>
          <a:prstGeom prst="roundRect">
            <a:avLst>
              <a:gd name="adj" fmla="val 4286"/>
            </a:avLst>
          </a:prstGeom>
          <a:solidFill>
            <a:srgbClr val="F1F5F7"/>
          </a:solidFill>
          <a:ln w="12700">
            <a:solidFill>
              <a:srgbClr val="F1F5F7"/>
            </a:solidFill>
            <a:prstDash val="solid"/>
          </a:ln>
        </p:spPr>
      </p:sp>
      <p:sp>
        <p:nvSpPr>
          <p:cNvPr id="17" name="Text 15"/>
          <p:cNvSpPr/>
          <p:nvPr/>
        </p:nvSpPr>
        <p:spPr>
          <a:xfrm>
            <a:off x="6611112" y="3959352"/>
            <a:ext cx="4663440" cy="237744"/>
          </a:xfrm>
          <a:prstGeom prst="rect">
            <a:avLst/>
          </a:prstGeom>
          <a:noFill/>
          <a:ln/>
        </p:spPr>
        <p:txBody>
          <a:bodyPr wrap="square" lIns="0" tIns="0" rIns="0" bIns="0" rtlCol="0" anchor="ctr"/>
          <a:lstStyle/>
          <a:p>
            <a:pPr marL="0" indent="0">
              <a:buNone/>
            </a:pPr>
            <a:r>
              <a:rPr lang="en-US" sz="900" b="1" kern="0" spc="120" dirty="0">
                <a:solidFill>
                  <a:srgbClr val="1C6E7D"/>
                </a:solidFill>
                <a:latin typeface="Calibri" pitchFamily="34" charset="0"/>
                <a:ea typeface="Calibri" pitchFamily="34" charset="-122"/>
                <a:cs typeface="Calibri" pitchFamily="34" charset="-120"/>
              </a:rPr>
              <a:t>LIN Y ZHAO (2025) · ANNALS AAG</a:t>
            </a:r>
            <a:endParaRPr lang="en-US" sz="900" dirty="0"/>
          </a:p>
        </p:txBody>
      </p:sp>
      <p:sp>
        <p:nvSpPr>
          <p:cNvPr id="18" name="Text 16"/>
          <p:cNvSpPr/>
          <p:nvPr/>
        </p:nvSpPr>
        <p:spPr>
          <a:xfrm>
            <a:off x="6611112" y="4215384"/>
            <a:ext cx="4663440" cy="365760"/>
          </a:xfrm>
          <a:prstGeom prst="rect">
            <a:avLst/>
          </a:prstGeom>
          <a:noFill/>
          <a:ln/>
        </p:spPr>
        <p:txBody>
          <a:bodyPr wrap="square" lIns="0" tIns="0" rIns="0" bIns="0" rtlCol="0" anchor="ctr"/>
          <a:lstStyle/>
          <a:p>
            <a:pPr marL="0" indent="0">
              <a:buNone/>
            </a:pPr>
            <a:r>
              <a:rPr lang="en-US" sz="1600" b="1" dirty="0">
                <a:solidFill>
                  <a:srgbClr val="0E2233"/>
                </a:solidFill>
                <a:latin typeface="Calibri" pitchFamily="34" charset="0"/>
                <a:ea typeface="Calibri" pitchFamily="34" charset="-122"/>
                <a:cs typeface="Calibri" pitchFamily="34" charset="-120"/>
              </a:rPr>
              <a:t>Cartografía posthumana</a:t>
            </a:r>
            <a:endParaRPr lang="en-US" sz="1600" dirty="0"/>
          </a:p>
        </p:txBody>
      </p:sp>
      <p:sp>
        <p:nvSpPr>
          <p:cNvPr id="19" name="Text 17"/>
          <p:cNvSpPr/>
          <p:nvPr/>
        </p:nvSpPr>
        <p:spPr>
          <a:xfrm>
            <a:off x="6611112" y="4636008"/>
            <a:ext cx="4709160" cy="960120"/>
          </a:xfrm>
          <a:prstGeom prst="rect">
            <a:avLst/>
          </a:prstGeom>
          <a:noFill/>
          <a:ln/>
        </p:spPr>
        <p:txBody>
          <a:bodyPr wrap="square" lIns="0" tIns="0" rIns="0" bIns="0" rtlCol="0" anchor="ctr"/>
          <a:lstStyle/>
          <a:p>
            <a:pPr marL="0" indent="0">
              <a:lnSpc>
                <a:spcPts val="1600"/>
              </a:lnSpc>
              <a:buNone/>
            </a:pPr>
            <a:r>
              <a:rPr lang="en-US" sz="1150" dirty="0">
                <a:solidFill>
                  <a:srgbClr val="5A6B78"/>
                </a:solidFill>
                <a:latin typeface="Calibri" pitchFamily="34" charset="0"/>
                <a:ea typeface="Calibri" pitchFamily="34" charset="-122"/>
                <a:cs typeface="Calibri" pitchFamily="34" charset="-120"/>
              </a:rPr>
              <a:t>Producir mapas sin reglas programadas redistribuye el poder entre actores humanos y no humanos — de ahí el llamado a una reflexividad explícita del cartógrafo.</a:t>
            </a:r>
            <a:endParaRPr lang="en-US" sz="1150" dirty="0"/>
          </a:p>
        </p:txBody>
      </p:sp>
      <p:sp>
        <p:nvSpPr>
          <p:cNvPr id="20" name="Text 18"/>
          <p:cNvSpPr/>
          <p:nvPr/>
        </p:nvSpPr>
        <p:spPr>
          <a:xfrm>
            <a:off x="548640" y="5806440"/>
            <a:ext cx="11091672" cy="411480"/>
          </a:xfrm>
          <a:prstGeom prst="rect">
            <a:avLst/>
          </a:prstGeom>
          <a:noFill/>
          <a:ln/>
        </p:spPr>
        <p:txBody>
          <a:bodyPr wrap="square" lIns="0" tIns="0" rIns="0" bIns="0" rtlCol="0" anchor="ctr"/>
          <a:lstStyle/>
          <a:p>
            <a:pPr marL="0" indent="0">
              <a:buNone/>
            </a:pPr>
            <a:r>
              <a:rPr lang="en-US" sz="1300" i="1" dirty="0">
                <a:solidFill>
                  <a:srgbClr val="0E2233"/>
                </a:solidFill>
                <a:latin typeface="Calibri" pitchFamily="34" charset="0"/>
                <a:ea typeface="Calibri" pitchFamily="34" charset="-122"/>
                <a:cs typeface="Calibri" pitchFamily="34" charset="-120"/>
              </a:rPr>
              <a:t>El dispositivo presentado aquí no se diseñó a partir de esta literatura — coincide con ella. Es precisamente lo que lo hace transferible.</a:t>
            </a:r>
            <a:endParaRPr lang="en-US" sz="1300" dirty="0"/>
          </a:p>
        </p:txBody>
      </p:sp>
      <p:sp>
        <p:nvSpPr>
          <p:cNvPr id="21" name="Text 19"/>
          <p:cNvSpPr/>
          <p:nvPr/>
        </p:nvSpPr>
        <p:spPr>
          <a:xfrm>
            <a:off x="548640" y="6355080"/>
            <a:ext cx="7315200" cy="274320"/>
          </a:xfrm>
          <a:prstGeom prst="rect">
            <a:avLst/>
          </a:prstGeom>
          <a:noFill/>
          <a:ln/>
        </p:spPr>
        <p:txBody>
          <a:bodyPr wrap="square" lIns="0" tIns="0" rIns="0" bIns="0" rtlCol="0" anchor="ctr"/>
          <a:lstStyle/>
          <a:p>
            <a:pPr marL="0" indent="0">
              <a:buNone/>
            </a:pPr>
            <a:r>
              <a:rPr lang="en-US" sz="950" dirty="0">
                <a:solidFill>
                  <a:srgbClr val="5A6B78"/>
                </a:solidFill>
                <a:latin typeface="Calibri" pitchFamily="34" charset="0"/>
                <a:ea typeface="Calibri" pitchFamily="34" charset="-122"/>
                <a:cs typeface="Calibri" pitchFamily="34" charset="-120"/>
              </a:rPr>
              <a:t>Éric Robitaille, Ph. D. — CISSS des Laurentides / ESPUM</a:t>
            </a:r>
            <a:endParaRPr lang="en-US" sz="950" dirty="0"/>
          </a:p>
        </p:txBody>
      </p:sp>
      <p:sp>
        <p:nvSpPr>
          <p:cNvPr id="22" name="Text 20"/>
          <p:cNvSpPr/>
          <p:nvPr/>
        </p:nvSpPr>
        <p:spPr>
          <a:xfrm>
            <a:off x="11155680" y="6355080"/>
            <a:ext cx="502920" cy="274320"/>
          </a:xfrm>
          <a:prstGeom prst="rect">
            <a:avLst/>
          </a:prstGeom>
          <a:noFill/>
          <a:ln/>
        </p:spPr>
        <p:txBody>
          <a:bodyPr wrap="square" lIns="0" tIns="0" rIns="0" bIns="0" rtlCol="0" anchor="ctr"/>
          <a:lstStyle/>
          <a:p>
            <a:pPr marL="0" indent="0" algn="r">
              <a:buNone/>
            </a:pPr>
            <a:r>
              <a:rPr lang="en-US" sz="950" dirty="0">
                <a:solidFill>
                  <a:srgbClr val="5A6B78"/>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2233"/>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lIns="0" tIns="0" rIns="0" bIns="0" rtlCol="0" anchor="ctr"/>
          <a:lstStyle/>
          <a:p>
            <a:pPr marL="0" indent="0">
              <a:buNone/>
            </a:pPr>
            <a:r>
              <a:rPr lang="en-US" sz="1100" b="1" kern="0" spc="200" dirty="0">
                <a:solidFill>
                  <a:srgbClr val="3D9AA8"/>
                </a:solidFill>
                <a:latin typeface="Calibri" pitchFamily="34" charset="0"/>
                <a:ea typeface="Calibri" pitchFamily="34" charset="-122"/>
                <a:cs typeface="Calibri" pitchFamily="34" charset="-120"/>
              </a:rPr>
              <a:t>TRES EJES</a:t>
            </a:r>
            <a:endParaRPr lang="en-US" sz="1100" dirty="0"/>
          </a:p>
        </p:txBody>
      </p:sp>
      <p:sp>
        <p:nvSpPr>
          <p:cNvPr id="3" name="Text 1"/>
          <p:cNvSpPr/>
          <p:nvPr/>
        </p:nvSpPr>
        <p:spPr>
          <a:xfrm>
            <a:off x="548640" y="658368"/>
            <a:ext cx="10972800" cy="77724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El enfoque pedagógico</a:t>
            </a:r>
            <a:endParaRPr lang="en-US" sz="3400" dirty="0"/>
          </a:p>
        </p:txBody>
      </p:sp>
      <p:sp>
        <p:nvSpPr>
          <p:cNvPr id="4" name="Shape 2"/>
          <p:cNvSpPr/>
          <p:nvPr/>
        </p:nvSpPr>
        <p:spPr>
          <a:xfrm>
            <a:off x="548640" y="1920240"/>
            <a:ext cx="3593592" cy="3566160"/>
          </a:xfrm>
          <a:prstGeom prst="roundRect">
            <a:avLst>
              <a:gd name="adj" fmla="val 2308"/>
            </a:avLst>
          </a:prstGeom>
          <a:solidFill>
            <a:srgbClr val="1A3A52"/>
          </a:solidFill>
          <a:ln/>
        </p:spPr>
      </p:sp>
      <p:sp>
        <p:nvSpPr>
          <p:cNvPr id="5" name="Shape 3"/>
          <p:cNvSpPr/>
          <p:nvPr/>
        </p:nvSpPr>
        <p:spPr>
          <a:xfrm>
            <a:off x="960120" y="2331720"/>
            <a:ext cx="685800" cy="685800"/>
          </a:xfrm>
          <a:prstGeom prst="ellipse">
            <a:avLst/>
          </a:prstGeom>
          <a:solidFill>
            <a:srgbClr val="E29524"/>
          </a:solidFill>
          <a:ln/>
        </p:spPr>
      </p:sp>
      <p:sp>
        <p:nvSpPr>
          <p:cNvPr id="6" name="Text 4"/>
          <p:cNvSpPr/>
          <p:nvPr/>
        </p:nvSpPr>
        <p:spPr>
          <a:xfrm>
            <a:off x="960120" y="2331720"/>
            <a:ext cx="685800" cy="685800"/>
          </a:xfrm>
          <a:prstGeom prst="rect">
            <a:avLst/>
          </a:prstGeom>
          <a:noFill/>
          <a:ln/>
        </p:spPr>
        <p:txBody>
          <a:bodyPr wrap="square" lIns="0" tIns="0" rIns="0" bIns="0" rtlCol="0" anchor="ctr"/>
          <a:lstStyle/>
          <a:p>
            <a:pPr marL="0" indent="0" algn="ctr">
              <a:buNone/>
            </a:pPr>
            <a:r>
              <a:rPr lang="en-US" sz="2600" b="1" dirty="0">
                <a:solidFill>
                  <a:srgbClr val="0E2233"/>
                </a:solidFill>
                <a:latin typeface="Calibri" pitchFamily="34" charset="0"/>
                <a:ea typeface="Calibri" pitchFamily="34" charset="-122"/>
                <a:cs typeface="Calibri" pitchFamily="34" charset="-120"/>
              </a:rPr>
              <a:t>1</a:t>
            </a:r>
            <a:endParaRPr lang="en-US" sz="2600" dirty="0"/>
          </a:p>
        </p:txBody>
      </p:sp>
      <p:sp>
        <p:nvSpPr>
          <p:cNvPr id="7" name="Text 5"/>
          <p:cNvSpPr/>
          <p:nvPr/>
        </p:nvSpPr>
        <p:spPr>
          <a:xfrm>
            <a:off x="960120" y="3200400"/>
            <a:ext cx="2834640" cy="914400"/>
          </a:xfrm>
          <a:prstGeom prst="rect">
            <a:avLst/>
          </a:prstGeom>
          <a:noFill/>
          <a:ln/>
        </p:spPr>
        <p:txBody>
          <a:bodyPr wrap="square" lIns="0" tIns="0" rIns="0" bIns="0" rtlCol="0" anchor="t"/>
          <a:lstStyle/>
          <a:p>
            <a:pPr marL="0" indent="0">
              <a:lnSpc>
                <a:spcPts val="2400"/>
              </a:lnSpc>
              <a:buNone/>
            </a:pPr>
            <a:r>
              <a:rPr lang="en-US" sz="1800" b="1" dirty="0">
                <a:solidFill>
                  <a:srgbClr val="FFFFFF"/>
                </a:solidFill>
                <a:latin typeface="Calibri" pitchFamily="34" charset="0"/>
                <a:ea typeface="Calibri" pitchFamily="34" charset="-122"/>
                <a:cs typeface="Calibri" pitchFamily="34" charset="-120"/>
              </a:rPr>
              <a:t>El prompt engineering</a:t>
            </a:r>
            <a:endParaRPr lang="en-US" sz="1800" dirty="0"/>
          </a:p>
          <a:p>
            <a:pPr marL="0" indent="0">
              <a:lnSpc>
                <a:spcPts val="2400"/>
              </a:lnSpc>
              <a:buNone/>
            </a:pPr>
            <a:r>
              <a:rPr lang="en-US" sz="1800" b="1" dirty="0">
                <a:solidFill>
                  <a:srgbClr val="FFFFFF"/>
                </a:solidFill>
                <a:latin typeface="Calibri" pitchFamily="34" charset="0"/>
                <a:ea typeface="Calibri" pitchFamily="34" charset="-122"/>
                <a:cs typeface="Calibri" pitchFamily="34" charset="-120"/>
              </a:rPr>
              <a:t>como competencia</a:t>
            </a:r>
            <a:endParaRPr lang="en-US" sz="1800" dirty="0"/>
          </a:p>
        </p:txBody>
      </p:sp>
      <p:sp>
        <p:nvSpPr>
          <p:cNvPr id="8" name="Text 6"/>
          <p:cNvSpPr/>
          <p:nvPr/>
        </p:nvSpPr>
        <p:spPr>
          <a:xfrm>
            <a:off x="960120" y="4160520"/>
            <a:ext cx="2880360" cy="1188720"/>
          </a:xfrm>
          <a:prstGeom prst="rect">
            <a:avLst/>
          </a:prstGeom>
          <a:noFill/>
          <a:ln/>
        </p:spPr>
        <p:txBody>
          <a:bodyPr wrap="square" lIns="0" tIns="0" rIns="0" bIns="0" rtlCol="0" anchor="ctr"/>
          <a:lstStyle/>
          <a:p>
            <a:pPr marL="0" indent="0">
              <a:lnSpc>
                <a:spcPts val="2000"/>
              </a:lnSpc>
              <a:buNone/>
            </a:pPr>
            <a:r>
              <a:rPr lang="en-US" sz="1300" dirty="0">
                <a:solidFill>
                  <a:srgbClr val="AEC9D6"/>
                </a:solidFill>
                <a:latin typeface="Calibri" pitchFamily="34" charset="0"/>
                <a:ea typeface="Calibri" pitchFamily="34" charset="-122"/>
                <a:cs typeface="Calibri" pitchFamily="34" charset="-120"/>
              </a:rPr>
              <a:t>Una estructura explícita — rol, contexto, tarea, restricciones, ejemplos — enseñada, practicada y corregida.</a:t>
            </a:r>
            <a:endParaRPr lang="en-US" sz="1300" dirty="0"/>
          </a:p>
        </p:txBody>
      </p:sp>
      <p:sp>
        <p:nvSpPr>
          <p:cNvPr id="9" name="Shape 7"/>
          <p:cNvSpPr/>
          <p:nvPr/>
        </p:nvSpPr>
        <p:spPr>
          <a:xfrm>
            <a:off x="4325112" y="1920240"/>
            <a:ext cx="3593592" cy="3566160"/>
          </a:xfrm>
          <a:prstGeom prst="roundRect">
            <a:avLst>
              <a:gd name="adj" fmla="val 2308"/>
            </a:avLst>
          </a:prstGeom>
          <a:solidFill>
            <a:srgbClr val="1A3A52"/>
          </a:solidFill>
          <a:ln/>
        </p:spPr>
      </p:sp>
      <p:sp>
        <p:nvSpPr>
          <p:cNvPr id="10" name="Shape 8"/>
          <p:cNvSpPr/>
          <p:nvPr/>
        </p:nvSpPr>
        <p:spPr>
          <a:xfrm>
            <a:off x="4736592" y="2331720"/>
            <a:ext cx="685800" cy="685800"/>
          </a:xfrm>
          <a:prstGeom prst="ellipse">
            <a:avLst/>
          </a:prstGeom>
          <a:solidFill>
            <a:srgbClr val="E29524"/>
          </a:solidFill>
          <a:ln/>
        </p:spPr>
      </p:sp>
      <p:sp>
        <p:nvSpPr>
          <p:cNvPr id="11" name="Text 9"/>
          <p:cNvSpPr/>
          <p:nvPr/>
        </p:nvSpPr>
        <p:spPr>
          <a:xfrm>
            <a:off x="4736592" y="2331720"/>
            <a:ext cx="685800" cy="685800"/>
          </a:xfrm>
          <a:prstGeom prst="rect">
            <a:avLst/>
          </a:prstGeom>
          <a:noFill/>
          <a:ln/>
        </p:spPr>
        <p:txBody>
          <a:bodyPr wrap="square" lIns="0" tIns="0" rIns="0" bIns="0" rtlCol="0" anchor="ctr"/>
          <a:lstStyle/>
          <a:p>
            <a:pPr marL="0" indent="0" algn="ctr">
              <a:buNone/>
            </a:pPr>
            <a:r>
              <a:rPr lang="en-US" sz="2600" b="1" dirty="0">
                <a:solidFill>
                  <a:srgbClr val="0E2233"/>
                </a:solidFill>
                <a:latin typeface="Calibri" pitchFamily="34" charset="0"/>
                <a:ea typeface="Calibri" pitchFamily="34" charset="-122"/>
                <a:cs typeface="Calibri" pitchFamily="34" charset="-120"/>
              </a:rPr>
              <a:t>2</a:t>
            </a:r>
            <a:endParaRPr lang="en-US" sz="2600" dirty="0"/>
          </a:p>
        </p:txBody>
      </p:sp>
      <p:sp>
        <p:nvSpPr>
          <p:cNvPr id="12" name="Text 10"/>
          <p:cNvSpPr/>
          <p:nvPr/>
        </p:nvSpPr>
        <p:spPr>
          <a:xfrm>
            <a:off x="4736592" y="3200400"/>
            <a:ext cx="2834640" cy="914400"/>
          </a:xfrm>
          <a:prstGeom prst="rect">
            <a:avLst/>
          </a:prstGeom>
          <a:noFill/>
          <a:ln/>
        </p:spPr>
        <p:txBody>
          <a:bodyPr wrap="square" lIns="0" tIns="0" rIns="0" bIns="0" rtlCol="0" anchor="t"/>
          <a:lstStyle/>
          <a:p>
            <a:pPr marL="0" indent="0">
              <a:lnSpc>
                <a:spcPts val="2400"/>
              </a:lnSpc>
              <a:buNone/>
            </a:pPr>
            <a:r>
              <a:rPr lang="en-US" sz="1800" b="1" dirty="0">
                <a:solidFill>
                  <a:srgbClr val="FFFFFF"/>
                </a:solidFill>
                <a:latin typeface="Calibri" pitchFamily="34" charset="0"/>
                <a:ea typeface="Calibri" pitchFamily="34" charset="-122"/>
                <a:cs typeface="Calibri" pitchFamily="34" charset="-120"/>
              </a:rPr>
              <a:t>Casos de uso anclados</a:t>
            </a:r>
            <a:endParaRPr lang="en-US" sz="1800" dirty="0"/>
          </a:p>
          <a:p>
            <a:pPr marL="0" indent="0">
              <a:lnSpc>
                <a:spcPts val="2400"/>
              </a:lnSpc>
              <a:buNone/>
            </a:pPr>
            <a:r>
              <a:rPr lang="en-US" sz="1800" b="1" dirty="0">
                <a:solidFill>
                  <a:srgbClr val="FFFFFF"/>
                </a:solidFill>
                <a:latin typeface="Calibri" pitchFamily="34" charset="0"/>
                <a:ea typeface="Calibri" pitchFamily="34" charset="-122"/>
                <a:cs typeface="Calibri" pitchFamily="34" charset="-120"/>
              </a:rPr>
              <a:t>en salud pública</a:t>
            </a:r>
            <a:endParaRPr lang="en-US" sz="1800" dirty="0"/>
          </a:p>
        </p:txBody>
      </p:sp>
      <p:sp>
        <p:nvSpPr>
          <p:cNvPr id="13" name="Text 11"/>
          <p:cNvSpPr/>
          <p:nvPr/>
        </p:nvSpPr>
        <p:spPr>
          <a:xfrm>
            <a:off x="4736592" y="4160520"/>
            <a:ext cx="2880360" cy="1188720"/>
          </a:xfrm>
          <a:prstGeom prst="rect">
            <a:avLst/>
          </a:prstGeom>
          <a:noFill/>
          <a:ln/>
        </p:spPr>
        <p:txBody>
          <a:bodyPr wrap="square" lIns="0" tIns="0" rIns="0" bIns="0" rtlCol="0" anchor="ctr"/>
          <a:lstStyle/>
          <a:p>
            <a:pPr marL="0" indent="0">
              <a:lnSpc>
                <a:spcPts val="2000"/>
              </a:lnSpc>
              <a:buNone/>
            </a:pPr>
            <a:r>
              <a:rPr lang="en-US" sz="1300" dirty="0">
                <a:solidFill>
                  <a:srgbClr val="AEC9D6"/>
                </a:solidFill>
                <a:latin typeface="Calibri" pitchFamily="34" charset="0"/>
                <a:ea typeface="Calibri" pitchFamily="34" charset="-122"/>
                <a:cs typeface="Calibri" pitchFamily="34" charset="-120"/>
              </a:rPr>
              <a:t>Síntesis de literatura, análisis de datos, geomática, redacción adaptada al público destinatario.</a:t>
            </a:r>
            <a:endParaRPr lang="en-US" sz="1300" dirty="0"/>
          </a:p>
        </p:txBody>
      </p:sp>
      <p:sp>
        <p:nvSpPr>
          <p:cNvPr id="14" name="Shape 12"/>
          <p:cNvSpPr/>
          <p:nvPr/>
        </p:nvSpPr>
        <p:spPr>
          <a:xfrm>
            <a:off x="8101584" y="1920240"/>
            <a:ext cx="3593592" cy="3566160"/>
          </a:xfrm>
          <a:prstGeom prst="roundRect">
            <a:avLst>
              <a:gd name="adj" fmla="val 2308"/>
            </a:avLst>
          </a:prstGeom>
          <a:solidFill>
            <a:srgbClr val="1A3A52"/>
          </a:solidFill>
          <a:ln/>
        </p:spPr>
      </p:sp>
      <p:sp>
        <p:nvSpPr>
          <p:cNvPr id="15" name="Shape 13"/>
          <p:cNvSpPr/>
          <p:nvPr/>
        </p:nvSpPr>
        <p:spPr>
          <a:xfrm>
            <a:off x="8513064" y="2331720"/>
            <a:ext cx="685800" cy="685800"/>
          </a:xfrm>
          <a:prstGeom prst="ellipse">
            <a:avLst/>
          </a:prstGeom>
          <a:solidFill>
            <a:srgbClr val="E29524"/>
          </a:solidFill>
          <a:ln/>
        </p:spPr>
      </p:sp>
      <p:sp>
        <p:nvSpPr>
          <p:cNvPr id="16" name="Text 14"/>
          <p:cNvSpPr/>
          <p:nvPr/>
        </p:nvSpPr>
        <p:spPr>
          <a:xfrm>
            <a:off x="8513064" y="2331720"/>
            <a:ext cx="685800" cy="685800"/>
          </a:xfrm>
          <a:prstGeom prst="rect">
            <a:avLst/>
          </a:prstGeom>
          <a:noFill/>
          <a:ln/>
        </p:spPr>
        <p:txBody>
          <a:bodyPr wrap="square" lIns="0" tIns="0" rIns="0" bIns="0" rtlCol="0" anchor="ctr"/>
          <a:lstStyle/>
          <a:p>
            <a:pPr marL="0" indent="0" algn="ctr">
              <a:buNone/>
            </a:pPr>
            <a:r>
              <a:rPr lang="en-US" sz="2600" b="1" dirty="0">
                <a:solidFill>
                  <a:srgbClr val="0E2233"/>
                </a:solidFill>
                <a:latin typeface="Calibri" pitchFamily="34" charset="0"/>
                <a:ea typeface="Calibri" pitchFamily="34" charset="-122"/>
                <a:cs typeface="Calibri" pitchFamily="34" charset="-120"/>
              </a:rPr>
              <a:t>3</a:t>
            </a:r>
            <a:endParaRPr lang="en-US" sz="2600" dirty="0"/>
          </a:p>
        </p:txBody>
      </p:sp>
      <p:sp>
        <p:nvSpPr>
          <p:cNvPr id="17" name="Text 15"/>
          <p:cNvSpPr/>
          <p:nvPr/>
        </p:nvSpPr>
        <p:spPr>
          <a:xfrm>
            <a:off x="8513064" y="3200400"/>
            <a:ext cx="2834640" cy="914400"/>
          </a:xfrm>
          <a:prstGeom prst="rect">
            <a:avLst/>
          </a:prstGeom>
          <a:noFill/>
          <a:ln/>
        </p:spPr>
        <p:txBody>
          <a:bodyPr wrap="square" lIns="0" tIns="0" rIns="0" bIns="0" rtlCol="0" anchor="t"/>
          <a:lstStyle/>
          <a:p>
            <a:pPr marL="0" indent="0">
              <a:lnSpc>
                <a:spcPts val="2400"/>
              </a:lnSpc>
              <a:buNone/>
            </a:pPr>
            <a:r>
              <a:rPr lang="en-US" sz="1800" b="1" dirty="0">
                <a:solidFill>
                  <a:srgbClr val="FFFFFF"/>
                </a:solidFill>
                <a:latin typeface="Calibri" pitchFamily="34" charset="0"/>
                <a:ea typeface="Calibri" pitchFamily="34" charset="-122"/>
                <a:cs typeface="Calibri" pitchFamily="34" charset="-120"/>
              </a:rPr>
              <a:t>La IA como amplificador,</a:t>
            </a:r>
            <a:endParaRPr lang="en-US" sz="1800" dirty="0"/>
          </a:p>
          <a:p>
            <a:pPr marL="0" indent="0">
              <a:lnSpc>
                <a:spcPts val="2400"/>
              </a:lnSpc>
              <a:buNone/>
            </a:pPr>
            <a:r>
              <a:rPr lang="en-US" sz="1800" b="1" dirty="0">
                <a:solidFill>
                  <a:srgbClr val="FFFFFF"/>
                </a:solidFill>
                <a:latin typeface="Calibri" pitchFamily="34" charset="0"/>
                <a:ea typeface="Calibri" pitchFamily="34" charset="-122"/>
                <a:cs typeface="Calibri" pitchFamily="34" charset="-120"/>
              </a:rPr>
              <a:t>nunca como sustituto</a:t>
            </a:r>
            <a:endParaRPr lang="en-US" sz="1800" dirty="0"/>
          </a:p>
        </p:txBody>
      </p:sp>
      <p:sp>
        <p:nvSpPr>
          <p:cNvPr id="18" name="Text 16"/>
          <p:cNvSpPr/>
          <p:nvPr/>
        </p:nvSpPr>
        <p:spPr>
          <a:xfrm>
            <a:off x="8513064" y="4160520"/>
            <a:ext cx="2880360" cy="1188720"/>
          </a:xfrm>
          <a:prstGeom prst="rect">
            <a:avLst/>
          </a:prstGeom>
          <a:noFill/>
          <a:ln/>
        </p:spPr>
        <p:txBody>
          <a:bodyPr wrap="square" lIns="0" tIns="0" rIns="0" bIns="0" rtlCol="0" anchor="ctr"/>
          <a:lstStyle/>
          <a:p>
            <a:pPr marL="0" indent="0">
              <a:lnSpc>
                <a:spcPts val="2000"/>
              </a:lnSpc>
              <a:buNone/>
            </a:pPr>
            <a:r>
              <a:rPr lang="en-US" sz="1300" dirty="0">
                <a:solidFill>
                  <a:srgbClr val="AEC9D6"/>
                </a:solidFill>
                <a:latin typeface="Calibri" pitchFamily="34" charset="0"/>
                <a:ea typeface="Calibri" pitchFamily="34" charset="-122"/>
                <a:cs typeface="Calibri" pitchFamily="34" charset="-120"/>
              </a:rPr>
              <a:t>La experticia disciplinaria sigue siendo la condición de un uso competente: sin ella, es imposible juzgar el resultado.</a:t>
            </a:r>
            <a:endParaRPr lang="en-US" sz="1300" dirty="0"/>
          </a:p>
        </p:txBody>
      </p:sp>
      <p:sp>
        <p:nvSpPr>
          <p:cNvPr id="19" name="Text 17"/>
          <p:cNvSpPr/>
          <p:nvPr/>
        </p:nvSpPr>
        <p:spPr>
          <a:xfrm>
            <a:off x="548640" y="5715000"/>
            <a:ext cx="11091672" cy="457200"/>
          </a:xfrm>
          <a:prstGeom prst="rect">
            <a:avLst/>
          </a:prstGeom>
          <a:noFill/>
          <a:ln/>
        </p:spPr>
        <p:txBody>
          <a:bodyPr wrap="square" lIns="0" tIns="0" rIns="0" bIns="0" rtlCol="0" anchor="ctr"/>
          <a:lstStyle/>
          <a:p>
            <a:pPr marL="0" indent="0">
              <a:buNone/>
            </a:pPr>
            <a:r>
              <a:rPr lang="en-US" sz="1500" i="1" dirty="0">
                <a:solidFill>
                  <a:srgbClr val="E29524"/>
                </a:solidFill>
                <a:latin typeface="Calibri" pitchFamily="34" charset="0"/>
                <a:ea typeface="Calibri" pitchFamily="34" charset="-122"/>
                <a:cs typeface="Calibri" pitchFamily="34" charset="-120"/>
              </a:rPr>
              <a:t>La evaluación misma moviliza la IA — exigiendo a la vez un análisis crítico reflexivo de su uso.</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lIns="0" tIns="0" rIns="0" bIns="0" rtlCol="0" anchor="ctr"/>
          <a:lstStyle/>
          <a:p>
            <a:pPr marL="0" indent="0">
              <a:buNone/>
            </a:pPr>
            <a:r>
              <a:rPr lang="en-US" sz="1100" b="1" kern="0" spc="200" dirty="0">
                <a:solidFill>
                  <a:srgbClr val="1C6E7D"/>
                </a:solidFill>
                <a:latin typeface="Calibri" pitchFamily="34" charset="0"/>
                <a:ea typeface="Calibri" pitchFamily="34" charset="-122"/>
                <a:cs typeface="Calibri" pitchFamily="34" charset="-120"/>
              </a:rPr>
              <a:t>EJE 1 · UNA COMPETENCIA PROFESIONAL</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400" b="1" dirty="0">
                <a:solidFill>
                  <a:srgbClr val="0E2233"/>
                </a:solidFill>
                <a:latin typeface="Cambria" pitchFamily="34" charset="0"/>
                <a:ea typeface="Cambria" pitchFamily="34" charset="-122"/>
                <a:cs typeface="Cambria" pitchFamily="34" charset="-120"/>
              </a:rPr>
              <a:t>Estructurar la consulta: cinco componentes</a:t>
            </a:r>
            <a:endParaRPr lang="en-US" sz="3400" dirty="0"/>
          </a:p>
        </p:txBody>
      </p:sp>
      <p:sp>
        <p:nvSpPr>
          <p:cNvPr id="4" name="Shape 2"/>
          <p:cNvSpPr/>
          <p:nvPr/>
        </p:nvSpPr>
        <p:spPr>
          <a:xfrm>
            <a:off x="548640" y="1737360"/>
            <a:ext cx="6949440" cy="749808"/>
          </a:xfrm>
          <a:prstGeom prst="roundRect">
            <a:avLst>
              <a:gd name="adj" fmla="val 10976"/>
            </a:avLst>
          </a:prstGeom>
          <a:solidFill>
            <a:srgbClr val="F1F5F7"/>
          </a:solidFill>
          <a:ln w="12700">
            <a:solidFill>
              <a:srgbClr val="F1F5F7"/>
            </a:solidFill>
            <a:prstDash val="solid"/>
          </a:ln>
        </p:spPr>
      </p:sp>
      <p:sp>
        <p:nvSpPr>
          <p:cNvPr id="5" name="Shape 3"/>
          <p:cNvSpPr/>
          <p:nvPr/>
        </p:nvSpPr>
        <p:spPr>
          <a:xfrm>
            <a:off x="777240" y="1911096"/>
            <a:ext cx="402336" cy="402336"/>
          </a:xfrm>
          <a:prstGeom prst="ellipse">
            <a:avLst/>
          </a:prstGeom>
          <a:solidFill>
            <a:srgbClr val="1C6E7D"/>
          </a:solidFill>
          <a:ln/>
        </p:spPr>
      </p:sp>
      <p:sp>
        <p:nvSpPr>
          <p:cNvPr id="6" name="Text 4"/>
          <p:cNvSpPr/>
          <p:nvPr/>
        </p:nvSpPr>
        <p:spPr>
          <a:xfrm>
            <a:off x="777240" y="191109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25880" y="1737360"/>
            <a:ext cx="1417320" cy="749808"/>
          </a:xfrm>
          <a:prstGeom prst="rect">
            <a:avLst/>
          </a:prstGeom>
          <a:noFill/>
          <a:ln/>
        </p:spPr>
        <p:txBody>
          <a:bodyPr wrap="square" lIns="0" tIns="0" rIns="0" bIns="0" rtlCol="0" anchor="ctr"/>
          <a:lstStyle/>
          <a:p>
            <a:pPr marL="0" indent="0">
              <a:buNone/>
            </a:pPr>
            <a:r>
              <a:rPr lang="en-US" sz="1500" b="1" dirty="0">
                <a:solidFill>
                  <a:srgbClr val="0E2233"/>
                </a:solidFill>
                <a:latin typeface="Calibri" pitchFamily="34" charset="0"/>
                <a:ea typeface="Calibri" pitchFamily="34" charset="-122"/>
                <a:cs typeface="Calibri" pitchFamily="34" charset="-120"/>
              </a:rPr>
              <a:t>Rol</a:t>
            </a:r>
            <a:endParaRPr lang="en-US" sz="1500" dirty="0"/>
          </a:p>
        </p:txBody>
      </p:sp>
      <p:sp>
        <p:nvSpPr>
          <p:cNvPr id="8" name="Text 6"/>
          <p:cNvSpPr/>
          <p:nvPr/>
        </p:nvSpPr>
        <p:spPr>
          <a:xfrm>
            <a:off x="2697480" y="1737360"/>
            <a:ext cx="4663440" cy="749808"/>
          </a:xfrm>
          <a:prstGeom prst="rect">
            <a:avLst/>
          </a:prstGeom>
          <a:noFill/>
          <a:ln/>
        </p:spPr>
        <p:txBody>
          <a:bodyPr wrap="square" lIns="0" tIns="0" rIns="0" bIns="0" rtlCol="0" anchor="ctr"/>
          <a:lstStyle/>
          <a:p>
            <a:pPr marL="0" indent="0">
              <a:lnSpc>
                <a:spcPts val="1700"/>
              </a:lnSpc>
              <a:buNone/>
            </a:pPr>
            <a:r>
              <a:rPr lang="en-US" sz="1250" dirty="0">
                <a:solidFill>
                  <a:srgbClr val="5A6B78"/>
                </a:solidFill>
                <a:latin typeface="Calibri" pitchFamily="34" charset="0"/>
                <a:ea typeface="Calibri" pitchFamily="34" charset="-122"/>
                <a:cs typeface="Calibri" pitchFamily="34" charset="-120"/>
              </a:rPr>
              <a:t>¿Qué experticia debe adoptar Claude? «Actúa como epidemiólogo en salud ambiental.»</a:t>
            </a:r>
            <a:endParaRPr lang="en-US" sz="1250" dirty="0"/>
          </a:p>
        </p:txBody>
      </p:sp>
      <p:sp>
        <p:nvSpPr>
          <p:cNvPr id="9" name="Shape 7"/>
          <p:cNvSpPr/>
          <p:nvPr/>
        </p:nvSpPr>
        <p:spPr>
          <a:xfrm>
            <a:off x="548640" y="2578608"/>
            <a:ext cx="6949440" cy="749808"/>
          </a:xfrm>
          <a:prstGeom prst="roundRect">
            <a:avLst>
              <a:gd name="adj" fmla="val 10976"/>
            </a:avLst>
          </a:prstGeom>
          <a:solidFill>
            <a:srgbClr val="FFFFFF"/>
          </a:solidFill>
          <a:ln w="12700">
            <a:solidFill>
              <a:srgbClr val="FFFFFF"/>
            </a:solidFill>
            <a:prstDash val="solid"/>
          </a:ln>
        </p:spPr>
      </p:sp>
      <p:sp>
        <p:nvSpPr>
          <p:cNvPr id="10" name="Shape 8"/>
          <p:cNvSpPr/>
          <p:nvPr/>
        </p:nvSpPr>
        <p:spPr>
          <a:xfrm>
            <a:off x="777240" y="2752344"/>
            <a:ext cx="402336" cy="402336"/>
          </a:xfrm>
          <a:prstGeom prst="ellipse">
            <a:avLst/>
          </a:prstGeom>
          <a:solidFill>
            <a:srgbClr val="1C6E7D"/>
          </a:solidFill>
          <a:ln/>
        </p:spPr>
      </p:sp>
      <p:sp>
        <p:nvSpPr>
          <p:cNvPr id="11" name="Text 9"/>
          <p:cNvSpPr/>
          <p:nvPr/>
        </p:nvSpPr>
        <p:spPr>
          <a:xfrm>
            <a:off x="777240" y="275234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325880" y="2578608"/>
            <a:ext cx="1417320" cy="749808"/>
          </a:xfrm>
          <a:prstGeom prst="rect">
            <a:avLst/>
          </a:prstGeom>
          <a:noFill/>
          <a:ln/>
        </p:spPr>
        <p:txBody>
          <a:bodyPr wrap="square" lIns="0" tIns="0" rIns="0" bIns="0" rtlCol="0" anchor="ctr"/>
          <a:lstStyle/>
          <a:p>
            <a:pPr marL="0" indent="0">
              <a:buNone/>
            </a:pPr>
            <a:r>
              <a:rPr lang="en-US" sz="1500" b="1" dirty="0">
                <a:solidFill>
                  <a:srgbClr val="0E2233"/>
                </a:solidFill>
                <a:latin typeface="Calibri" pitchFamily="34" charset="0"/>
                <a:ea typeface="Calibri" pitchFamily="34" charset="-122"/>
                <a:cs typeface="Calibri" pitchFamily="34" charset="-120"/>
              </a:rPr>
              <a:t>Contexto</a:t>
            </a:r>
            <a:endParaRPr lang="en-US" sz="1500" dirty="0"/>
          </a:p>
        </p:txBody>
      </p:sp>
      <p:sp>
        <p:nvSpPr>
          <p:cNvPr id="13" name="Text 11"/>
          <p:cNvSpPr/>
          <p:nvPr/>
        </p:nvSpPr>
        <p:spPr>
          <a:xfrm>
            <a:off x="2697480" y="2578608"/>
            <a:ext cx="4663440" cy="749808"/>
          </a:xfrm>
          <a:prstGeom prst="rect">
            <a:avLst/>
          </a:prstGeom>
          <a:noFill/>
          <a:ln/>
        </p:spPr>
        <p:txBody>
          <a:bodyPr wrap="square" lIns="0" tIns="0" rIns="0" bIns="0" rtlCol="0" anchor="ctr"/>
          <a:lstStyle/>
          <a:p>
            <a:pPr marL="0" indent="0">
              <a:lnSpc>
                <a:spcPts val="1700"/>
              </a:lnSpc>
              <a:buNone/>
            </a:pPr>
            <a:r>
              <a:rPr lang="en-US" sz="1250" dirty="0">
                <a:solidFill>
                  <a:srgbClr val="5A6B78"/>
                </a:solidFill>
                <a:latin typeface="Calibri" pitchFamily="34" charset="0"/>
                <a:ea typeface="Calibri" pitchFamily="34" charset="-122"/>
                <a:cs typeface="Calibri" pitchFamily="34" charset="-120"/>
              </a:rPr>
              <a:t>Público destinatario, institución, finalidad del documento, restricciones del entorno.</a:t>
            </a:r>
            <a:endParaRPr lang="en-US" sz="1250" dirty="0"/>
          </a:p>
        </p:txBody>
      </p:sp>
      <p:sp>
        <p:nvSpPr>
          <p:cNvPr id="14" name="Shape 12"/>
          <p:cNvSpPr/>
          <p:nvPr/>
        </p:nvSpPr>
        <p:spPr>
          <a:xfrm>
            <a:off x="548640" y="3419856"/>
            <a:ext cx="6949440" cy="749808"/>
          </a:xfrm>
          <a:prstGeom prst="roundRect">
            <a:avLst>
              <a:gd name="adj" fmla="val 10976"/>
            </a:avLst>
          </a:prstGeom>
          <a:solidFill>
            <a:srgbClr val="F1F5F7"/>
          </a:solidFill>
          <a:ln w="12700">
            <a:solidFill>
              <a:srgbClr val="F1F5F7"/>
            </a:solidFill>
            <a:prstDash val="solid"/>
          </a:ln>
        </p:spPr>
      </p:sp>
      <p:sp>
        <p:nvSpPr>
          <p:cNvPr id="15" name="Shape 13"/>
          <p:cNvSpPr/>
          <p:nvPr/>
        </p:nvSpPr>
        <p:spPr>
          <a:xfrm>
            <a:off x="777240" y="3593592"/>
            <a:ext cx="402336" cy="402336"/>
          </a:xfrm>
          <a:prstGeom prst="ellipse">
            <a:avLst/>
          </a:prstGeom>
          <a:solidFill>
            <a:srgbClr val="1C6E7D"/>
          </a:solidFill>
          <a:ln/>
        </p:spPr>
      </p:sp>
      <p:sp>
        <p:nvSpPr>
          <p:cNvPr id="16" name="Text 14"/>
          <p:cNvSpPr/>
          <p:nvPr/>
        </p:nvSpPr>
        <p:spPr>
          <a:xfrm>
            <a:off x="777240" y="359359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325880" y="3419856"/>
            <a:ext cx="1417320" cy="749808"/>
          </a:xfrm>
          <a:prstGeom prst="rect">
            <a:avLst/>
          </a:prstGeom>
          <a:noFill/>
          <a:ln/>
        </p:spPr>
        <p:txBody>
          <a:bodyPr wrap="square" lIns="0" tIns="0" rIns="0" bIns="0" rtlCol="0" anchor="ctr"/>
          <a:lstStyle/>
          <a:p>
            <a:pPr marL="0" indent="0">
              <a:buNone/>
            </a:pPr>
            <a:r>
              <a:rPr lang="en-US" sz="1500" b="1" dirty="0">
                <a:solidFill>
                  <a:srgbClr val="0E2233"/>
                </a:solidFill>
                <a:latin typeface="Calibri" pitchFamily="34" charset="0"/>
                <a:ea typeface="Calibri" pitchFamily="34" charset="-122"/>
                <a:cs typeface="Calibri" pitchFamily="34" charset="-120"/>
              </a:rPr>
              <a:t>Tarea</a:t>
            </a:r>
            <a:endParaRPr lang="en-US" sz="1500" dirty="0"/>
          </a:p>
        </p:txBody>
      </p:sp>
      <p:sp>
        <p:nvSpPr>
          <p:cNvPr id="18" name="Text 16"/>
          <p:cNvSpPr/>
          <p:nvPr/>
        </p:nvSpPr>
        <p:spPr>
          <a:xfrm>
            <a:off x="2697480" y="3419856"/>
            <a:ext cx="4663440" cy="749808"/>
          </a:xfrm>
          <a:prstGeom prst="rect">
            <a:avLst/>
          </a:prstGeom>
          <a:noFill/>
          <a:ln/>
        </p:spPr>
        <p:txBody>
          <a:bodyPr wrap="square" lIns="0" tIns="0" rIns="0" bIns="0" rtlCol="0" anchor="ctr"/>
          <a:lstStyle/>
          <a:p>
            <a:pPr marL="0" indent="0">
              <a:lnSpc>
                <a:spcPts val="1700"/>
              </a:lnSpc>
              <a:buNone/>
            </a:pPr>
            <a:r>
              <a:rPr lang="en-US" sz="1250" dirty="0">
                <a:solidFill>
                  <a:srgbClr val="5A6B78"/>
                </a:solidFill>
                <a:latin typeface="Calibri" pitchFamily="34" charset="0"/>
                <a:ea typeface="Calibri" pitchFamily="34" charset="-122"/>
                <a:cs typeface="Calibri" pitchFamily="34" charset="-120"/>
              </a:rPr>
              <a:t>Entregable esperado, extensión, estructura, formato de salida.</a:t>
            </a:r>
            <a:endParaRPr lang="en-US" sz="1250" dirty="0"/>
          </a:p>
        </p:txBody>
      </p:sp>
      <p:sp>
        <p:nvSpPr>
          <p:cNvPr id="19" name="Shape 17"/>
          <p:cNvSpPr/>
          <p:nvPr/>
        </p:nvSpPr>
        <p:spPr>
          <a:xfrm>
            <a:off x="548640" y="4261104"/>
            <a:ext cx="6949440" cy="749808"/>
          </a:xfrm>
          <a:prstGeom prst="roundRect">
            <a:avLst>
              <a:gd name="adj" fmla="val 10976"/>
            </a:avLst>
          </a:prstGeom>
          <a:solidFill>
            <a:srgbClr val="FFFFFF"/>
          </a:solidFill>
          <a:ln w="12700">
            <a:solidFill>
              <a:srgbClr val="FFFFFF"/>
            </a:solidFill>
            <a:prstDash val="solid"/>
          </a:ln>
        </p:spPr>
      </p:sp>
      <p:sp>
        <p:nvSpPr>
          <p:cNvPr id="20" name="Shape 18"/>
          <p:cNvSpPr/>
          <p:nvPr/>
        </p:nvSpPr>
        <p:spPr>
          <a:xfrm>
            <a:off x="777240" y="4434840"/>
            <a:ext cx="402336" cy="402336"/>
          </a:xfrm>
          <a:prstGeom prst="ellipse">
            <a:avLst/>
          </a:prstGeom>
          <a:solidFill>
            <a:srgbClr val="1C6E7D"/>
          </a:solidFill>
          <a:ln/>
        </p:spPr>
      </p:sp>
      <p:sp>
        <p:nvSpPr>
          <p:cNvPr id="21" name="Text 19"/>
          <p:cNvSpPr/>
          <p:nvPr/>
        </p:nvSpPr>
        <p:spPr>
          <a:xfrm>
            <a:off x="777240" y="443484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325880" y="4261104"/>
            <a:ext cx="1417320" cy="749808"/>
          </a:xfrm>
          <a:prstGeom prst="rect">
            <a:avLst/>
          </a:prstGeom>
          <a:noFill/>
          <a:ln/>
        </p:spPr>
        <p:txBody>
          <a:bodyPr wrap="square" lIns="0" tIns="0" rIns="0" bIns="0" rtlCol="0" anchor="ctr"/>
          <a:lstStyle/>
          <a:p>
            <a:pPr marL="0" indent="0">
              <a:buNone/>
            </a:pPr>
            <a:r>
              <a:rPr lang="en-US" sz="1500" b="1" dirty="0">
                <a:solidFill>
                  <a:srgbClr val="0E2233"/>
                </a:solidFill>
                <a:latin typeface="Calibri" pitchFamily="34" charset="0"/>
                <a:ea typeface="Calibri" pitchFamily="34" charset="-122"/>
                <a:cs typeface="Calibri" pitchFamily="34" charset="-120"/>
              </a:rPr>
              <a:t>Restricciones</a:t>
            </a:r>
            <a:endParaRPr lang="en-US" sz="1500" dirty="0"/>
          </a:p>
        </p:txBody>
      </p:sp>
      <p:sp>
        <p:nvSpPr>
          <p:cNvPr id="23" name="Text 21"/>
          <p:cNvSpPr/>
          <p:nvPr/>
        </p:nvSpPr>
        <p:spPr>
          <a:xfrm>
            <a:off x="2697480" y="4261104"/>
            <a:ext cx="4663440" cy="749808"/>
          </a:xfrm>
          <a:prstGeom prst="rect">
            <a:avLst/>
          </a:prstGeom>
          <a:noFill/>
          <a:ln/>
        </p:spPr>
        <p:txBody>
          <a:bodyPr wrap="square" lIns="0" tIns="0" rIns="0" bIns="0" rtlCol="0" anchor="ctr"/>
          <a:lstStyle/>
          <a:p>
            <a:pPr marL="0" indent="0">
              <a:lnSpc>
                <a:spcPts val="1700"/>
              </a:lnSpc>
              <a:buNone/>
            </a:pPr>
            <a:r>
              <a:rPr lang="en-US" sz="1250" dirty="0">
                <a:solidFill>
                  <a:srgbClr val="5A6B78"/>
                </a:solidFill>
                <a:latin typeface="Calibri" pitchFamily="34" charset="0"/>
                <a:ea typeface="Calibri" pitchFamily="34" charset="-122"/>
                <a:cs typeface="Calibri" pitchFamily="34" charset="-120"/>
              </a:rPr>
              <a:t>Tono, idioma, fuentes a privilegiar, elementos a incluir o excluir.</a:t>
            </a:r>
            <a:endParaRPr lang="en-US" sz="1250" dirty="0"/>
          </a:p>
        </p:txBody>
      </p:sp>
      <p:sp>
        <p:nvSpPr>
          <p:cNvPr id="24" name="Shape 22"/>
          <p:cNvSpPr/>
          <p:nvPr/>
        </p:nvSpPr>
        <p:spPr>
          <a:xfrm>
            <a:off x="548640" y="5102352"/>
            <a:ext cx="6949440" cy="749808"/>
          </a:xfrm>
          <a:prstGeom prst="roundRect">
            <a:avLst>
              <a:gd name="adj" fmla="val 10976"/>
            </a:avLst>
          </a:prstGeom>
          <a:solidFill>
            <a:srgbClr val="F1F5F7"/>
          </a:solidFill>
          <a:ln w="12700">
            <a:solidFill>
              <a:srgbClr val="F1F5F7"/>
            </a:solidFill>
            <a:prstDash val="solid"/>
          </a:ln>
        </p:spPr>
      </p:sp>
      <p:sp>
        <p:nvSpPr>
          <p:cNvPr id="25" name="Shape 23"/>
          <p:cNvSpPr/>
          <p:nvPr/>
        </p:nvSpPr>
        <p:spPr>
          <a:xfrm>
            <a:off x="777240" y="5276088"/>
            <a:ext cx="402336" cy="402336"/>
          </a:xfrm>
          <a:prstGeom prst="ellipse">
            <a:avLst/>
          </a:prstGeom>
          <a:solidFill>
            <a:srgbClr val="1C6E7D"/>
          </a:solidFill>
          <a:ln/>
        </p:spPr>
      </p:sp>
      <p:sp>
        <p:nvSpPr>
          <p:cNvPr id="26" name="Text 24"/>
          <p:cNvSpPr/>
          <p:nvPr/>
        </p:nvSpPr>
        <p:spPr>
          <a:xfrm>
            <a:off x="777240" y="527608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1325880" y="5102352"/>
            <a:ext cx="1417320" cy="749808"/>
          </a:xfrm>
          <a:prstGeom prst="rect">
            <a:avLst/>
          </a:prstGeom>
          <a:noFill/>
          <a:ln/>
        </p:spPr>
        <p:txBody>
          <a:bodyPr wrap="square" lIns="0" tIns="0" rIns="0" bIns="0" rtlCol="0" anchor="ctr"/>
          <a:lstStyle/>
          <a:p>
            <a:pPr marL="0" indent="0">
              <a:buNone/>
            </a:pPr>
            <a:r>
              <a:rPr lang="en-US" sz="1500" b="1" dirty="0">
                <a:solidFill>
                  <a:srgbClr val="0E2233"/>
                </a:solidFill>
                <a:latin typeface="Calibri" pitchFamily="34" charset="0"/>
                <a:ea typeface="Calibri" pitchFamily="34" charset="-122"/>
                <a:cs typeface="Calibri" pitchFamily="34" charset="-120"/>
              </a:rPr>
              <a:t>Ejemplos</a:t>
            </a:r>
            <a:endParaRPr lang="en-US" sz="1500" dirty="0"/>
          </a:p>
        </p:txBody>
      </p:sp>
      <p:sp>
        <p:nvSpPr>
          <p:cNvPr id="28" name="Text 26"/>
          <p:cNvSpPr/>
          <p:nvPr/>
        </p:nvSpPr>
        <p:spPr>
          <a:xfrm>
            <a:off x="2697480" y="5102352"/>
            <a:ext cx="4663440" cy="749808"/>
          </a:xfrm>
          <a:prstGeom prst="rect">
            <a:avLst/>
          </a:prstGeom>
          <a:noFill/>
          <a:ln/>
        </p:spPr>
        <p:txBody>
          <a:bodyPr wrap="square" lIns="0" tIns="0" rIns="0" bIns="0" rtlCol="0" anchor="ctr"/>
          <a:lstStyle/>
          <a:p>
            <a:pPr marL="0" indent="0">
              <a:lnSpc>
                <a:spcPts val="1700"/>
              </a:lnSpc>
              <a:buNone/>
            </a:pPr>
            <a:r>
              <a:rPr lang="en-US" sz="1250" dirty="0">
                <a:solidFill>
                  <a:srgbClr val="5A6B78"/>
                </a:solidFill>
                <a:latin typeface="Calibri" pitchFamily="34" charset="0"/>
                <a:ea typeface="Calibri" pitchFamily="34" charset="-122"/>
                <a:cs typeface="Calibri" pitchFamily="34" charset="-120"/>
              </a:rPr>
              <a:t>Un extracto del resultado esperado vale más que un párrafo de instrucciones.</a:t>
            </a:r>
            <a:endParaRPr lang="en-US" sz="1250" dirty="0"/>
          </a:p>
        </p:txBody>
      </p:sp>
      <p:sp>
        <p:nvSpPr>
          <p:cNvPr id="29" name="Shape 27"/>
          <p:cNvSpPr/>
          <p:nvPr/>
        </p:nvSpPr>
        <p:spPr>
          <a:xfrm>
            <a:off x="7772400" y="1737360"/>
            <a:ext cx="3867912" cy="4041648"/>
          </a:xfrm>
          <a:prstGeom prst="roundRect">
            <a:avLst>
              <a:gd name="adj" fmla="val 2128"/>
            </a:avLst>
          </a:prstGeom>
          <a:solidFill>
            <a:srgbClr val="0E2233"/>
          </a:solidFill>
          <a:ln w="12700">
            <a:solidFill>
              <a:srgbClr val="0E2233"/>
            </a:solidFill>
            <a:prstDash val="solid"/>
          </a:ln>
        </p:spPr>
      </p:sp>
      <p:sp>
        <p:nvSpPr>
          <p:cNvPr id="30" name="Text 28"/>
          <p:cNvSpPr/>
          <p:nvPr/>
        </p:nvSpPr>
        <p:spPr>
          <a:xfrm>
            <a:off x="8138160" y="2011680"/>
            <a:ext cx="3154680" cy="685800"/>
          </a:xfrm>
          <a:prstGeom prst="rect">
            <a:avLst/>
          </a:prstGeom>
          <a:noFill/>
          <a:ln/>
        </p:spPr>
        <p:txBody>
          <a:bodyPr wrap="square" lIns="0" tIns="0" rIns="0" bIns="0" rtlCol="0" anchor="ctr"/>
          <a:lstStyle/>
          <a:p>
            <a:pPr marL="0" indent="0">
              <a:lnSpc>
                <a:spcPts val="2300"/>
              </a:lnSpc>
              <a:buNone/>
            </a:pPr>
            <a:r>
              <a:rPr lang="en-US" sz="1700" b="1" dirty="0">
                <a:solidFill>
                  <a:srgbClr val="E29524"/>
                </a:solidFill>
                <a:latin typeface="Calibri" pitchFamily="34" charset="0"/>
                <a:ea typeface="Calibri" pitchFamily="34" charset="-122"/>
                <a:cs typeface="Calibri" pitchFamily="34" charset="-120"/>
              </a:rPr>
              <a:t>¿Por qué una competencia</a:t>
            </a:r>
            <a:endParaRPr lang="en-US" sz="1700" dirty="0"/>
          </a:p>
          <a:p>
            <a:pPr marL="0" indent="0">
              <a:lnSpc>
                <a:spcPts val="2300"/>
              </a:lnSpc>
              <a:buNone/>
            </a:pPr>
            <a:r>
              <a:rPr lang="en-US" sz="1700" b="1" dirty="0">
                <a:solidFill>
                  <a:srgbClr val="E29524"/>
                </a:solidFill>
                <a:latin typeface="Calibri" pitchFamily="34" charset="0"/>
                <a:ea typeface="Calibri" pitchFamily="34" charset="-122"/>
                <a:cs typeface="Calibri" pitchFamily="34" charset="-120"/>
              </a:rPr>
              <a:t>y no un truco?</a:t>
            </a:r>
            <a:endParaRPr lang="en-US" sz="1700" dirty="0"/>
          </a:p>
        </p:txBody>
      </p:sp>
      <p:sp>
        <p:nvSpPr>
          <p:cNvPr id="31" name="Text 29"/>
          <p:cNvSpPr/>
          <p:nvPr/>
        </p:nvSpPr>
        <p:spPr>
          <a:xfrm>
            <a:off x="8138160" y="2834640"/>
            <a:ext cx="3154680" cy="274320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Se transmite: la estructura es explícita y reproducible.</a:t>
            </a:r>
            <a:endParaRPr lang="en-US" sz="1300" dirty="0"/>
          </a:p>
          <a:p>
            <a:pPr marL="342900" indent="-342900">
              <a:lnSpc>
                <a:spcPts val="1900"/>
              </a:lnSpc>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Se documenta: un prompt eficaz se conserva y se comparte.</a:t>
            </a:r>
            <a:endParaRPr lang="en-US" sz="1300" dirty="0"/>
          </a:p>
          <a:p>
            <a:pPr marL="342900" indent="-342900">
              <a:lnSpc>
                <a:spcPts val="1900"/>
              </a:lnSpc>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Se corrige: se puede identificar qué faltó en la consulta.</a:t>
            </a:r>
            <a:endParaRPr lang="en-US" sz="1300" dirty="0"/>
          </a:p>
          <a:p>
            <a:pPr marL="342900" indent="-342900">
              <a:lnSpc>
                <a:spcPts val="1900"/>
              </a:lnSpc>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Se evalúa: la calidad del proceso se convierte en un criterio calificado.</a:t>
            </a:r>
            <a:endParaRPr lang="en-US" sz="1300" dirty="0"/>
          </a:p>
        </p:txBody>
      </p:sp>
      <p:sp>
        <p:nvSpPr>
          <p:cNvPr id="32" name="Text 30"/>
          <p:cNvSpPr/>
          <p:nvPr/>
        </p:nvSpPr>
        <p:spPr>
          <a:xfrm>
            <a:off x="548640" y="6355080"/>
            <a:ext cx="7315200" cy="274320"/>
          </a:xfrm>
          <a:prstGeom prst="rect">
            <a:avLst/>
          </a:prstGeom>
          <a:noFill/>
          <a:ln/>
        </p:spPr>
        <p:txBody>
          <a:bodyPr wrap="square" lIns="0" tIns="0" rIns="0" bIns="0" rtlCol="0" anchor="ctr"/>
          <a:lstStyle/>
          <a:p>
            <a:pPr marL="0" indent="0">
              <a:buNone/>
            </a:pPr>
            <a:r>
              <a:rPr lang="en-US" sz="950" dirty="0">
                <a:solidFill>
                  <a:srgbClr val="5A6B78"/>
                </a:solidFill>
                <a:latin typeface="Calibri" pitchFamily="34" charset="0"/>
                <a:ea typeface="Calibri" pitchFamily="34" charset="-122"/>
                <a:cs typeface="Calibri" pitchFamily="34" charset="-120"/>
              </a:rPr>
              <a:t>Éric Robitaille, Ph. D. — CISSS des Laurentides / ESPUM</a:t>
            </a:r>
            <a:endParaRPr lang="en-US" sz="950" dirty="0"/>
          </a:p>
        </p:txBody>
      </p:sp>
      <p:sp>
        <p:nvSpPr>
          <p:cNvPr id="33" name="Text 31"/>
          <p:cNvSpPr/>
          <p:nvPr/>
        </p:nvSpPr>
        <p:spPr>
          <a:xfrm>
            <a:off x="11155680" y="6355080"/>
            <a:ext cx="502920" cy="274320"/>
          </a:xfrm>
          <a:prstGeom prst="rect">
            <a:avLst/>
          </a:prstGeom>
          <a:noFill/>
          <a:ln/>
        </p:spPr>
        <p:txBody>
          <a:bodyPr wrap="square" lIns="0" tIns="0" rIns="0" bIns="0" rtlCol="0" anchor="ctr"/>
          <a:lstStyle/>
          <a:p>
            <a:pPr marL="0" indent="0" algn="r">
              <a:buNone/>
            </a:pPr>
            <a:r>
              <a:rPr lang="en-US" sz="950" dirty="0">
                <a:solidFill>
                  <a:srgbClr val="5A6B78"/>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lIns="0" tIns="0" rIns="0" bIns="0" rtlCol="0" anchor="ctr"/>
          <a:lstStyle/>
          <a:p>
            <a:pPr marL="0" indent="0">
              <a:buNone/>
            </a:pPr>
            <a:r>
              <a:rPr lang="en-US" sz="1100" b="1" kern="0" spc="200" dirty="0">
                <a:solidFill>
                  <a:srgbClr val="1C6E7D"/>
                </a:solidFill>
                <a:latin typeface="Calibri" pitchFamily="34" charset="0"/>
                <a:ea typeface="Calibri" pitchFamily="34" charset="-122"/>
                <a:cs typeface="Calibri" pitchFamily="34" charset="-120"/>
              </a:rPr>
              <a:t>EJE 1 · APLICACIÓN</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400" b="1" dirty="0">
                <a:solidFill>
                  <a:srgbClr val="0E2233"/>
                </a:solidFill>
                <a:latin typeface="Cambria" pitchFamily="34" charset="0"/>
                <a:ea typeface="Cambria" pitchFamily="34" charset="-122"/>
                <a:cs typeface="Cambria" pitchFamily="34" charset="-120"/>
              </a:rPr>
              <a:t>Un ejemplo trabajado en clase</a:t>
            </a:r>
            <a:endParaRPr lang="en-US" sz="3400" dirty="0"/>
          </a:p>
        </p:txBody>
      </p:sp>
      <p:sp>
        <p:nvSpPr>
          <p:cNvPr id="4" name="Shape 2"/>
          <p:cNvSpPr/>
          <p:nvPr/>
        </p:nvSpPr>
        <p:spPr>
          <a:xfrm>
            <a:off x="548640" y="1737360"/>
            <a:ext cx="6949440" cy="4160520"/>
          </a:xfrm>
          <a:prstGeom prst="roundRect">
            <a:avLst>
              <a:gd name="adj" fmla="val 1978"/>
            </a:avLst>
          </a:prstGeom>
          <a:solidFill>
            <a:srgbClr val="0E2233"/>
          </a:solidFill>
          <a:ln w="12700">
            <a:solidFill>
              <a:srgbClr val="0E2233"/>
            </a:solidFill>
            <a:prstDash val="solid"/>
          </a:ln>
        </p:spPr>
      </p:sp>
      <p:sp>
        <p:nvSpPr>
          <p:cNvPr id="5" name="Text 3"/>
          <p:cNvSpPr/>
          <p:nvPr/>
        </p:nvSpPr>
        <p:spPr>
          <a:xfrm>
            <a:off x="914400" y="1920240"/>
            <a:ext cx="2743200" cy="274320"/>
          </a:xfrm>
          <a:prstGeom prst="rect">
            <a:avLst/>
          </a:prstGeom>
          <a:noFill/>
          <a:ln/>
        </p:spPr>
        <p:txBody>
          <a:bodyPr wrap="square" lIns="0" tIns="0" rIns="0" bIns="0" rtlCol="0" anchor="ctr"/>
          <a:lstStyle/>
          <a:p>
            <a:pPr marL="0" indent="0">
              <a:buNone/>
            </a:pPr>
            <a:r>
              <a:rPr lang="en-US" sz="1050" b="1" kern="0" spc="200" dirty="0">
                <a:solidFill>
                  <a:srgbClr val="E29524"/>
                </a:solidFill>
                <a:latin typeface="Calibri" pitchFamily="34" charset="0"/>
                <a:ea typeface="Calibri" pitchFamily="34" charset="-122"/>
                <a:cs typeface="Calibri" pitchFamily="34" charset="-120"/>
              </a:rPr>
              <a:t>PROMPT</a:t>
            </a:r>
            <a:endParaRPr lang="en-US" sz="1050" dirty="0"/>
          </a:p>
        </p:txBody>
      </p:sp>
      <p:sp>
        <p:nvSpPr>
          <p:cNvPr id="6" name="Text 4"/>
          <p:cNvSpPr/>
          <p:nvPr/>
        </p:nvSpPr>
        <p:spPr>
          <a:xfrm>
            <a:off x="914400" y="2286000"/>
            <a:ext cx="6263640" cy="3383280"/>
          </a:xfrm>
          <a:prstGeom prst="rect">
            <a:avLst/>
          </a:prstGeom>
          <a:noFill/>
          <a:ln/>
        </p:spPr>
        <p:txBody>
          <a:bodyPr wrap="square" lIns="0" tIns="0" rIns="0" bIns="0" rtlCol="0" anchor="ctr"/>
          <a:lstStyle/>
          <a:p>
            <a:pPr marL="0" indent="0">
              <a:lnSpc>
                <a:spcPts val="1800"/>
              </a:lnSpc>
              <a:buNone/>
            </a:pPr>
            <a:r>
              <a:rPr lang="en-US" sz="1250" dirty="0">
                <a:solidFill>
                  <a:srgbClr val="FFFFFF"/>
                </a:solidFill>
                <a:latin typeface="Courier New" pitchFamily="34" charset="0"/>
                <a:ea typeface="Courier New" pitchFamily="34" charset="-122"/>
                <a:cs typeface="Courier New" pitchFamily="34" charset="-120"/>
              </a:rPr>
              <a:t>Eres un profesional de salud pública especializado en ordenamiento territorial y en transferencia de conocimientos en Quebec.</a:t>
            </a:r>
            <a:endParaRPr lang="en-US" sz="1250" dirty="0"/>
          </a:p>
          <a:p>
            <a:pPr marL="0" indent="0">
              <a:lnSpc>
                <a:spcPts val="1800"/>
              </a:lnSpc>
              <a:buNone/>
            </a:pPr>
            <a:endParaRPr lang="en-US" sz="1250" dirty="0"/>
          </a:p>
          <a:p>
            <a:pPr marL="0" indent="0">
              <a:lnSpc>
                <a:spcPts val="1800"/>
              </a:lnSpc>
              <a:buNone/>
            </a:pPr>
            <a:r>
              <a:rPr lang="en-US" sz="1250" dirty="0">
                <a:solidFill>
                  <a:srgbClr val="FFFFFF"/>
                </a:solidFill>
                <a:latin typeface="Courier New" pitchFamily="34" charset="0"/>
                <a:ea typeface="Courier New" pitchFamily="34" charset="-122"/>
                <a:cs typeface="Courier New" pitchFamily="34" charset="-120"/>
              </a:rPr>
              <a:t>Contexto: preparo una nota de política dirigida a los cargos electos municipales de las Laurentides sobre los beneficios del transporte colectivo para la salud.</a:t>
            </a:r>
            <a:endParaRPr lang="en-US" sz="1250" dirty="0"/>
          </a:p>
          <a:p>
            <a:pPr marL="0" indent="0">
              <a:lnSpc>
                <a:spcPts val="1800"/>
              </a:lnSpc>
              <a:buNone/>
            </a:pPr>
            <a:endParaRPr lang="en-US" sz="1250" dirty="0"/>
          </a:p>
          <a:p>
            <a:pPr marL="0" indent="0">
              <a:lnSpc>
                <a:spcPts val="1800"/>
              </a:lnSpc>
              <a:buNone/>
            </a:pPr>
            <a:r>
              <a:rPr lang="en-US" sz="1250" dirty="0">
                <a:solidFill>
                  <a:srgbClr val="FFFFFF"/>
                </a:solidFill>
                <a:latin typeface="Courier New" pitchFamily="34" charset="0"/>
                <a:ea typeface="Courier New" pitchFamily="34" charset="-122"/>
                <a:cs typeface="Courier New" pitchFamily="34" charset="-120"/>
              </a:rPr>
              <a:t>Tarea: redacta una nota de 2 páginas como máximo, en francés, con un título atractivo, de 3 a 4 mensajes clave respaldados por datos probatorios, recomendaciones concretas para la acción municipal, y un tono accesible pero riguroso.</a:t>
            </a:r>
            <a:endParaRPr lang="en-US" sz="1250" dirty="0"/>
          </a:p>
          <a:p>
            <a:pPr marL="0" indent="0">
              <a:lnSpc>
                <a:spcPts val="1800"/>
              </a:lnSpc>
              <a:buNone/>
            </a:pPr>
            <a:endParaRPr lang="en-US" sz="1250" dirty="0"/>
          </a:p>
          <a:p>
            <a:pPr marL="0" indent="0">
              <a:lnSpc>
                <a:spcPts val="1800"/>
              </a:lnSpc>
              <a:buNone/>
            </a:pPr>
            <a:r>
              <a:rPr lang="en-US" sz="1250" dirty="0">
                <a:solidFill>
                  <a:srgbClr val="FFFFFF"/>
                </a:solidFill>
                <a:latin typeface="Courier New" pitchFamily="34" charset="0"/>
                <a:ea typeface="Courier New" pitchFamily="34" charset="-122"/>
                <a:cs typeface="Courier New" pitchFamily="34" charset="-120"/>
              </a:rPr>
              <a:t>Restricción: usa los datos más recientes disponibles en la web y cita tus fuentes.</a:t>
            </a:r>
            <a:endParaRPr lang="en-US" sz="1250" dirty="0"/>
          </a:p>
        </p:txBody>
      </p:sp>
      <p:sp>
        <p:nvSpPr>
          <p:cNvPr id="7" name="Text 5"/>
          <p:cNvSpPr/>
          <p:nvPr/>
        </p:nvSpPr>
        <p:spPr>
          <a:xfrm>
            <a:off x="7863840" y="1737360"/>
            <a:ext cx="3749040" cy="292608"/>
          </a:xfrm>
          <a:prstGeom prst="rect">
            <a:avLst/>
          </a:prstGeom>
          <a:noFill/>
          <a:ln/>
        </p:spPr>
        <p:txBody>
          <a:bodyPr wrap="square" lIns="0" tIns="0" rIns="0" bIns="0" rtlCol="0" anchor="ctr"/>
          <a:lstStyle/>
          <a:p>
            <a:pPr marL="0" indent="0">
              <a:buNone/>
            </a:pPr>
            <a:r>
              <a:rPr lang="en-US" sz="1400" b="1" dirty="0">
                <a:solidFill>
                  <a:srgbClr val="1C6E7D"/>
                </a:solidFill>
                <a:latin typeface="Calibri" pitchFamily="34" charset="0"/>
                <a:ea typeface="Calibri" pitchFamily="34" charset="-122"/>
                <a:cs typeface="Calibri" pitchFamily="34" charset="-120"/>
              </a:rPr>
              <a:t>Rol</a:t>
            </a:r>
            <a:endParaRPr lang="en-US" sz="1400" dirty="0"/>
          </a:p>
        </p:txBody>
      </p:sp>
      <p:sp>
        <p:nvSpPr>
          <p:cNvPr id="8" name="Text 6"/>
          <p:cNvSpPr/>
          <p:nvPr/>
        </p:nvSpPr>
        <p:spPr>
          <a:xfrm>
            <a:off x="7863840" y="2048256"/>
            <a:ext cx="3749040" cy="658368"/>
          </a:xfrm>
          <a:prstGeom prst="rect">
            <a:avLst/>
          </a:prstGeom>
          <a:noFill/>
          <a:ln/>
        </p:spPr>
        <p:txBody>
          <a:bodyPr wrap="square" lIns="0" tIns="0" rIns="0" bIns="0" rtlCol="0" anchor="ctr"/>
          <a:lstStyle/>
          <a:p>
            <a:pPr marL="0" indent="0">
              <a:lnSpc>
                <a:spcPts val="1800"/>
              </a:lnSpc>
              <a:buNone/>
            </a:pPr>
            <a:r>
              <a:rPr lang="en-US" sz="1250" dirty="0">
                <a:solidFill>
                  <a:srgbClr val="5A6B78"/>
                </a:solidFill>
                <a:latin typeface="Calibri" pitchFamily="34" charset="0"/>
                <a:ea typeface="Calibri" pitchFamily="34" charset="-122"/>
                <a:cs typeface="Calibri" pitchFamily="34" charset="-120"/>
              </a:rPr>
              <a:t>Ancla la respuesta en el registro profesional quebequense.</a:t>
            </a:r>
            <a:endParaRPr lang="en-US" sz="1250" dirty="0"/>
          </a:p>
        </p:txBody>
      </p:sp>
      <p:sp>
        <p:nvSpPr>
          <p:cNvPr id="9" name="Text 7"/>
          <p:cNvSpPr/>
          <p:nvPr/>
        </p:nvSpPr>
        <p:spPr>
          <a:xfrm>
            <a:off x="7863840" y="2807208"/>
            <a:ext cx="3749040" cy="292608"/>
          </a:xfrm>
          <a:prstGeom prst="rect">
            <a:avLst/>
          </a:prstGeom>
          <a:noFill/>
          <a:ln/>
        </p:spPr>
        <p:txBody>
          <a:bodyPr wrap="square" lIns="0" tIns="0" rIns="0" bIns="0" rtlCol="0" anchor="ctr"/>
          <a:lstStyle/>
          <a:p>
            <a:pPr marL="0" indent="0">
              <a:buNone/>
            </a:pPr>
            <a:r>
              <a:rPr lang="en-US" sz="1400" b="1" dirty="0">
                <a:solidFill>
                  <a:srgbClr val="1C6E7D"/>
                </a:solidFill>
                <a:latin typeface="Calibri" pitchFamily="34" charset="0"/>
                <a:ea typeface="Calibri" pitchFamily="34" charset="-122"/>
                <a:cs typeface="Calibri" pitchFamily="34" charset="-120"/>
              </a:rPr>
              <a:t>Contexto</a:t>
            </a:r>
            <a:endParaRPr lang="en-US" sz="1400" dirty="0"/>
          </a:p>
        </p:txBody>
      </p:sp>
      <p:sp>
        <p:nvSpPr>
          <p:cNvPr id="10" name="Text 8"/>
          <p:cNvSpPr/>
          <p:nvPr/>
        </p:nvSpPr>
        <p:spPr>
          <a:xfrm>
            <a:off x="7863840" y="3118104"/>
            <a:ext cx="3749040" cy="658368"/>
          </a:xfrm>
          <a:prstGeom prst="rect">
            <a:avLst/>
          </a:prstGeom>
          <a:noFill/>
          <a:ln/>
        </p:spPr>
        <p:txBody>
          <a:bodyPr wrap="square" lIns="0" tIns="0" rIns="0" bIns="0" rtlCol="0" anchor="ctr"/>
          <a:lstStyle/>
          <a:p>
            <a:pPr marL="0" indent="0">
              <a:lnSpc>
                <a:spcPts val="1800"/>
              </a:lnSpc>
              <a:buNone/>
            </a:pPr>
            <a:r>
              <a:rPr lang="en-US" sz="1250" dirty="0">
                <a:solidFill>
                  <a:srgbClr val="5A6B78"/>
                </a:solidFill>
                <a:latin typeface="Calibri" pitchFamily="34" charset="0"/>
                <a:ea typeface="Calibri" pitchFamily="34" charset="-122"/>
                <a:cs typeface="Calibri" pitchFamily="34" charset="-120"/>
              </a:rPr>
              <a:t>El público destinatario lo cambia todo: un cargo electo no es un par científico.</a:t>
            </a:r>
            <a:endParaRPr lang="en-US" sz="1250" dirty="0"/>
          </a:p>
        </p:txBody>
      </p:sp>
      <p:sp>
        <p:nvSpPr>
          <p:cNvPr id="11" name="Text 9"/>
          <p:cNvSpPr/>
          <p:nvPr/>
        </p:nvSpPr>
        <p:spPr>
          <a:xfrm>
            <a:off x="7863840" y="3877056"/>
            <a:ext cx="3749040" cy="292608"/>
          </a:xfrm>
          <a:prstGeom prst="rect">
            <a:avLst/>
          </a:prstGeom>
          <a:noFill/>
          <a:ln/>
        </p:spPr>
        <p:txBody>
          <a:bodyPr wrap="square" lIns="0" tIns="0" rIns="0" bIns="0" rtlCol="0" anchor="ctr"/>
          <a:lstStyle/>
          <a:p>
            <a:pPr marL="0" indent="0">
              <a:buNone/>
            </a:pPr>
            <a:r>
              <a:rPr lang="en-US" sz="1400" b="1" dirty="0">
                <a:solidFill>
                  <a:srgbClr val="1C6E7D"/>
                </a:solidFill>
                <a:latin typeface="Calibri" pitchFamily="34" charset="0"/>
                <a:ea typeface="Calibri" pitchFamily="34" charset="-122"/>
                <a:cs typeface="Calibri" pitchFamily="34" charset="-120"/>
              </a:rPr>
              <a:t>Tarea</a:t>
            </a:r>
            <a:endParaRPr lang="en-US" sz="1400" dirty="0"/>
          </a:p>
        </p:txBody>
      </p:sp>
      <p:sp>
        <p:nvSpPr>
          <p:cNvPr id="12" name="Text 10"/>
          <p:cNvSpPr/>
          <p:nvPr/>
        </p:nvSpPr>
        <p:spPr>
          <a:xfrm>
            <a:off x="7863840" y="4187952"/>
            <a:ext cx="3749040" cy="658368"/>
          </a:xfrm>
          <a:prstGeom prst="rect">
            <a:avLst/>
          </a:prstGeom>
          <a:noFill/>
          <a:ln/>
        </p:spPr>
        <p:txBody>
          <a:bodyPr wrap="square" lIns="0" tIns="0" rIns="0" bIns="0" rtlCol="0" anchor="ctr"/>
          <a:lstStyle/>
          <a:p>
            <a:pPr marL="0" indent="0">
              <a:lnSpc>
                <a:spcPts val="1800"/>
              </a:lnSpc>
              <a:buNone/>
            </a:pPr>
            <a:r>
              <a:rPr lang="en-US" sz="1250" dirty="0">
                <a:solidFill>
                  <a:srgbClr val="5A6B78"/>
                </a:solidFill>
                <a:latin typeface="Calibri" pitchFamily="34" charset="0"/>
                <a:ea typeface="Calibri" pitchFamily="34" charset="-122"/>
                <a:cs typeface="Calibri" pitchFamily="34" charset="-120"/>
              </a:rPr>
              <a:t>Formato, extensión y estructura precisados — sin adivinanzas.</a:t>
            </a:r>
            <a:endParaRPr lang="en-US" sz="1250" dirty="0"/>
          </a:p>
        </p:txBody>
      </p:sp>
      <p:sp>
        <p:nvSpPr>
          <p:cNvPr id="13" name="Text 11"/>
          <p:cNvSpPr/>
          <p:nvPr/>
        </p:nvSpPr>
        <p:spPr>
          <a:xfrm>
            <a:off x="7863840" y="4946904"/>
            <a:ext cx="3749040" cy="292608"/>
          </a:xfrm>
          <a:prstGeom prst="rect">
            <a:avLst/>
          </a:prstGeom>
          <a:noFill/>
          <a:ln/>
        </p:spPr>
        <p:txBody>
          <a:bodyPr wrap="square" lIns="0" tIns="0" rIns="0" bIns="0" rtlCol="0" anchor="ctr"/>
          <a:lstStyle/>
          <a:p>
            <a:pPr marL="0" indent="0">
              <a:buNone/>
            </a:pPr>
            <a:r>
              <a:rPr lang="en-US" sz="1400" b="1" dirty="0">
                <a:solidFill>
                  <a:srgbClr val="1C6E7D"/>
                </a:solidFill>
                <a:latin typeface="Calibri" pitchFamily="34" charset="0"/>
                <a:ea typeface="Calibri" pitchFamily="34" charset="-122"/>
                <a:cs typeface="Calibri" pitchFamily="34" charset="-120"/>
              </a:rPr>
              <a:t>Restricción</a:t>
            </a:r>
            <a:endParaRPr lang="en-US" sz="1400" dirty="0"/>
          </a:p>
        </p:txBody>
      </p:sp>
      <p:sp>
        <p:nvSpPr>
          <p:cNvPr id="14" name="Text 12"/>
          <p:cNvSpPr/>
          <p:nvPr/>
        </p:nvSpPr>
        <p:spPr>
          <a:xfrm>
            <a:off x="7863840" y="5257800"/>
            <a:ext cx="3749040" cy="658368"/>
          </a:xfrm>
          <a:prstGeom prst="rect">
            <a:avLst/>
          </a:prstGeom>
          <a:noFill/>
          <a:ln/>
        </p:spPr>
        <p:txBody>
          <a:bodyPr wrap="square" lIns="0" tIns="0" rIns="0" bIns="0" rtlCol="0" anchor="ctr"/>
          <a:lstStyle/>
          <a:p>
            <a:pPr marL="0" indent="0">
              <a:lnSpc>
                <a:spcPts val="1800"/>
              </a:lnSpc>
              <a:buNone/>
            </a:pPr>
            <a:r>
              <a:rPr lang="en-US" sz="1250" dirty="0">
                <a:solidFill>
                  <a:srgbClr val="5A6B78"/>
                </a:solidFill>
                <a:latin typeface="Calibri" pitchFamily="34" charset="0"/>
                <a:ea typeface="Calibri" pitchFamily="34" charset="-122"/>
                <a:cs typeface="Calibri" pitchFamily="34" charset="-120"/>
              </a:rPr>
              <a:t>Obliga a la búsqueda web y hace verificables las fuentes.</a:t>
            </a:r>
            <a:endParaRPr lang="en-US" sz="1250" dirty="0"/>
          </a:p>
        </p:txBody>
      </p:sp>
      <p:sp>
        <p:nvSpPr>
          <p:cNvPr id="15" name="Text 13"/>
          <p:cNvSpPr/>
          <p:nvPr/>
        </p:nvSpPr>
        <p:spPr>
          <a:xfrm>
            <a:off x="548640" y="6355080"/>
            <a:ext cx="7315200" cy="274320"/>
          </a:xfrm>
          <a:prstGeom prst="rect">
            <a:avLst/>
          </a:prstGeom>
          <a:noFill/>
          <a:ln/>
        </p:spPr>
        <p:txBody>
          <a:bodyPr wrap="square" lIns="0" tIns="0" rIns="0" bIns="0" rtlCol="0" anchor="ctr"/>
          <a:lstStyle/>
          <a:p>
            <a:pPr marL="0" indent="0">
              <a:buNone/>
            </a:pPr>
            <a:r>
              <a:rPr lang="en-US" sz="950" dirty="0">
                <a:solidFill>
                  <a:srgbClr val="5A6B78"/>
                </a:solidFill>
                <a:latin typeface="Calibri" pitchFamily="34" charset="0"/>
                <a:ea typeface="Calibri" pitchFamily="34" charset="-122"/>
                <a:cs typeface="Calibri" pitchFamily="34" charset="-120"/>
              </a:rPr>
              <a:t>Éric Robitaille, Ph. D. — CISSS des Laurentides / ESPUM</a:t>
            </a:r>
            <a:endParaRPr lang="en-US" sz="950" dirty="0"/>
          </a:p>
        </p:txBody>
      </p:sp>
      <p:sp>
        <p:nvSpPr>
          <p:cNvPr id="16" name="Text 14"/>
          <p:cNvSpPr/>
          <p:nvPr/>
        </p:nvSpPr>
        <p:spPr>
          <a:xfrm>
            <a:off x="11155680" y="6355080"/>
            <a:ext cx="502920" cy="274320"/>
          </a:xfrm>
          <a:prstGeom prst="rect">
            <a:avLst/>
          </a:prstGeom>
          <a:noFill/>
          <a:ln/>
        </p:spPr>
        <p:txBody>
          <a:bodyPr wrap="square" lIns="0" tIns="0" rIns="0" bIns="0" rtlCol="0" anchor="ctr"/>
          <a:lstStyle/>
          <a:p>
            <a:pPr marL="0" indent="0" algn="r">
              <a:buNone/>
            </a:pPr>
            <a:r>
              <a:rPr lang="en-US" sz="950" dirty="0">
                <a:solidFill>
                  <a:srgbClr val="5A6B78"/>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lIns="0" tIns="0" rIns="0" bIns="0" rtlCol="0" anchor="ctr"/>
          <a:lstStyle/>
          <a:p>
            <a:pPr marL="0" indent="0">
              <a:buNone/>
            </a:pPr>
            <a:r>
              <a:rPr lang="en-US" sz="1100" b="1" kern="0" spc="200" dirty="0">
                <a:solidFill>
                  <a:srgbClr val="1C6E7D"/>
                </a:solidFill>
                <a:latin typeface="Calibri" pitchFamily="34" charset="0"/>
                <a:ea typeface="Calibri" pitchFamily="34" charset="-122"/>
                <a:cs typeface="Calibri" pitchFamily="34" charset="-120"/>
              </a:rPr>
              <a:t>EJE 2 · SALUD PÚBLICA</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400" b="1" dirty="0">
                <a:solidFill>
                  <a:srgbClr val="0E2233"/>
                </a:solidFill>
                <a:latin typeface="Cambria" pitchFamily="34" charset="0"/>
                <a:ea typeface="Cambria" pitchFamily="34" charset="-122"/>
                <a:cs typeface="Cambria" pitchFamily="34" charset="-120"/>
              </a:rPr>
              <a:t>Cuatro casos de uso anclados en la práctica</a:t>
            </a:r>
            <a:endParaRPr lang="en-US" sz="3400" dirty="0"/>
          </a:p>
        </p:txBody>
      </p:sp>
      <p:sp>
        <p:nvSpPr>
          <p:cNvPr id="4" name="Shape 2"/>
          <p:cNvSpPr/>
          <p:nvPr/>
        </p:nvSpPr>
        <p:spPr>
          <a:xfrm>
            <a:off x="548640" y="1737360"/>
            <a:ext cx="5394960" cy="1938528"/>
          </a:xfrm>
          <a:prstGeom prst="roundRect">
            <a:avLst>
              <a:gd name="adj" fmla="val 4245"/>
            </a:avLst>
          </a:prstGeom>
          <a:solidFill>
            <a:srgbClr val="F1F5F7"/>
          </a:solidFill>
          <a:ln w="12700">
            <a:solidFill>
              <a:srgbClr val="F1F5F7"/>
            </a:solidFill>
            <a:prstDash val="solid"/>
          </a:ln>
        </p:spPr>
      </p:sp>
      <p:sp>
        <p:nvSpPr>
          <p:cNvPr id="5" name="Shape 3"/>
          <p:cNvSpPr/>
          <p:nvPr/>
        </p:nvSpPr>
        <p:spPr>
          <a:xfrm>
            <a:off x="896112" y="2057400"/>
            <a:ext cx="420624" cy="420624"/>
          </a:xfrm>
          <a:prstGeom prst="ellipse">
            <a:avLst/>
          </a:prstGeom>
          <a:solidFill>
            <a:srgbClr val="1C6E7D"/>
          </a:solidFill>
          <a:ln/>
        </p:spPr>
      </p:sp>
      <p:sp>
        <p:nvSpPr>
          <p:cNvPr id="6" name="Text 4"/>
          <p:cNvSpPr/>
          <p:nvPr/>
        </p:nvSpPr>
        <p:spPr>
          <a:xfrm>
            <a:off x="896112" y="205740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63040" y="2011680"/>
            <a:ext cx="4206240" cy="502920"/>
          </a:xfrm>
          <a:prstGeom prst="rect">
            <a:avLst/>
          </a:prstGeom>
          <a:noFill/>
          <a:ln/>
        </p:spPr>
        <p:txBody>
          <a:bodyPr wrap="square" lIns="0" tIns="0" rIns="0" bIns="0" rtlCol="0" anchor="ctr"/>
          <a:lstStyle/>
          <a:p>
            <a:pPr marL="0" indent="0">
              <a:buNone/>
            </a:pPr>
            <a:r>
              <a:rPr lang="en-US" sz="1800" b="1" dirty="0">
                <a:solidFill>
                  <a:srgbClr val="0E2233"/>
                </a:solidFill>
                <a:latin typeface="Calibri" pitchFamily="34" charset="0"/>
                <a:ea typeface="Calibri" pitchFamily="34" charset="-122"/>
                <a:cs typeface="Calibri" pitchFamily="34" charset="-120"/>
              </a:rPr>
              <a:t>Síntesis de literatura</a:t>
            </a:r>
            <a:endParaRPr lang="en-US" sz="1800" dirty="0"/>
          </a:p>
        </p:txBody>
      </p:sp>
      <p:sp>
        <p:nvSpPr>
          <p:cNvPr id="8" name="Text 6"/>
          <p:cNvSpPr/>
          <p:nvPr/>
        </p:nvSpPr>
        <p:spPr>
          <a:xfrm>
            <a:off x="914400" y="2606040"/>
            <a:ext cx="4709160" cy="1005840"/>
          </a:xfrm>
          <a:prstGeom prst="rect">
            <a:avLst/>
          </a:prstGeom>
          <a:noFill/>
          <a:ln/>
        </p:spPr>
        <p:txBody>
          <a:bodyPr wrap="square" lIns="0" tIns="0" rIns="0" bIns="0" rtlCol="0" anchor="ctr"/>
          <a:lstStyle/>
          <a:p>
            <a:pPr marL="0" indent="0">
              <a:lnSpc>
                <a:spcPts val="2000"/>
              </a:lnSpc>
              <a:buNone/>
            </a:pPr>
            <a:r>
              <a:rPr lang="en-US" sz="1300" dirty="0">
                <a:solidFill>
                  <a:srgbClr val="5A6B78"/>
                </a:solidFill>
                <a:latin typeface="Calibri" pitchFamily="34" charset="0"/>
                <a:ea typeface="Calibri" pitchFamily="34" charset="-122"/>
                <a:cs typeface="Calibri" pitchFamily="34" charset="-120"/>
              </a:rPr>
              <a:t>Búsqueda web integrada, lectura de informes completos, extracción estructurada, investigación profunda con citas por verificar.</a:t>
            </a:r>
            <a:endParaRPr lang="en-US" sz="1300" dirty="0"/>
          </a:p>
        </p:txBody>
      </p:sp>
      <p:sp>
        <p:nvSpPr>
          <p:cNvPr id="9" name="Shape 7"/>
          <p:cNvSpPr/>
          <p:nvPr/>
        </p:nvSpPr>
        <p:spPr>
          <a:xfrm>
            <a:off x="6245352" y="1737360"/>
            <a:ext cx="5394960" cy="1938528"/>
          </a:xfrm>
          <a:prstGeom prst="roundRect">
            <a:avLst>
              <a:gd name="adj" fmla="val 4245"/>
            </a:avLst>
          </a:prstGeom>
          <a:solidFill>
            <a:srgbClr val="F1F5F7"/>
          </a:solidFill>
          <a:ln w="12700">
            <a:solidFill>
              <a:srgbClr val="F1F5F7"/>
            </a:solidFill>
            <a:prstDash val="solid"/>
          </a:ln>
        </p:spPr>
      </p:sp>
      <p:sp>
        <p:nvSpPr>
          <p:cNvPr id="10" name="Shape 8"/>
          <p:cNvSpPr/>
          <p:nvPr/>
        </p:nvSpPr>
        <p:spPr>
          <a:xfrm>
            <a:off x="6592824" y="2057400"/>
            <a:ext cx="420624" cy="420624"/>
          </a:xfrm>
          <a:prstGeom prst="ellipse">
            <a:avLst/>
          </a:prstGeom>
          <a:solidFill>
            <a:srgbClr val="1C6E7D"/>
          </a:solidFill>
          <a:ln/>
        </p:spPr>
      </p:sp>
      <p:sp>
        <p:nvSpPr>
          <p:cNvPr id="11" name="Text 9"/>
          <p:cNvSpPr/>
          <p:nvPr/>
        </p:nvSpPr>
        <p:spPr>
          <a:xfrm>
            <a:off x="6592824" y="205740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7159752" y="2011680"/>
            <a:ext cx="4206240" cy="502920"/>
          </a:xfrm>
          <a:prstGeom prst="rect">
            <a:avLst/>
          </a:prstGeom>
          <a:noFill/>
          <a:ln/>
        </p:spPr>
        <p:txBody>
          <a:bodyPr wrap="square" lIns="0" tIns="0" rIns="0" bIns="0" rtlCol="0" anchor="ctr"/>
          <a:lstStyle/>
          <a:p>
            <a:pPr marL="0" indent="0">
              <a:buNone/>
            </a:pPr>
            <a:r>
              <a:rPr lang="en-US" sz="1800" b="1" dirty="0">
                <a:solidFill>
                  <a:srgbClr val="0E2233"/>
                </a:solidFill>
                <a:latin typeface="Calibri" pitchFamily="34" charset="0"/>
                <a:ea typeface="Calibri" pitchFamily="34" charset="-122"/>
                <a:cs typeface="Calibri" pitchFamily="34" charset="-120"/>
              </a:rPr>
              <a:t>Análisis de datos</a:t>
            </a:r>
            <a:endParaRPr lang="en-US" sz="1800" dirty="0"/>
          </a:p>
        </p:txBody>
      </p:sp>
      <p:sp>
        <p:nvSpPr>
          <p:cNvPr id="13" name="Text 11"/>
          <p:cNvSpPr/>
          <p:nvPr/>
        </p:nvSpPr>
        <p:spPr>
          <a:xfrm>
            <a:off x="6611112" y="2606040"/>
            <a:ext cx="4709160" cy="1005840"/>
          </a:xfrm>
          <a:prstGeom prst="rect">
            <a:avLst/>
          </a:prstGeom>
          <a:noFill/>
          <a:ln/>
        </p:spPr>
        <p:txBody>
          <a:bodyPr wrap="square" lIns="0" tIns="0" rIns="0" bIns="0" rtlCol="0" anchor="ctr"/>
          <a:lstStyle/>
          <a:p>
            <a:pPr marL="0" indent="0">
              <a:lnSpc>
                <a:spcPts val="2000"/>
              </a:lnSpc>
              <a:buNone/>
            </a:pPr>
            <a:r>
              <a:rPr lang="en-US" sz="1300" dirty="0">
                <a:solidFill>
                  <a:srgbClr val="5A6B78"/>
                </a:solidFill>
                <a:latin typeface="Calibri" pitchFamily="34" charset="0"/>
                <a:ea typeface="Calibri" pitchFamily="34" charset="-122"/>
                <a:cs typeface="Calibri" pitchFamily="34" charset="-120"/>
              </a:rPr>
              <a:t>Escritura y depuración de scripts Python (pandas, geopandas), tratamiento de archivos del censo, del INSPQ o del catastro.</a:t>
            </a:r>
            <a:endParaRPr lang="en-US" sz="1300" dirty="0"/>
          </a:p>
        </p:txBody>
      </p:sp>
      <p:sp>
        <p:nvSpPr>
          <p:cNvPr id="14" name="Shape 12"/>
          <p:cNvSpPr/>
          <p:nvPr/>
        </p:nvSpPr>
        <p:spPr>
          <a:xfrm>
            <a:off x="548640" y="3822192"/>
            <a:ext cx="5394960" cy="1938528"/>
          </a:xfrm>
          <a:prstGeom prst="roundRect">
            <a:avLst>
              <a:gd name="adj" fmla="val 4245"/>
            </a:avLst>
          </a:prstGeom>
          <a:solidFill>
            <a:srgbClr val="F1F5F7"/>
          </a:solidFill>
          <a:ln w="12700">
            <a:solidFill>
              <a:srgbClr val="F1F5F7"/>
            </a:solidFill>
            <a:prstDash val="solid"/>
          </a:ln>
        </p:spPr>
      </p:sp>
      <p:sp>
        <p:nvSpPr>
          <p:cNvPr id="15" name="Shape 13"/>
          <p:cNvSpPr/>
          <p:nvPr/>
        </p:nvSpPr>
        <p:spPr>
          <a:xfrm>
            <a:off x="896112" y="4142232"/>
            <a:ext cx="420624" cy="420624"/>
          </a:xfrm>
          <a:prstGeom prst="ellipse">
            <a:avLst/>
          </a:prstGeom>
          <a:solidFill>
            <a:srgbClr val="1C6E7D"/>
          </a:solidFill>
          <a:ln/>
        </p:spPr>
      </p:sp>
      <p:sp>
        <p:nvSpPr>
          <p:cNvPr id="16" name="Text 14"/>
          <p:cNvSpPr/>
          <p:nvPr/>
        </p:nvSpPr>
        <p:spPr>
          <a:xfrm>
            <a:off x="896112" y="4142232"/>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463040" y="4096512"/>
            <a:ext cx="4206240" cy="502920"/>
          </a:xfrm>
          <a:prstGeom prst="rect">
            <a:avLst/>
          </a:prstGeom>
          <a:noFill/>
          <a:ln/>
        </p:spPr>
        <p:txBody>
          <a:bodyPr wrap="square" lIns="0" tIns="0" rIns="0" bIns="0" rtlCol="0" anchor="ctr"/>
          <a:lstStyle/>
          <a:p>
            <a:pPr marL="0" indent="0">
              <a:buNone/>
            </a:pPr>
            <a:r>
              <a:rPr lang="en-US" sz="1800" b="1" dirty="0">
                <a:solidFill>
                  <a:srgbClr val="0E2233"/>
                </a:solidFill>
                <a:latin typeface="Calibri" pitchFamily="34" charset="0"/>
                <a:ea typeface="Calibri" pitchFamily="34" charset="-122"/>
                <a:cs typeface="Calibri" pitchFamily="34" charset="-120"/>
              </a:rPr>
              <a:t>Geomática</a:t>
            </a:r>
            <a:endParaRPr lang="en-US" sz="1800" dirty="0"/>
          </a:p>
        </p:txBody>
      </p:sp>
      <p:sp>
        <p:nvSpPr>
          <p:cNvPr id="18" name="Text 16"/>
          <p:cNvSpPr/>
          <p:nvPr/>
        </p:nvSpPr>
        <p:spPr>
          <a:xfrm>
            <a:off x="914400" y="4690872"/>
            <a:ext cx="4709160" cy="1005840"/>
          </a:xfrm>
          <a:prstGeom prst="rect">
            <a:avLst/>
          </a:prstGeom>
          <a:noFill/>
          <a:ln/>
        </p:spPr>
        <p:txBody>
          <a:bodyPr wrap="square" lIns="0" tIns="0" rIns="0" bIns="0" rtlCol="0" anchor="ctr"/>
          <a:lstStyle/>
          <a:p>
            <a:pPr marL="0" indent="0">
              <a:lnSpc>
                <a:spcPts val="2000"/>
              </a:lnSpc>
              <a:buNone/>
            </a:pPr>
            <a:r>
              <a:rPr lang="en-US" sz="1300" dirty="0">
                <a:solidFill>
                  <a:srgbClr val="5A6B78"/>
                </a:solidFill>
                <a:latin typeface="Calibri" pitchFamily="34" charset="0"/>
                <a:ea typeface="Calibri" pitchFamily="34" charset="-122"/>
                <a:cs typeface="Calibri" pitchFamily="34" charset="-120"/>
              </a:rPr>
              <a:t>Aplicaciones cartográficas Leaflet, flujos de Google Earth Engine, estadísticas zonales, GeoJSON y divisiones administrativas.</a:t>
            </a:r>
            <a:endParaRPr lang="en-US" sz="1300" dirty="0"/>
          </a:p>
        </p:txBody>
      </p:sp>
      <p:sp>
        <p:nvSpPr>
          <p:cNvPr id="19" name="Shape 17"/>
          <p:cNvSpPr/>
          <p:nvPr/>
        </p:nvSpPr>
        <p:spPr>
          <a:xfrm>
            <a:off x="6245352" y="3822192"/>
            <a:ext cx="5394960" cy="1938528"/>
          </a:xfrm>
          <a:prstGeom prst="roundRect">
            <a:avLst>
              <a:gd name="adj" fmla="val 4245"/>
            </a:avLst>
          </a:prstGeom>
          <a:solidFill>
            <a:srgbClr val="F1F5F7"/>
          </a:solidFill>
          <a:ln w="12700">
            <a:solidFill>
              <a:srgbClr val="F1F5F7"/>
            </a:solidFill>
            <a:prstDash val="solid"/>
          </a:ln>
        </p:spPr>
      </p:sp>
      <p:sp>
        <p:nvSpPr>
          <p:cNvPr id="20" name="Shape 18"/>
          <p:cNvSpPr/>
          <p:nvPr/>
        </p:nvSpPr>
        <p:spPr>
          <a:xfrm>
            <a:off x="6592824" y="4142232"/>
            <a:ext cx="420624" cy="420624"/>
          </a:xfrm>
          <a:prstGeom prst="ellipse">
            <a:avLst/>
          </a:prstGeom>
          <a:solidFill>
            <a:srgbClr val="1C6E7D"/>
          </a:solidFill>
          <a:ln/>
        </p:spPr>
      </p:sp>
      <p:sp>
        <p:nvSpPr>
          <p:cNvPr id="21" name="Text 19"/>
          <p:cNvSpPr/>
          <p:nvPr/>
        </p:nvSpPr>
        <p:spPr>
          <a:xfrm>
            <a:off x="6592824" y="4142232"/>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7159752" y="4096512"/>
            <a:ext cx="4206240" cy="502920"/>
          </a:xfrm>
          <a:prstGeom prst="rect">
            <a:avLst/>
          </a:prstGeom>
          <a:noFill/>
          <a:ln/>
        </p:spPr>
        <p:txBody>
          <a:bodyPr wrap="square" lIns="0" tIns="0" rIns="0" bIns="0" rtlCol="0" anchor="ctr"/>
          <a:lstStyle/>
          <a:p>
            <a:pPr marL="0" indent="0">
              <a:buNone/>
            </a:pPr>
            <a:r>
              <a:rPr lang="en-US" sz="1800" b="1" dirty="0">
                <a:solidFill>
                  <a:srgbClr val="0E2233"/>
                </a:solidFill>
                <a:latin typeface="Calibri" pitchFamily="34" charset="0"/>
                <a:ea typeface="Calibri" pitchFamily="34" charset="-122"/>
                <a:cs typeface="Calibri" pitchFamily="34" charset="-120"/>
              </a:rPr>
              <a:t>Redacción adaptada</a:t>
            </a:r>
            <a:endParaRPr lang="en-US" sz="1800" dirty="0"/>
          </a:p>
        </p:txBody>
      </p:sp>
      <p:sp>
        <p:nvSpPr>
          <p:cNvPr id="23" name="Text 21"/>
          <p:cNvSpPr/>
          <p:nvPr/>
        </p:nvSpPr>
        <p:spPr>
          <a:xfrm>
            <a:off x="6611112" y="4690872"/>
            <a:ext cx="4709160" cy="1005840"/>
          </a:xfrm>
          <a:prstGeom prst="rect">
            <a:avLst/>
          </a:prstGeom>
          <a:noFill/>
          <a:ln/>
        </p:spPr>
        <p:txBody>
          <a:bodyPr wrap="square" lIns="0" tIns="0" rIns="0" bIns="0" rtlCol="0" anchor="ctr"/>
          <a:lstStyle/>
          <a:p>
            <a:pPr marL="0" indent="0">
              <a:lnSpc>
                <a:spcPts val="2000"/>
              </a:lnSpc>
              <a:buNone/>
            </a:pPr>
            <a:r>
              <a:rPr lang="en-US" sz="1300" dirty="0">
                <a:solidFill>
                  <a:srgbClr val="5A6B78"/>
                </a:solidFill>
                <a:latin typeface="Calibri" pitchFamily="34" charset="0"/>
                <a:ea typeface="Calibri" pitchFamily="34" charset="-122"/>
                <a:cs typeface="Calibri" pitchFamily="34" charset="-120"/>
              </a:rPr>
              <a:t>Mismo contenido, tres registros: nota de política para un cargo electo, sección de artículo científico, ficha de divulgación.</a:t>
            </a:r>
            <a:endParaRPr lang="en-US" sz="1300" dirty="0"/>
          </a:p>
        </p:txBody>
      </p:sp>
      <p:sp>
        <p:nvSpPr>
          <p:cNvPr id="24" name="Text 22"/>
          <p:cNvSpPr/>
          <p:nvPr/>
        </p:nvSpPr>
        <p:spPr>
          <a:xfrm>
            <a:off x="548640" y="5870448"/>
            <a:ext cx="11091672" cy="320040"/>
          </a:xfrm>
          <a:prstGeom prst="rect">
            <a:avLst/>
          </a:prstGeom>
          <a:noFill/>
          <a:ln/>
        </p:spPr>
        <p:txBody>
          <a:bodyPr wrap="square" lIns="0" tIns="0" rIns="0" bIns="0" rtlCol="0" anchor="ctr"/>
          <a:lstStyle/>
          <a:p>
            <a:pPr marL="0" indent="0">
              <a:buNone/>
            </a:pPr>
            <a:r>
              <a:rPr lang="en-US" sz="1300" i="1" dirty="0">
                <a:solidFill>
                  <a:srgbClr val="1C6E7D"/>
                </a:solidFill>
                <a:latin typeface="Calibri" pitchFamily="34" charset="0"/>
                <a:ea typeface="Calibri" pitchFamily="34" charset="-122"/>
                <a:cs typeface="Calibri" pitchFamily="34" charset="-120"/>
              </a:rPr>
              <a:t>Cada caso se trabaja con datos reales del territorio — nunca con un ejercicio abstracto.</a:t>
            </a:r>
            <a:endParaRPr lang="en-US" sz="1300" dirty="0"/>
          </a:p>
        </p:txBody>
      </p:sp>
      <p:sp>
        <p:nvSpPr>
          <p:cNvPr id="25" name="Text 23"/>
          <p:cNvSpPr/>
          <p:nvPr/>
        </p:nvSpPr>
        <p:spPr>
          <a:xfrm>
            <a:off x="548640" y="6355080"/>
            <a:ext cx="7315200" cy="274320"/>
          </a:xfrm>
          <a:prstGeom prst="rect">
            <a:avLst/>
          </a:prstGeom>
          <a:noFill/>
          <a:ln/>
        </p:spPr>
        <p:txBody>
          <a:bodyPr wrap="square" lIns="0" tIns="0" rIns="0" bIns="0" rtlCol="0" anchor="ctr"/>
          <a:lstStyle/>
          <a:p>
            <a:pPr marL="0" indent="0">
              <a:buNone/>
            </a:pPr>
            <a:r>
              <a:rPr lang="en-US" sz="950" dirty="0">
                <a:solidFill>
                  <a:srgbClr val="5A6B78"/>
                </a:solidFill>
                <a:latin typeface="Calibri" pitchFamily="34" charset="0"/>
                <a:ea typeface="Calibri" pitchFamily="34" charset="-122"/>
                <a:cs typeface="Calibri" pitchFamily="34" charset="-120"/>
              </a:rPr>
              <a:t>Éric Robitaille, Ph. D. — CISSS des Laurentides / ESPUM</a:t>
            </a:r>
            <a:endParaRPr lang="en-US" sz="950" dirty="0"/>
          </a:p>
        </p:txBody>
      </p:sp>
      <p:sp>
        <p:nvSpPr>
          <p:cNvPr id="26" name="Text 24"/>
          <p:cNvSpPr/>
          <p:nvPr/>
        </p:nvSpPr>
        <p:spPr>
          <a:xfrm>
            <a:off x="11155680" y="6355080"/>
            <a:ext cx="502920" cy="274320"/>
          </a:xfrm>
          <a:prstGeom prst="rect">
            <a:avLst/>
          </a:prstGeom>
          <a:noFill/>
          <a:ln/>
        </p:spPr>
        <p:txBody>
          <a:bodyPr wrap="square" lIns="0" tIns="0" rIns="0" bIns="0" rtlCol="0" anchor="ctr"/>
          <a:lstStyle/>
          <a:p>
            <a:pPr marL="0" indent="0" algn="r">
              <a:buNone/>
            </a:pPr>
            <a:r>
              <a:rPr lang="en-US" sz="950" dirty="0">
                <a:solidFill>
                  <a:srgbClr val="5A6B78"/>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lIns="0" tIns="0" rIns="0" bIns="0" rtlCol="0" anchor="ctr"/>
          <a:lstStyle/>
          <a:p>
            <a:pPr marL="0" indent="0">
              <a:buNone/>
            </a:pPr>
            <a:r>
              <a:rPr lang="en-US" sz="1100" b="1" kern="0" spc="200" dirty="0">
                <a:solidFill>
                  <a:srgbClr val="1C6E7D"/>
                </a:solidFill>
                <a:latin typeface="Calibri" pitchFamily="34" charset="0"/>
                <a:ea typeface="Calibri" pitchFamily="34" charset="-122"/>
                <a:cs typeface="Calibri" pitchFamily="34" charset="-120"/>
              </a:rPr>
              <a:t>EJE 2 · LA CADENA COMPLETA</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400" b="1" dirty="0">
                <a:solidFill>
                  <a:srgbClr val="0E2233"/>
                </a:solidFill>
                <a:latin typeface="Cambria" pitchFamily="34" charset="0"/>
                <a:ea typeface="Cambria" pitchFamily="34" charset="-122"/>
                <a:cs typeface="Cambria" pitchFamily="34" charset="-120"/>
              </a:rPr>
              <a:t>De la consulta a la herramienta desplegada</a:t>
            </a:r>
            <a:endParaRPr lang="en-US" sz="3400" dirty="0"/>
          </a:p>
        </p:txBody>
      </p:sp>
      <p:sp>
        <p:nvSpPr>
          <p:cNvPr id="4" name="Shape 2"/>
          <p:cNvSpPr/>
          <p:nvPr/>
        </p:nvSpPr>
        <p:spPr>
          <a:xfrm>
            <a:off x="548640" y="1874520"/>
            <a:ext cx="3429000" cy="2926080"/>
          </a:xfrm>
          <a:prstGeom prst="roundRect">
            <a:avLst>
              <a:gd name="adj" fmla="val 2813"/>
            </a:avLst>
          </a:prstGeom>
          <a:solidFill>
            <a:srgbClr val="F1F5F7"/>
          </a:solidFill>
          <a:ln w="12700">
            <a:solidFill>
              <a:srgbClr val="F1F5F7"/>
            </a:solidFill>
            <a:prstDash val="solid"/>
          </a:ln>
        </p:spPr>
      </p:sp>
      <p:sp>
        <p:nvSpPr>
          <p:cNvPr id="5" name="Shape 3"/>
          <p:cNvSpPr/>
          <p:nvPr/>
        </p:nvSpPr>
        <p:spPr>
          <a:xfrm>
            <a:off x="868680" y="2194560"/>
            <a:ext cx="457200" cy="457200"/>
          </a:xfrm>
          <a:prstGeom prst="ellipse">
            <a:avLst/>
          </a:prstGeom>
          <a:solidFill>
            <a:srgbClr val="1C6E7D"/>
          </a:solidFill>
          <a:ln/>
        </p:spPr>
      </p:sp>
      <p:sp>
        <p:nvSpPr>
          <p:cNvPr id="6" name="Text 4"/>
          <p:cNvSpPr/>
          <p:nvPr/>
        </p:nvSpPr>
        <p:spPr>
          <a:xfrm>
            <a:off x="868680" y="21945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868680" y="2788920"/>
            <a:ext cx="2788920" cy="685800"/>
          </a:xfrm>
          <a:prstGeom prst="rect">
            <a:avLst/>
          </a:prstGeom>
          <a:noFill/>
          <a:ln/>
        </p:spPr>
        <p:txBody>
          <a:bodyPr wrap="square" lIns="0" tIns="0" rIns="0" bIns="0" rtlCol="0" anchor="t"/>
          <a:lstStyle/>
          <a:p>
            <a:pPr marL="0" indent="0">
              <a:lnSpc>
                <a:spcPts val="2200"/>
              </a:lnSpc>
              <a:buNone/>
            </a:pPr>
            <a:r>
              <a:rPr lang="en-US" sz="1700" b="1" dirty="0">
                <a:solidFill>
                  <a:srgbClr val="0E2233"/>
                </a:solidFill>
                <a:latin typeface="Calibri" pitchFamily="34" charset="0"/>
                <a:ea typeface="Calibri" pitchFamily="34" charset="-122"/>
                <a:cs typeface="Calibri" pitchFamily="34" charset="-120"/>
              </a:rPr>
              <a:t>Una pregunta de terreno</a:t>
            </a:r>
            <a:endParaRPr lang="en-US" sz="1700" dirty="0"/>
          </a:p>
        </p:txBody>
      </p:sp>
      <p:sp>
        <p:nvSpPr>
          <p:cNvPr id="8" name="Text 6"/>
          <p:cNvSpPr/>
          <p:nvPr/>
        </p:nvSpPr>
        <p:spPr>
          <a:xfrm>
            <a:off x="868680" y="3520440"/>
            <a:ext cx="2788920" cy="1143000"/>
          </a:xfrm>
          <a:prstGeom prst="rect">
            <a:avLst/>
          </a:prstGeom>
          <a:noFill/>
          <a:ln/>
        </p:spPr>
        <p:txBody>
          <a:bodyPr wrap="square" lIns="0" tIns="0" rIns="0" bIns="0" rtlCol="0" anchor="ctr"/>
          <a:lstStyle/>
          <a:p>
            <a:pPr marL="0" indent="0">
              <a:lnSpc>
                <a:spcPts val="1900"/>
              </a:lnSpc>
              <a:buNone/>
            </a:pPr>
            <a:r>
              <a:rPr lang="en-US" sz="1250" dirty="0">
                <a:solidFill>
                  <a:srgbClr val="5A6B78"/>
                </a:solidFill>
                <a:latin typeface="Calibri" pitchFamily="34" charset="0"/>
                <a:ea typeface="Calibri" pitchFamily="34" charset="-122"/>
                <a:cs typeface="Calibri" pitchFamily="34" charset="-120"/>
              </a:rPr>
              <a:t>«¿Qué municipios de las Laurentides combinan un fuerte crecimiento de hogares y una alta privación material?»</a:t>
            </a:r>
            <a:endParaRPr lang="en-US" sz="1250" dirty="0"/>
          </a:p>
        </p:txBody>
      </p:sp>
      <p:sp>
        <p:nvSpPr>
          <p:cNvPr id="9" name="Shape 7"/>
          <p:cNvSpPr/>
          <p:nvPr/>
        </p:nvSpPr>
        <p:spPr>
          <a:xfrm>
            <a:off x="4069080" y="3337560"/>
            <a:ext cx="384048" cy="0"/>
          </a:xfrm>
          <a:prstGeom prst="line">
            <a:avLst/>
          </a:prstGeom>
          <a:noFill/>
          <a:ln w="28575">
            <a:solidFill>
              <a:srgbClr val="E29524"/>
            </a:solidFill>
            <a:prstDash val="solid"/>
            <a:tailEnd type="triangle"/>
          </a:ln>
        </p:spPr>
      </p:sp>
      <p:sp>
        <p:nvSpPr>
          <p:cNvPr id="10" name="Shape 8"/>
          <p:cNvSpPr/>
          <p:nvPr/>
        </p:nvSpPr>
        <p:spPr>
          <a:xfrm>
            <a:off x="4453128" y="1874520"/>
            <a:ext cx="3429000" cy="2926080"/>
          </a:xfrm>
          <a:prstGeom prst="roundRect">
            <a:avLst>
              <a:gd name="adj" fmla="val 2813"/>
            </a:avLst>
          </a:prstGeom>
          <a:solidFill>
            <a:srgbClr val="F1F5F7"/>
          </a:solidFill>
          <a:ln w="12700">
            <a:solidFill>
              <a:srgbClr val="F1F5F7"/>
            </a:solidFill>
            <a:prstDash val="solid"/>
          </a:ln>
        </p:spPr>
      </p:sp>
      <p:sp>
        <p:nvSpPr>
          <p:cNvPr id="11" name="Shape 9"/>
          <p:cNvSpPr/>
          <p:nvPr/>
        </p:nvSpPr>
        <p:spPr>
          <a:xfrm>
            <a:off x="4773168" y="2194560"/>
            <a:ext cx="457200" cy="457200"/>
          </a:xfrm>
          <a:prstGeom prst="ellipse">
            <a:avLst/>
          </a:prstGeom>
          <a:solidFill>
            <a:srgbClr val="1C6E7D"/>
          </a:solidFill>
          <a:ln/>
        </p:spPr>
      </p:sp>
      <p:sp>
        <p:nvSpPr>
          <p:cNvPr id="12" name="Text 10"/>
          <p:cNvSpPr/>
          <p:nvPr/>
        </p:nvSpPr>
        <p:spPr>
          <a:xfrm>
            <a:off x="4773168" y="21945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4773168" y="2788920"/>
            <a:ext cx="2788920" cy="685800"/>
          </a:xfrm>
          <a:prstGeom prst="rect">
            <a:avLst/>
          </a:prstGeom>
          <a:noFill/>
          <a:ln/>
        </p:spPr>
        <p:txBody>
          <a:bodyPr wrap="square" lIns="0" tIns="0" rIns="0" bIns="0" rtlCol="0" anchor="t"/>
          <a:lstStyle/>
          <a:p>
            <a:pPr marL="0" indent="0">
              <a:lnSpc>
                <a:spcPts val="2200"/>
              </a:lnSpc>
              <a:buNone/>
            </a:pPr>
            <a:r>
              <a:rPr lang="en-US" sz="1700" b="1" dirty="0">
                <a:solidFill>
                  <a:srgbClr val="0E2233"/>
                </a:solidFill>
                <a:latin typeface="Calibri" pitchFamily="34" charset="0"/>
                <a:ea typeface="Calibri" pitchFamily="34" charset="-122"/>
                <a:cs typeface="Calibri" pitchFamily="34" charset="-120"/>
              </a:rPr>
              <a:t>Datos públicos</a:t>
            </a:r>
            <a:endParaRPr lang="en-US" sz="1700" dirty="0"/>
          </a:p>
        </p:txBody>
      </p:sp>
      <p:sp>
        <p:nvSpPr>
          <p:cNvPr id="14" name="Text 12"/>
          <p:cNvSpPr/>
          <p:nvPr/>
        </p:nvSpPr>
        <p:spPr>
          <a:xfrm>
            <a:off x="4773168" y="3520440"/>
            <a:ext cx="2788920" cy="1143000"/>
          </a:xfrm>
          <a:prstGeom prst="rect">
            <a:avLst/>
          </a:prstGeom>
          <a:noFill/>
          <a:ln/>
        </p:spPr>
        <p:txBody>
          <a:bodyPr wrap="square" lIns="0" tIns="0" rIns="0" bIns="0" rtlCol="0" anchor="ctr"/>
          <a:lstStyle/>
          <a:p>
            <a:pPr marL="0" indent="0">
              <a:lnSpc>
                <a:spcPts val="1900"/>
              </a:lnSpc>
              <a:buNone/>
            </a:pPr>
            <a:r>
              <a:rPr lang="en-US" sz="1250" dirty="0">
                <a:solidFill>
                  <a:srgbClr val="5A6B78"/>
                </a:solidFill>
                <a:latin typeface="Calibri" pitchFamily="34" charset="0"/>
                <a:ea typeface="Calibri" pitchFamily="34" charset="-122"/>
                <a:cs typeface="Calibri" pitchFamily="34" charset="-120"/>
              </a:rPr>
              <a:t>Censo 2021, proyecciones de hogares del ISQ, índice de privación del INSPQ, divisiones administrativas.</a:t>
            </a:r>
            <a:endParaRPr lang="en-US" sz="1250" dirty="0"/>
          </a:p>
        </p:txBody>
      </p:sp>
      <p:sp>
        <p:nvSpPr>
          <p:cNvPr id="15" name="Shape 13"/>
          <p:cNvSpPr/>
          <p:nvPr/>
        </p:nvSpPr>
        <p:spPr>
          <a:xfrm>
            <a:off x="7973568" y="3337560"/>
            <a:ext cx="384048" cy="0"/>
          </a:xfrm>
          <a:prstGeom prst="line">
            <a:avLst/>
          </a:prstGeom>
          <a:noFill/>
          <a:ln w="28575">
            <a:solidFill>
              <a:srgbClr val="E29524"/>
            </a:solidFill>
            <a:prstDash val="solid"/>
            <a:tailEnd type="triangle"/>
          </a:ln>
        </p:spPr>
      </p:sp>
      <p:sp>
        <p:nvSpPr>
          <p:cNvPr id="16" name="Shape 14"/>
          <p:cNvSpPr/>
          <p:nvPr/>
        </p:nvSpPr>
        <p:spPr>
          <a:xfrm>
            <a:off x="8357616" y="1874520"/>
            <a:ext cx="3429000" cy="2926080"/>
          </a:xfrm>
          <a:prstGeom prst="roundRect">
            <a:avLst>
              <a:gd name="adj" fmla="val 2813"/>
            </a:avLst>
          </a:prstGeom>
          <a:solidFill>
            <a:srgbClr val="1C6E7D"/>
          </a:solidFill>
          <a:ln w="12700">
            <a:solidFill>
              <a:srgbClr val="1C6E7D"/>
            </a:solidFill>
            <a:prstDash val="solid"/>
          </a:ln>
        </p:spPr>
      </p:sp>
      <p:sp>
        <p:nvSpPr>
          <p:cNvPr id="17" name="Shape 15"/>
          <p:cNvSpPr/>
          <p:nvPr/>
        </p:nvSpPr>
        <p:spPr>
          <a:xfrm>
            <a:off x="8677656" y="2194560"/>
            <a:ext cx="457200" cy="457200"/>
          </a:xfrm>
          <a:prstGeom prst="ellipse">
            <a:avLst/>
          </a:prstGeom>
          <a:solidFill>
            <a:srgbClr val="E29524"/>
          </a:solidFill>
          <a:ln/>
        </p:spPr>
      </p:sp>
      <p:sp>
        <p:nvSpPr>
          <p:cNvPr id="18" name="Text 16"/>
          <p:cNvSpPr/>
          <p:nvPr/>
        </p:nvSpPr>
        <p:spPr>
          <a:xfrm>
            <a:off x="8677656" y="2194560"/>
            <a:ext cx="457200" cy="457200"/>
          </a:xfrm>
          <a:prstGeom prst="rect">
            <a:avLst/>
          </a:prstGeom>
          <a:noFill/>
          <a:ln/>
        </p:spPr>
        <p:txBody>
          <a:bodyPr wrap="square" lIns="0" tIns="0" rIns="0" bIns="0" rtlCol="0" anchor="ctr"/>
          <a:lstStyle/>
          <a:p>
            <a:pPr marL="0" indent="0" algn="ctr">
              <a:buNone/>
            </a:pPr>
            <a:r>
              <a:rPr lang="en-US" sz="1600" b="1" dirty="0">
                <a:solidFill>
                  <a:srgbClr val="0E2233"/>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8677656" y="2788920"/>
            <a:ext cx="2788920" cy="685800"/>
          </a:xfrm>
          <a:prstGeom prst="rect">
            <a:avLst/>
          </a:prstGeom>
          <a:noFill/>
          <a:ln/>
        </p:spPr>
        <p:txBody>
          <a:bodyPr wrap="square" lIns="0" tIns="0" rIns="0" bIns="0" rtlCol="0" anchor="t"/>
          <a:lstStyle/>
          <a:p>
            <a:pPr marL="0" indent="0">
              <a:lnSpc>
                <a:spcPts val="2200"/>
              </a:lnSpc>
              <a:buNone/>
            </a:pPr>
            <a:r>
              <a:rPr lang="en-US" sz="1700" b="1" dirty="0">
                <a:solidFill>
                  <a:srgbClr val="FFFFFF"/>
                </a:solidFill>
                <a:latin typeface="Calibri" pitchFamily="34" charset="0"/>
                <a:ea typeface="Calibri" pitchFamily="34" charset="-122"/>
                <a:cs typeface="Calibri" pitchFamily="34" charset="-120"/>
              </a:rPr>
              <a:t>Una herramienta interactiva</a:t>
            </a:r>
            <a:endParaRPr lang="en-US" sz="1700" dirty="0"/>
          </a:p>
        </p:txBody>
      </p:sp>
      <p:sp>
        <p:nvSpPr>
          <p:cNvPr id="20" name="Text 18"/>
          <p:cNvSpPr/>
          <p:nvPr/>
        </p:nvSpPr>
        <p:spPr>
          <a:xfrm>
            <a:off x="8677656" y="3520440"/>
            <a:ext cx="2788920" cy="1143000"/>
          </a:xfrm>
          <a:prstGeom prst="rect">
            <a:avLst/>
          </a:prstGeom>
          <a:noFill/>
          <a:ln/>
        </p:spPr>
        <p:txBody>
          <a:bodyPr wrap="square" lIns="0" tIns="0" rIns="0" bIns="0" rtlCol="0" anchor="ctr"/>
          <a:lstStyle/>
          <a:p>
            <a:pPr marL="0" indent="0">
              <a:lnSpc>
                <a:spcPts val="1900"/>
              </a:lnSpc>
              <a:buNone/>
            </a:pPr>
            <a:r>
              <a:rPr lang="en-US" sz="1250" dirty="0">
                <a:solidFill>
                  <a:srgbClr val="D6E8EC"/>
                </a:solidFill>
                <a:latin typeface="Calibri" pitchFamily="34" charset="0"/>
                <a:ea typeface="Calibri" pitchFamily="34" charset="-122"/>
                <a:cs typeface="Calibri" pitchFamily="34" charset="-120"/>
              </a:rPr>
              <a:t>Una aplicación Leaflet autónoma, desplegable en GitHub Pages, consultable por los socios municipales.</a:t>
            </a:r>
            <a:endParaRPr lang="en-US" sz="1250" dirty="0"/>
          </a:p>
        </p:txBody>
      </p:sp>
      <p:sp>
        <p:nvSpPr>
          <p:cNvPr id="21" name="Shape 19"/>
          <p:cNvSpPr/>
          <p:nvPr/>
        </p:nvSpPr>
        <p:spPr>
          <a:xfrm>
            <a:off x="548640" y="4956048"/>
            <a:ext cx="11091672" cy="1051560"/>
          </a:xfrm>
          <a:prstGeom prst="roundRect">
            <a:avLst>
              <a:gd name="adj" fmla="val 7826"/>
            </a:avLst>
          </a:prstGeom>
          <a:solidFill>
            <a:srgbClr val="0E2233"/>
          </a:solidFill>
          <a:ln w="12700">
            <a:solidFill>
              <a:srgbClr val="0E2233"/>
            </a:solidFill>
            <a:prstDash val="solid"/>
          </a:ln>
        </p:spPr>
      </p:sp>
      <p:sp>
        <p:nvSpPr>
          <p:cNvPr id="22" name="Text 20"/>
          <p:cNvSpPr/>
          <p:nvPr/>
        </p:nvSpPr>
        <p:spPr>
          <a:xfrm>
            <a:off x="914400" y="4956048"/>
            <a:ext cx="10332720" cy="1051560"/>
          </a:xfrm>
          <a:prstGeom prst="rect">
            <a:avLst/>
          </a:prstGeom>
          <a:noFill/>
          <a:ln/>
        </p:spPr>
        <p:txBody>
          <a:bodyPr wrap="square" lIns="0" tIns="0" rIns="0" bIns="0" rtlCol="0" anchor="ctr"/>
          <a:lstStyle/>
          <a:p>
            <a:pPr marL="0" indent="0">
              <a:lnSpc>
                <a:spcPts val="2000"/>
              </a:lnSpc>
              <a:buNone/>
            </a:pPr>
            <a:r>
              <a:rPr lang="en-US" sz="1350" dirty="0">
                <a:solidFill>
                  <a:srgbClr val="FFFFFF"/>
                </a:solidFill>
                <a:latin typeface="Calibri" pitchFamily="34" charset="0"/>
                <a:ea typeface="Calibri" pitchFamily="34" charset="-122"/>
                <a:cs typeface="Calibri" pitchFamily="34" charset="-120"/>
              </a:rPr>
              <a:t>Lo que el estudiante aprende no es a escribir código: es a formular una pregunta de salud pública lo bastante precisa como para volverse calculable. </a:t>
            </a:r>
            <a:r>
              <a:rPr lang="en-US" sz="1350" dirty="0">
                <a:solidFill>
                  <a:srgbClr val="E29524"/>
                </a:solidFill>
                <a:latin typeface="Calibri" pitchFamily="34" charset="0"/>
                <a:ea typeface="Calibri" pitchFamily="34" charset="-122"/>
                <a:cs typeface="Calibri" pitchFamily="34" charset="-120"/>
              </a:rPr>
              <a:t>Y a reconocer que un mapa producido con IA nunca es neutral — de ahí la exigencia de reflexividad (Lin y Zhao, 2025).</a:t>
            </a:r>
            <a:endParaRPr lang="en-US" sz="1350" dirty="0"/>
          </a:p>
        </p:txBody>
      </p:sp>
      <p:sp>
        <p:nvSpPr>
          <p:cNvPr id="23" name="Text 21"/>
          <p:cNvSpPr/>
          <p:nvPr/>
        </p:nvSpPr>
        <p:spPr>
          <a:xfrm>
            <a:off x="548640" y="6355080"/>
            <a:ext cx="7315200" cy="274320"/>
          </a:xfrm>
          <a:prstGeom prst="rect">
            <a:avLst/>
          </a:prstGeom>
          <a:noFill/>
          <a:ln/>
        </p:spPr>
        <p:txBody>
          <a:bodyPr wrap="square" lIns="0" tIns="0" rIns="0" bIns="0" rtlCol="0" anchor="ctr"/>
          <a:lstStyle/>
          <a:p>
            <a:pPr marL="0" indent="0">
              <a:buNone/>
            </a:pPr>
            <a:r>
              <a:rPr lang="en-US" sz="950" dirty="0">
                <a:solidFill>
                  <a:srgbClr val="5A6B78"/>
                </a:solidFill>
                <a:latin typeface="Calibri" pitchFamily="34" charset="0"/>
                <a:ea typeface="Calibri" pitchFamily="34" charset="-122"/>
                <a:cs typeface="Calibri" pitchFamily="34" charset="-120"/>
              </a:rPr>
              <a:t>Éric Robitaille, Ph. D. — CISSS des Laurentides / ESPUM</a:t>
            </a:r>
            <a:endParaRPr lang="en-US" sz="950" dirty="0"/>
          </a:p>
        </p:txBody>
      </p:sp>
      <p:sp>
        <p:nvSpPr>
          <p:cNvPr id="24" name="Text 22"/>
          <p:cNvSpPr/>
          <p:nvPr/>
        </p:nvSpPr>
        <p:spPr>
          <a:xfrm>
            <a:off x="11155680" y="6355080"/>
            <a:ext cx="502920" cy="274320"/>
          </a:xfrm>
          <a:prstGeom prst="rect">
            <a:avLst/>
          </a:prstGeom>
          <a:noFill/>
          <a:ln/>
        </p:spPr>
        <p:txBody>
          <a:bodyPr wrap="square" lIns="0" tIns="0" rIns="0" bIns="0" rtlCol="0" anchor="ctr"/>
          <a:lstStyle/>
          <a:p>
            <a:pPr marL="0" indent="0" algn="r">
              <a:buNone/>
            </a:pPr>
            <a:r>
              <a:rPr lang="en-US" sz="950" dirty="0">
                <a:solidFill>
                  <a:srgbClr val="5A6B78"/>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lIns="0" tIns="0" rIns="0" bIns="0" rtlCol="0" anchor="ctr"/>
          <a:lstStyle/>
          <a:p>
            <a:pPr marL="0" indent="0">
              <a:buNone/>
            </a:pPr>
            <a:r>
              <a:rPr lang="en-US" sz="1100" b="1" kern="0" spc="200" dirty="0">
                <a:solidFill>
                  <a:srgbClr val="1C6E7D"/>
                </a:solidFill>
                <a:latin typeface="Calibri" pitchFamily="34" charset="0"/>
                <a:ea typeface="Calibri" pitchFamily="34" charset="-122"/>
                <a:cs typeface="Calibri" pitchFamily="34" charset="-120"/>
              </a:rPr>
              <a:t>EJE 3 · LA IDEA RECTORA</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400" b="1" dirty="0">
                <a:solidFill>
                  <a:srgbClr val="0E2233"/>
                </a:solidFill>
                <a:latin typeface="Cambria" pitchFamily="34" charset="0"/>
                <a:ea typeface="Cambria" pitchFamily="34" charset="-122"/>
                <a:cs typeface="Cambria" pitchFamily="34" charset="-120"/>
              </a:rPr>
              <a:t>Amplificar la experticia, no reemplazarla</a:t>
            </a:r>
            <a:endParaRPr lang="en-US" sz="3400" dirty="0"/>
          </a:p>
        </p:txBody>
      </p:sp>
      <p:sp>
        <p:nvSpPr>
          <p:cNvPr id="4" name="Shape 2"/>
          <p:cNvSpPr/>
          <p:nvPr/>
        </p:nvSpPr>
        <p:spPr>
          <a:xfrm>
            <a:off x="548640" y="1737360"/>
            <a:ext cx="5394960" cy="3977640"/>
          </a:xfrm>
          <a:prstGeom prst="roundRect">
            <a:avLst>
              <a:gd name="adj" fmla="val 2069"/>
            </a:avLst>
          </a:prstGeom>
          <a:solidFill>
            <a:srgbClr val="E7EDF1"/>
          </a:solidFill>
          <a:ln w="12700">
            <a:solidFill>
              <a:srgbClr val="E7EDF1"/>
            </a:solidFill>
            <a:prstDash val="solid"/>
          </a:ln>
        </p:spPr>
      </p:sp>
      <p:sp>
        <p:nvSpPr>
          <p:cNvPr id="5" name="Text 3"/>
          <p:cNvSpPr/>
          <p:nvPr/>
        </p:nvSpPr>
        <p:spPr>
          <a:xfrm>
            <a:off x="914400" y="1965960"/>
            <a:ext cx="4663440" cy="457200"/>
          </a:xfrm>
          <a:prstGeom prst="rect">
            <a:avLst/>
          </a:prstGeom>
          <a:noFill/>
          <a:ln/>
        </p:spPr>
        <p:txBody>
          <a:bodyPr wrap="square" lIns="0" tIns="0" rIns="0" bIns="0" rtlCol="0" anchor="ctr"/>
          <a:lstStyle/>
          <a:p>
            <a:pPr marL="0" indent="0">
              <a:buNone/>
            </a:pPr>
            <a:r>
              <a:rPr lang="en-US" sz="2000" b="1" dirty="0">
                <a:solidFill>
                  <a:srgbClr val="9C4A3C"/>
                </a:solidFill>
                <a:latin typeface="Cambria" pitchFamily="34" charset="0"/>
                <a:ea typeface="Cambria" pitchFamily="34" charset="-122"/>
                <a:cs typeface="Cambria" pitchFamily="34" charset="-120"/>
              </a:rPr>
              <a:t>Lógica de sustitución</a:t>
            </a:r>
            <a:endParaRPr lang="en-US" sz="2000" dirty="0"/>
          </a:p>
        </p:txBody>
      </p:sp>
      <p:sp>
        <p:nvSpPr>
          <p:cNvPr id="6" name="Text 4"/>
          <p:cNvSpPr/>
          <p:nvPr/>
        </p:nvSpPr>
        <p:spPr>
          <a:xfrm>
            <a:off x="914400" y="2606040"/>
            <a:ext cx="4663440" cy="2834640"/>
          </a:xfrm>
          <a:prstGeom prst="rect">
            <a:avLst/>
          </a:prstGeom>
          <a:noFill/>
          <a:ln/>
        </p:spPr>
        <p:txBody>
          <a:bodyPr wrap="square" lIns="0" tIns="0" rIns="0" bIns="0" rtlCol="0" anchor="ctr"/>
          <a:lstStyle/>
          <a:p>
            <a:pPr marL="342900" indent="-342900">
              <a:lnSpc>
                <a:spcPts val="2000"/>
              </a:lnSpc>
              <a:spcAft>
                <a:spcPts val="1200"/>
              </a:spcAft>
              <a:buSzPct val="100000"/>
              <a:buChar char="•"/>
            </a:pPr>
            <a:r>
              <a:rPr lang="en-US" sz="1350" dirty="0">
                <a:solidFill>
                  <a:srgbClr val="0E2233"/>
                </a:solidFill>
                <a:latin typeface="Calibri" pitchFamily="34" charset="0"/>
                <a:ea typeface="Calibri" pitchFamily="34" charset="-122"/>
                <a:cs typeface="Calibri" pitchFamily="34" charset="-120"/>
              </a:rPr>
              <a:t>Se le pide a la IA producir lo que uno no sabe producir por sí mismo.</a:t>
            </a:r>
            <a:endParaRPr lang="en-US" sz="1350" dirty="0"/>
          </a:p>
          <a:p>
            <a:pPr marL="342900" indent="-342900">
              <a:lnSpc>
                <a:spcPts val="2000"/>
              </a:lnSpc>
              <a:spcAft>
                <a:spcPts val="1200"/>
              </a:spcAft>
              <a:buSzPct val="100000"/>
              <a:buChar char="•"/>
            </a:pPr>
            <a:r>
              <a:rPr lang="en-US" sz="1350" dirty="0">
                <a:solidFill>
                  <a:srgbClr val="0E2233"/>
                </a:solidFill>
                <a:latin typeface="Calibri" pitchFamily="34" charset="0"/>
                <a:ea typeface="Calibri" pitchFamily="34" charset="-122"/>
                <a:cs typeface="Calibri" pitchFamily="34" charset="-120"/>
              </a:rPr>
              <a:t>No se puede juzgar la calidad del resultado, por falta de referencias.</a:t>
            </a:r>
            <a:endParaRPr lang="en-US" sz="1350" dirty="0"/>
          </a:p>
          <a:p>
            <a:pPr marL="342900" indent="-342900">
              <a:lnSpc>
                <a:spcPts val="2000"/>
              </a:lnSpc>
              <a:spcAft>
                <a:spcPts val="1200"/>
              </a:spcAft>
              <a:buSzPct val="100000"/>
              <a:buChar char="•"/>
            </a:pPr>
            <a:r>
              <a:rPr lang="en-US" sz="1350" dirty="0">
                <a:solidFill>
                  <a:srgbClr val="0E2233"/>
                </a:solidFill>
                <a:latin typeface="Calibri" pitchFamily="34" charset="0"/>
                <a:ea typeface="Calibri" pitchFamily="34" charset="-122"/>
                <a:cs typeface="Calibri" pitchFamily="34" charset="-120"/>
              </a:rPr>
              <a:t>Los errores plausibles pasan: referencias inventadas, cifras creíbles pero falsas.</a:t>
            </a:r>
            <a:endParaRPr lang="en-US" sz="1350" dirty="0"/>
          </a:p>
          <a:p>
            <a:pPr marL="342900" indent="-342900">
              <a:lnSpc>
                <a:spcPts val="2000"/>
              </a:lnSpc>
              <a:spcAft>
                <a:spcPts val="1200"/>
              </a:spcAft>
              <a:buSzPct val="100000"/>
              <a:buChar char="•"/>
            </a:pPr>
            <a:r>
              <a:rPr lang="en-US" sz="1350" dirty="0">
                <a:solidFill>
                  <a:srgbClr val="0E2233"/>
                </a:solidFill>
                <a:latin typeface="Calibri" pitchFamily="34" charset="0"/>
                <a:ea typeface="Calibri" pitchFamily="34" charset="-122"/>
                <a:cs typeface="Calibri" pitchFamily="34" charset="-120"/>
              </a:rPr>
              <a:t>La competencia no progresa — se delega.</a:t>
            </a:r>
            <a:endParaRPr lang="en-US" sz="1350" dirty="0"/>
          </a:p>
        </p:txBody>
      </p:sp>
      <p:sp>
        <p:nvSpPr>
          <p:cNvPr id="7" name="Shape 5"/>
          <p:cNvSpPr/>
          <p:nvPr/>
        </p:nvSpPr>
        <p:spPr>
          <a:xfrm>
            <a:off x="6245352" y="1737360"/>
            <a:ext cx="5394960" cy="3977640"/>
          </a:xfrm>
          <a:prstGeom prst="roundRect">
            <a:avLst>
              <a:gd name="adj" fmla="val 2069"/>
            </a:avLst>
          </a:prstGeom>
          <a:solidFill>
            <a:srgbClr val="1C6E7D"/>
          </a:solidFill>
          <a:ln w="12700">
            <a:solidFill>
              <a:srgbClr val="1C6E7D"/>
            </a:solidFill>
            <a:prstDash val="solid"/>
          </a:ln>
        </p:spPr>
      </p:sp>
      <p:sp>
        <p:nvSpPr>
          <p:cNvPr id="8" name="Text 6"/>
          <p:cNvSpPr/>
          <p:nvPr/>
        </p:nvSpPr>
        <p:spPr>
          <a:xfrm>
            <a:off x="6611112" y="1965960"/>
            <a:ext cx="4663440" cy="457200"/>
          </a:xfrm>
          <a:prstGeom prst="rect">
            <a:avLst/>
          </a:prstGeom>
          <a:noFill/>
          <a:ln/>
        </p:spPr>
        <p:txBody>
          <a:bodyPr wrap="square" lIns="0" tIns="0" rIns="0" bIns="0" rtlCol="0" anchor="ctr"/>
          <a:lstStyle/>
          <a:p>
            <a:pPr marL="0" indent="0">
              <a:buNone/>
            </a:pPr>
            <a:r>
              <a:rPr lang="en-US" sz="2000" b="1" dirty="0">
                <a:solidFill>
                  <a:srgbClr val="E29524"/>
                </a:solidFill>
                <a:latin typeface="Cambria" pitchFamily="34" charset="0"/>
                <a:ea typeface="Cambria" pitchFamily="34" charset="-122"/>
                <a:cs typeface="Cambria" pitchFamily="34" charset="-120"/>
              </a:rPr>
              <a:t>Lógica de amplificación</a:t>
            </a:r>
            <a:endParaRPr lang="en-US" sz="2000" dirty="0"/>
          </a:p>
        </p:txBody>
      </p:sp>
      <p:sp>
        <p:nvSpPr>
          <p:cNvPr id="9" name="Text 7"/>
          <p:cNvSpPr/>
          <p:nvPr/>
        </p:nvSpPr>
        <p:spPr>
          <a:xfrm>
            <a:off x="6611112" y="2606040"/>
            <a:ext cx="4663440" cy="2834640"/>
          </a:xfrm>
          <a:prstGeom prst="rect">
            <a:avLst/>
          </a:prstGeom>
          <a:noFill/>
          <a:ln/>
        </p:spPr>
        <p:txBody>
          <a:bodyPr wrap="square" lIns="0" tIns="0" rIns="0" bIns="0" rtlCol="0" anchor="ctr"/>
          <a:lstStyle/>
          <a:p>
            <a:pPr marL="342900" indent="-342900">
              <a:lnSpc>
                <a:spcPts val="2000"/>
              </a:lnSpc>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Se le confía a la IA lo que uno sabría hacer, pero más lentamente.</a:t>
            </a:r>
            <a:endParaRPr lang="en-US" sz="1350" dirty="0"/>
          </a:p>
          <a:p>
            <a:pPr marL="342900" indent="-342900">
              <a:lnSpc>
                <a:spcPts val="2000"/>
              </a:lnSpc>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La experticia disciplinaria sirve para detectar lo que no cuadra.</a:t>
            </a:r>
            <a:endParaRPr lang="en-US" sz="1350" dirty="0"/>
          </a:p>
          <a:p>
            <a:pPr marL="342900" indent="-342900">
              <a:lnSpc>
                <a:spcPts val="2000"/>
              </a:lnSpc>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El tiempo liberado va al juicio: interpretación, arbitraje, decisión.</a:t>
            </a:r>
            <a:endParaRPr lang="en-US" sz="1350" dirty="0"/>
          </a:p>
          <a:p>
            <a:pPr marL="342900" indent="-342900">
              <a:lnSpc>
                <a:spcPts val="2000"/>
              </a:lnSpc>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La ambición de los trabajos sube: proyectos antes fuera de alcance se vuelven factibles.</a:t>
            </a:r>
            <a:endParaRPr lang="en-US" sz="1350" dirty="0"/>
          </a:p>
        </p:txBody>
      </p:sp>
      <p:sp>
        <p:nvSpPr>
          <p:cNvPr id="10" name="Text 8"/>
          <p:cNvSpPr/>
          <p:nvPr/>
        </p:nvSpPr>
        <p:spPr>
          <a:xfrm>
            <a:off x="548640" y="5852160"/>
            <a:ext cx="11091672" cy="365760"/>
          </a:xfrm>
          <a:prstGeom prst="rect">
            <a:avLst/>
          </a:prstGeom>
          <a:noFill/>
          <a:ln/>
        </p:spPr>
        <p:txBody>
          <a:bodyPr wrap="square" lIns="0" tIns="0" rIns="0" bIns="0" rtlCol="0" anchor="ctr"/>
          <a:lstStyle/>
          <a:p>
            <a:pPr marL="0" indent="0">
              <a:buNone/>
            </a:pPr>
            <a:r>
              <a:rPr lang="en-US" sz="1400" b="1" i="1" dirty="0">
                <a:solidFill>
                  <a:srgbClr val="0E2233"/>
                </a:solidFill>
                <a:latin typeface="Calibri" pitchFamily="34" charset="0"/>
                <a:ea typeface="Calibri" pitchFamily="34" charset="-122"/>
                <a:cs typeface="Calibri" pitchFamily="34" charset="-120"/>
              </a:rPr>
              <a:t>El mensaje repetido a lo largo del curso: sin experticia, uno no sabe que está siendo engañado.</a:t>
            </a:r>
            <a:endParaRPr lang="en-US" sz="1400" dirty="0"/>
          </a:p>
        </p:txBody>
      </p:sp>
      <p:sp>
        <p:nvSpPr>
          <p:cNvPr id="11" name="Text 9"/>
          <p:cNvSpPr/>
          <p:nvPr/>
        </p:nvSpPr>
        <p:spPr>
          <a:xfrm>
            <a:off x="548640" y="6355080"/>
            <a:ext cx="7315200" cy="274320"/>
          </a:xfrm>
          <a:prstGeom prst="rect">
            <a:avLst/>
          </a:prstGeom>
          <a:noFill/>
          <a:ln/>
        </p:spPr>
        <p:txBody>
          <a:bodyPr wrap="square" lIns="0" tIns="0" rIns="0" bIns="0" rtlCol="0" anchor="ctr"/>
          <a:lstStyle/>
          <a:p>
            <a:pPr marL="0" indent="0">
              <a:buNone/>
            </a:pPr>
            <a:r>
              <a:rPr lang="en-US" sz="950" dirty="0">
                <a:solidFill>
                  <a:srgbClr val="5A6B78"/>
                </a:solidFill>
                <a:latin typeface="Calibri" pitchFamily="34" charset="0"/>
                <a:ea typeface="Calibri" pitchFamily="34" charset="-122"/>
                <a:cs typeface="Calibri" pitchFamily="34" charset="-120"/>
              </a:rPr>
              <a:t>Éric Robitaille, Ph. D. — CISSS des Laurentides / ESPUM</a:t>
            </a:r>
            <a:endParaRPr lang="en-US" sz="950" dirty="0"/>
          </a:p>
        </p:txBody>
      </p:sp>
      <p:sp>
        <p:nvSpPr>
          <p:cNvPr id="12" name="Text 10"/>
          <p:cNvSpPr/>
          <p:nvPr/>
        </p:nvSpPr>
        <p:spPr>
          <a:xfrm>
            <a:off x="11155680" y="6355080"/>
            <a:ext cx="502920" cy="274320"/>
          </a:xfrm>
          <a:prstGeom prst="rect">
            <a:avLst/>
          </a:prstGeom>
          <a:noFill/>
          <a:ln/>
        </p:spPr>
        <p:txBody>
          <a:bodyPr wrap="square" lIns="0" tIns="0" rIns="0" bIns="0" rtlCol="0" anchor="ctr"/>
          <a:lstStyle/>
          <a:p>
            <a:pPr marL="0" indent="0" algn="r">
              <a:buNone/>
            </a:pPr>
            <a:r>
              <a:rPr lang="en-US" sz="950" dirty="0">
                <a:solidFill>
                  <a:srgbClr val="5A6B78"/>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lIns="0" tIns="0" rIns="0" bIns="0" rtlCol="0" anchor="ctr"/>
          <a:lstStyle/>
          <a:p>
            <a:pPr marL="0" indent="0">
              <a:buNone/>
            </a:pPr>
            <a:r>
              <a:rPr lang="en-US" sz="1100" b="1" kern="0" spc="200" dirty="0">
                <a:solidFill>
                  <a:srgbClr val="1C6E7D"/>
                </a:solidFill>
                <a:latin typeface="Calibri" pitchFamily="34" charset="0"/>
                <a:ea typeface="Calibri" pitchFamily="34" charset="-122"/>
                <a:cs typeface="Calibri" pitchFamily="34" charset="-120"/>
              </a:rPr>
              <a:t>EL ENTREGABLE MULTIMODAL</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400" b="1" dirty="0">
                <a:solidFill>
                  <a:srgbClr val="0E2233"/>
                </a:solidFill>
                <a:latin typeface="Cambria" pitchFamily="34" charset="0"/>
                <a:ea typeface="Cambria" pitchFamily="34" charset="-122"/>
                <a:cs typeface="Cambria" pitchFamily="34" charset="-120"/>
              </a:rPr>
              <a:t>Una evaluación que se vuelve sobre sí misma</a:t>
            </a:r>
            <a:endParaRPr lang="en-US" sz="3400" dirty="0"/>
          </a:p>
        </p:txBody>
      </p:sp>
      <p:sp>
        <p:nvSpPr>
          <p:cNvPr id="4" name="Shape 2"/>
          <p:cNvSpPr/>
          <p:nvPr/>
        </p:nvSpPr>
        <p:spPr>
          <a:xfrm>
            <a:off x="548640" y="1737360"/>
            <a:ext cx="3593592" cy="2788920"/>
          </a:xfrm>
          <a:prstGeom prst="roundRect">
            <a:avLst>
              <a:gd name="adj" fmla="val 2951"/>
            </a:avLst>
          </a:prstGeom>
          <a:solidFill>
            <a:srgbClr val="F1F5F7"/>
          </a:solidFill>
          <a:ln w="12700">
            <a:solidFill>
              <a:srgbClr val="F1F5F7"/>
            </a:solidFill>
            <a:prstDash val="solid"/>
          </a:ln>
        </p:spPr>
      </p:sp>
      <p:sp>
        <p:nvSpPr>
          <p:cNvPr id="5" name="Shape 3"/>
          <p:cNvSpPr/>
          <p:nvPr/>
        </p:nvSpPr>
        <p:spPr>
          <a:xfrm>
            <a:off x="868680" y="2011680"/>
            <a:ext cx="457200" cy="457200"/>
          </a:xfrm>
          <a:prstGeom prst="ellipse">
            <a:avLst/>
          </a:prstGeom>
          <a:solidFill>
            <a:srgbClr val="1C6E7D"/>
          </a:solidFill>
          <a:ln/>
        </p:spPr>
      </p:sp>
      <p:sp>
        <p:nvSpPr>
          <p:cNvPr id="6" name="Text 4"/>
          <p:cNvSpPr/>
          <p:nvPr/>
        </p:nvSpPr>
        <p:spPr>
          <a:xfrm>
            <a:off x="868680" y="20116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868680" y="2606040"/>
            <a:ext cx="2971800" cy="411480"/>
          </a:xfrm>
          <a:prstGeom prst="rect">
            <a:avLst/>
          </a:prstGeom>
          <a:noFill/>
          <a:ln/>
        </p:spPr>
        <p:txBody>
          <a:bodyPr wrap="square" lIns="0" tIns="0" rIns="0" bIns="0" rtlCol="0" anchor="ctr"/>
          <a:lstStyle/>
          <a:p>
            <a:pPr marL="0" indent="0">
              <a:buNone/>
            </a:pPr>
            <a:r>
              <a:rPr lang="en-US" sz="1700" b="1" dirty="0">
                <a:solidFill>
                  <a:srgbClr val="0E2233"/>
                </a:solidFill>
                <a:latin typeface="Calibri" pitchFamily="34" charset="0"/>
                <a:ea typeface="Calibri" pitchFamily="34" charset="-122"/>
                <a:cs typeface="Calibri" pitchFamily="34" charset="-120"/>
              </a:rPr>
              <a:t>Redactar con la IA</a:t>
            </a:r>
            <a:endParaRPr lang="en-US" sz="1700" dirty="0"/>
          </a:p>
        </p:txBody>
      </p:sp>
      <p:sp>
        <p:nvSpPr>
          <p:cNvPr id="8" name="Text 6"/>
          <p:cNvSpPr/>
          <p:nvPr/>
        </p:nvSpPr>
        <p:spPr>
          <a:xfrm>
            <a:off x="868680" y="3063240"/>
            <a:ext cx="2971800" cy="1280160"/>
          </a:xfrm>
          <a:prstGeom prst="rect">
            <a:avLst/>
          </a:prstGeom>
          <a:noFill/>
          <a:ln/>
        </p:spPr>
        <p:txBody>
          <a:bodyPr wrap="square" lIns="0" tIns="0" rIns="0" bIns="0" rtlCol="0" anchor="ctr"/>
          <a:lstStyle/>
          <a:p>
            <a:pPr marL="0" indent="0">
              <a:lnSpc>
                <a:spcPts val="1900"/>
              </a:lnSpc>
              <a:buNone/>
            </a:pPr>
            <a:r>
              <a:rPr lang="en-US" sz="1250" dirty="0">
                <a:solidFill>
                  <a:srgbClr val="5A6B78"/>
                </a:solidFill>
                <a:latin typeface="Calibri" pitchFamily="34" charset="0"/>
                <a:ea typeface="Calibri" pitchFamily="34" charset="-122"/>
                <a:cs typeface="Calibri" pitchFamily="34" charset="-120"/>
              </a:rPr>
              <a:t>Un texto de 250 palabras sobre un tema del programa — ética, gestión de proyectos, organización de los servicios — producido con asistencia de la IA.</a:t>
            </a:r>
            <a:endParaRPr lang="en-US" sz="1250" dirty="0"/>
          </a:p>
        </p:txBody>
      </p:sp>
      <p:sp>
        <p:nvSpPr>
          <p:cNvPr id="9" name="Shape 7"/>
          <p:cNvSpPr/>
          <p:nvPr/>
        </p:nvSpPr>
        <p:spPr>
          <a:xfrm>
            <a:off x="4325112" y="1737360"/>
            <a:ext cx="3593592" cy="2788920"/>
          </a:xfrm>
          <a:prstGeom prst="roundRect">
            <a:avLst>
              <a:gd name="adj" fmla="val 2951"/>
            </a:avLst>
          </a:prstGeom>
          <a:solidFill>
            <a:srgbClr val="F1F5F7"/>
          </a:solidFill>
          <a:ln w="12700">
            <a:solidFill>
              <a:srgbClr val="F1F5F7"/>
            </a:solidFill>
            <a:prstDash val="solid"/>
          </a:ln>
        </p:spPr>
      </p:sp>
      <p:sp>
        <p:nvSpPr>
          <p:cNvPr id="10" name="Shape 8"/>
          <p:cNvSpPr/>
          <p:nvPr/>
        </p:nvSpPr>
        <p:spPr>
          <a:xfrm>
            <a:off x="4645152" y="2011680"/>
            <a:ext cx="457200" cy="457200"/>
          </a:xfrm>
          <a:prstGeom prst="ellipse">
            <a:avLst/>
          </a:prstGeom>
          <a:solidFill>
            <a:srgbClr val="1C6E7D"/>
          </a:solidFill>
          <a:ln/>
        </p:spPr>
      </p:sp>
      <p:sp>
        <p:nvSpPr>
          <p:cNvPr id="11" name="Text 9"/>
          <p:cNvSpPr/>
          <p:nvPr/>
        </p:nvSpPr>
        <p:spPr>
          <a:xfrm>
            <a:off x="4645152" y="20116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4645152" y="2606040"/>
            <a:ext cx="2971800" cy="411480"/>
          </a:xfrm>
          <a:prstGeom prst="rect">
            <a:avLst/>
          </a:prstGeom>
          <a:noFill/>
          <a:ln/>
        </p:spPr>
        <p:txBody>
          <a:bodyPr wrap="square" lIns="0" tIns="0" rIns="0" bIns="0" rtlCol="0" anchor="ctr"/>
          <a:lstStyle/>
          <a:p>
            <a:pPr marL="0" indent="0">
              <a:buNone/>
            </a:pPr>
            <a:r>
              <a:rPr lang="en-US" sz="1700" b="1" dirty="0">
                <a:solidFill>
                  <a:srgbClr val="0E2233"/>
                </a:solidFill>
                <a:latin typeface="Calibri" pitchFamily="34" charset="0"/>
                <a:ea typeface="Calibri" pitchFamily="34" charset="-122"/>
                <a:cs typeface="Calibri" pitchFamily="34" charset="-120"/>
              </a:rPr>
              <a:t>Analizar el propio proceso</a:t>
            </a:r>
            <a:endParaRPr lang="en-US" sz="1700" dirty="0"/>
          </a:p>
        </p:txBody>
      </p:sp>
      <p:sp>
        <p:nvSpPr>
          <p:cNvPr id="13" name="Text 11"/>
          <p:cNvSpPr/>
          <p:nvPr/>
        </p:nvSpPr>
        <p:spPr>
          <a:xfrm>
            <a:off x="4645152" y="3063240"/>
            <a:ext cx="2971800" cy="1280160"/>
          </a:xfrm>
          <a:prstGeom prst="rect">
            <a:avLst/>
          </a:prstGeom>
          <a:noFill/>
          <a:ln/>
        </p:spPr>
        <p:txBody>
          <a:bodyPr wrap="square" lIns="0" tIns="0" rIns="0" bIns="0" rtlCol="0" anchor="ctr"/>
          <a:lstStyle/>
          <a:p>
            <a:pPr marL="0" indent="0">
              <a:lnSpc>
                <a:spcPts val="1900"/>
              </a:lnSpc>
              <a:buNone/>
            </a:pPr>
            <a:r>
              <a:rPr lang="en-US" sz="1250" dirty="0">
                <a:solidFill>
                  <a:srgbClr val="5A6B78"/>
                </a:solidFill>
                <a:latin typeface="Calibri" pitchFamily="34" charset="0"/>
                <a:ea typeface="Calibri" pitchFamily="34" charset="-122"/>
                <a:cs typeface="Calibri" pitchFamily="34" charset="-120"/>
              </a:rPr>
              <a:t>Tomar distancia: ¿en qué ayudó la IA? ¿Dónde falló? ¿Qué hubo que corregir, y sobre qué base?</a:t>
            </a:r>
            <a:endParaRPr lang="en-US" sz="1250" dirty="0"/>
          </a:p>
        </p:txBody>
      </p:sp>
      <p:sp>
        <p:nvSpPr>
          <p:cNvPr id="14" name="Shape 12"/>
          <p:cNvSpPr/>
          <p:nvPr/>
        </p:nvSpPr>
        <p:spPr>
          <a:xfrm>
            <a:off x="8101584" y="1737360"/>
            <a:ext cx="3593592" cy="2788920"/>
          </a:xfrm>
          <a:prstGeom prst="roundRect">
            <a:avLst>
              <a:gd name="adj" fmla="val 2951"/>
            </a:avLst>
          </a:prstGeom>
          <a:solidFill>
            <a:srgbClr val="F1F5F7"/>
          </a:solidFill>
          <a:ln w="12700">
            <a:solidFill>
              <a:srgbClr val="F1F5F7"/>
            </a:solidFill>
            <a:prstDash val="solid"/>
          </a:ln>
        </p:spPr>
      </p:sp>
      <p:sp>
        <p:nvSpPr>
          <p:cNvPr id="15" name="Shape 13"/>
          <p:cNvSpPr/>
          <p:nvPr/>
        </p:nvSpPr>
        <p:spPr>
          <a:xfrm>
            <a:off x="8421624" y="2011680"/>
            <a:ext cx="457200" cy="457200"/>
          </a:xfrm>
          <a:prstGeom prst="ellipse">
            <a:avLst/>
          </a:prstGeom>
          <a:solidFill>
            <a:srgbClr val="1C6E7D"/>
          </a:solidFill>
          <a:ln/>
        </p:spPr>
      </p:sp>
      <p:sp>
        <p:nvSpPr>
          <p:cNvPr id="16" name="Text 14"/>
          <p:cNvSpPr/>
          <p:nvPr/>
        </p:nvSpPr>
        <p:spPr>
          <a:xfrm>
            <a:off x="8421624" y="20116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8421624" y="2606040"/>
            <a:ext cx="2971800" cy="411480"/>
          </a:xfrm>
          <a:prstGeom prst="rect">
            <a:avLst/>
          </a:prstGeom>
          <a:noFill/>
          <a:ln/>
        </p:spPr>
        <p:txBody>
          <a:bodyPr wrap="square" lIns="0" tIns="0" rIns="0" bIns="0" rtlCol="0" anchor="ctr"/>
          <a:lstStyle/>
          <a:p>
            <a:pPr marL="0" indent="0">
              <a:buNone/>
            </a:pPr>
            <a:r>
              <a:rPr lang="en-US" sz="1700" b="1" dirty="0">
                <a:solidFill>
                  <a:srgbClr val="0E2233"/>
                </a:solidFill>
                <a:latin typeface="Calibri" pitchFamily="34" charset="0"/>
                <a:ea typeface="Calibri" pitchFamily="34" charset="-122"/>
                <a:cs typeface="Calibri" pitchFamily="34" charset="-120"/>
              </a:rPr>
              <a:t>Explicar sin la IA</a:t>
            </a:r>
            <a:endParaRPr lang="en-US" sz="1700" dirty="0"/>
          </a:p>
        </p:txBody>
      </p:sp>
      <p:sp>
        <p:nvSpPr>
          <p:cNvPr id="18" name="Text 16"/>
          <p:cNvSpPr/>
          <p:nvPr/>
        </p:nvSpPr>
        <p:spPr>
          <a:xfrm>
            <a:off x="8421624" y="3063240"/>
            <a:ext cx="2971800" cy="1280160"/>
          </a:xfrm>
          <a:prstGeom prst="rect">
            <a:avLst/>
          </a:prstGeom>
          <a:noFill/>
          <a:ln/>
        </p:spPr>
        <p:txBody>
          <a:bodyPr wrap="square" lIns="0" tIns="0" rIns="0" bIns="0" rtlCol="0" anchor="ctr"/>
          <a:lstStyle/>
          <a:p>
            <a:pPr marL="0" indent="0">
              <a:lnSpc>
                <a:spcPts val="1900"/>
              </a:lnSpc>
              <a:buNone/>
            </a:pPr>
            <a:r>
              <a:rPr lang="en-US" sz="1250" dirty="0">
                <a:solidFill>
                  <a:srgbClr val="5A6B78"/>
                </a:solidFill>
                <a:latin typeface="Calibri" pitchFamily="34" charset="0"/>
                <a:ea typeface="Calibri" pitchFamily="34" charset="-122"/>
                <a:cs typeface="Calibri" pitchFamily="34" charset="-120"/>
              </a:rPr>
              <a:t>Un video de 2 a 3 minutos donde el estudiante explica oralmente la importancia de su tema — una competencia no delegable.</a:t>
            </a:r>
            <a:endParaRPr lang="en-US" sz="1250" dirty="0"/>
          </a:p>
        </p:txBody>
      </p:sp>
      <p:sp>
        <p:nvSpPr>
          <p:cNvPr id="19" name="Text 17"/>
          <p:cNvSpPr/>
          <p:nvPr/>
        </p:nvSpPr>
        <p:spPr>
          <a:xfrm>
            <a:off x="548640" y="4709160"/>
            <a:ext cx="5486400" cy="320040"/>
          </a:xfrm>
          <a:prstGeom prst="rect">
            <a:avLst/>
          </a:prstGeom>
          <a:noFill/>
          <a:ln/>
        </p:spPr>
        <p:txBody>
          <a:bodyPr wrap="square" lIns="0" tIns="0" rIns="0" bIns="0" rtlCol="0" anchor="ctr"/>
          <a:lstStyle/>
          <a:p>
            <a:pPr marL="0" indent="0">
              <a:buNone/>
            </a:pPr>
            <a:r>
              <a:rPr lang="en-US" sz="1300" b="1" dirty="0">
                <a:solidFill>
                  <a:srgbClr val="1C6E7D"/>
                </a:solidFill>
                <a:latin typeface="Calibri" pitchFamily="34" charset="0"/>
                <a:ea typeface="Calibri" pitchFamily="34" charset="-122"/>
                <a:cs typeface="Calibri" pitchFamily="34" charset="-120"/>
              </a:rPr>
              <a:t>Cuatro criterios calificados</a:t>
            </a:r>
            <a:endParaRPr lang="en-US" sz="1300" dirty="0"/>
          </a:p>
        </p:txBody>
      </p:sp>
      <p:sp>
        <p:nvSpPr>
          <p:cNvPr id="20" name="Shape 18"/>
          <p:cNvSpPr/>
          <p:nvPr/>
        </p:nvSpPr>
        <p:spPr>
          <a:xfrm>
            <a:off x="548640" y="5074920"/>
            <a:ext cx="2697480" cy="640080"/>
          </a:xfrm>
          <a:prstGeom prst="roundRect">
            <a:avLst>
              <a:gd name="adj" fmla="val 12857"/>
            </a:avLst>
          </a:prstGeom>
          <a:solidFill>
            <a:srgbClr val="0E2233"/>
          </a:solidFill>
          <a:ln w="12700">
            <a:solidFill>
              <a:srgbClr val="0E2233"/>
            </a:solidFill>
            <a:prstDash val="solid"/>
          </a:ln>
        </p:spPr>
      </p:sp>
      <p:sp>
        <p:nvSpPr>
          <p:cNvPr id="21" name="Text 19"/>
          <p:cNvSpPr/>
          <p:nvPr/>
        </p:nvSpPr>
        <p:spPr>
          <a:xfrm>
            <a:off x="685800" y="5074920"/>
            <a:ext cx="2423160" cy="64008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Dominio del tema</a:t>
            </a:r>
            <a:endParaRPr lang="en-US" sz="1250" dirty="0"/>
          </a:p>
        </p:txBody>
      </p:sp>
      <p:sp>
        <p:nvSpPr>
          <p:cNvPr id="22" name="Shape 20"/>
          <p:cNvSpPr/>
          <p:nvPr/>
        </p:nvSpPr>
        <p:spPr>
          <a:xfrm>
            <a:off x="3346704" y="5074920"/>
            <a:ext cx="2697480" cy="640080"/>
          </a:xfrm>
          <a:prstGeom prst="roundRect">
            <a:avLst>
              <a:gd name="adj" fmla="val 12857"/>
            </a:avLst>
          </a:prstGeom>
          <a:solidFill>
            <a:srgbClr val="0E2233"/>
          </a:solidFill>
          <a:ln w="12700">
            <a:solidFill>
              <a:srgbClr val="0E2233"/>
            </a:solidFill>
            <a:prstDash val="solid"/>
          </a:ln>
        </p:spPr>
      </p:sp>
      <p:sp>
        <p:nvSpPr>
          <p:cNvPr id="23" name="Text 21"/>
          <p:cNvSpPr/>
          <p:nvPr/>
        </p:nvSpPr>
        <p:spPr>
          <a:xfrm>
            <a:off x="3483864" y="5074920"/>
            <a:ext cx="2423160" cy="64008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Divulgación</a:t>
            </a:r>
            <a:endParaRPr lang="en-US" sz="1250" dirty="0"/>
          </a:p>
        </p:txBody>
      </p:sp>
      <p:sp>
        <p:nvSpPr>
          <p:cNvPr id="24" name="Shape 22"/>
          <p:cNvSpPr/>
          <p:nvPr/>
        </p:nvSpPr>
        <p:spPr>
          <a:xfrm>
            <a:off x="6144768" y="5074920"/>
            <a:ext cx="2697480" cy="640080"/>
          </a:xfrm>
          <a:prstGeom prst="roundRect">
            <a:avLst>
              <a:gd name="adj" fmla="val 12857"/>
            </a:avLst>
          </a:prstGeom>
          <a:solidFill>
            <a:srgbClr val="0E2233"/>
          </a:solidFill>
          <a:ln w="12700">
            <a:solidFill>
              <a:srgbClr val="0E2233"/>
            </a:solidFill>
            <a:prstDash val="solid"/>
          </a:ln>
        </p:spPr>
      </p:sp>
      <p:sp>
        <p:nvSpPr>
          <p:cNvPr id="25" name="Text 23"/>
          <p:cNvSpPr/>
          <p:nvPr/>
        </p:nvSpPr>
        <p:spPr>
          <a:xfrm>
            <a:off x="6281928" y="5074920"/>
            <a:ext cx="2423160" cy="64008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Eficacia del proceso con IA</a:t>
            </a:r>
            <a:endParaRPr lang="en-US" sz="1250" dirty="0"/>
          </a:p>
        </p:txBody>
      </p:sp>
      <p:sp>
        <p:nvSpPr>
          <p:cNvPr id="26" name="Shape 24"/>
          <p:cNvSpPr/>
          <p:nvPr/>
        </p:nvSpPr>
        <p:spPr>
          <a:xfrm>
            <a:off x="8942832" y="5074920"/>
            <a:ext cx="2697480" cy="640080"/>
          </a:xfrm>
          <a:prstGeom prst="roundRect">
            <a:avLst>
              <a:gd name="adj" fmla="val 12857"/>
            </a:avLst>
          </a:prstGeom>
          <a:solidFill>
            <a:srgbClr val="0E2233"/>
          </a:solidFill>
          <a:ln w="12700">
            <a:solidFill>
              <a:srgbClr val="0E2233"/>
            </a:solidFill>
            <a:prstDash val="solid"/>
          </a:ln>
        </p:spPr>
      </p:sp>
      <p:sp>
        <p:nvSpPr>
          <p:cNvPr id="27" name="Text 25"/>
          <p:cNvSpPr/>
          <p:nvPr/>
        </p:nvSpPr>
        <p:spPr>
          <a:xfrm>
            <a:off x="9079992" y="5074920"/>
            <a:ext cx="2423160" cy="64008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Calidad de la redacción</a:t>
            </a:r>
            <a:endParaRPr lang="en-US" sz="1250" dirty="0"/>
          </a:p>
        </p:txBody>
      </p:sp>
      <p:sp>
        <p:nvSpPr>
          <p:cNvPr id="28" name="Text 26"/>
          <p:cNvSpPr/>
          <p:nvPr/>
        </p:nvSpPr>
        <p:spPr>
          <a:xfrm>
            <a:off x="548640" y="5806440"/>
            <a:ext cx="11091672" cy="457200"/>
          </a:xfrm>
          <a:prstGeom prst="rect">
            <a:avLst/>
          </a:prstGeom>
          <a:noFill/>
          <a:ln/>
        </p:spPr>
        <p:txBody>
          <a:bodyPr wrap="square" lIns="0" tIns="0" rIns="0" bIns="0" rtlCol="0" anchor="ctr"/>
          <a:lstStyle/>
          <a:p>
            <a:pPr marL="0" indent="0">
              <a:lnSpc>
                <a:spcPts val="1600"/>
              </a:lnSpc>
              <a:buNone/>
            </a:pPr>
            <a:r>
              <a:rPr lang="en-US" sz="1200" i="1" dirty="0">
                <a:solidFill>
                  <a:srgbClr val="0E2233"/>
                </a:solidFill>
                <a:latin typeface="Calibri" pitchFamily="34" charset="0"/>
                <a:ea typeface="Calibri" pitchFamily="34" charset="-122"/>
                <a:cs typeface="Calibri" pitchFamily="34" charset="-120"/>
              </a:rPr>
              <a:t>El uso de la IA no está ni prohibido ni implícito: está prescrito y luego evaluado como objeto de reflexión. </a:t>
            </a:r>
            <a:r>
              <a:rPr lang="en-US" sz="1200" i="1" dirty="0">
                <a:solidFill>
                  <a:srgbClr val="1C6E7D"/>
                </a:solidFill>
                <a:latin typeface="Calibri" pitchFamily="34" charset="0"/>
                <a:ea typeface="Calibri" pitchFamily="34" charset="-122"/>
                <a:cs typeface="Calibri" pitchFamily="34" charset="-120"/>
              </a:rPr>
              <a:t>El mismo dispositivo de video fue adoptado de forma independiente en la enseñanza de la programación (Zingaro, citado en Caballar, 2024).</a:t>
            </a:r>
            <a:endParaRPr lang="en-US" sz="1200" dirty="0"/>
          </a:p>
        </p:txBody>
      </p:sp>
      <p:sp>
        <p:nvSpPr>
          <p:cNvPr id="29" name="Text 27"/>
          <p:cNvSpPr/>
          <p:nvPr/>
        </p:nvSpPr>
        <p:spPr>
          <a:xfrm>
            <a:off x="548640" y="6355080"/>
            <a:ext cx="7315200" cy="274320"/>
          </a:xfrm>
          <a:prstGeom prst="rect">
            <a:avLst/>
          </a:prstGeom>
          <a:noFill/>
          <a:ln/>
        </p:spPr>
        <p:txBody>
          <a:bodyPr wrap="square" lIns="0" tIns="0" rIns="0" bIns="0" rtlCol="0" anchor="ctr"/>
          <a:lstStyle/>
          <a:p>
            <a:pPr marL="0" indent="0">
              <a:buNone/>
            </a:pPr>
            <a:r>
              <a:rPr lang="en-US" sz="950" dirty="0">
                <a:solidFill>
                  <a:srgbClr val="5A6B78"/>
                </a:solidFill>
                <a:latin typeface="Calibri" pitchFamily="34" charset="0"/>
                <a:ea typeface="Calibri" pitchFamily="34" charset="-122"/>
                <a:cs typeface="Calibri" pitchFamily="34" charset="-120"/>
              </a:rPr>
              <a:t>Éric Robitaille, Ph. D. — CISSS des Laurentides / ESPUM</a:t>
            </a:r>
            <a:endParaRPr lang="en-US" sz="950" dirty="0"/>
          </a:p>
        </p:txBody>
      </p:sp>
      <p:sp>
        <p:nvSpPr>
          <p:cNvPr id="30" name="Text 28"/>
          <p:cNvSpPr/>
          <p:nvPr/>
        </p:nvSpPr>
        <p:spPr>
          <a:xfrm>
            <a:off x="11155680" y="6355080"/>
            <a:ext cx="502920" cy="274320"/>
          </a:xfrm>
          <a:prstGeom prst="rect">
            <a:avLst/>
          </a:prstGeom>
          <a:noFill/>
          <a:ln/>
        </p:spPr>
        <p:txBody>
          <a:bodyPr wrap="square" lIns="0" tIns="0" rIns="0" bIns="0" rtlCol="0" anchor="ctr"/>
          <a:lstStyle/>
          <a:p>
            <a:pPr marL="0" indent="0" algn="r">
              <a:buNone/>
            </a:pPr>
            <a:r>
              <a:rPr lang="en-US" sz="950" dirty="0">
                <a:solidFill>
                  <a:srgbClr val="5A6B78"/>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lIns="0" tIns="0" rIns="0" bIns="0" rtlCol="0" anchor="ctr"/>
          <a:lstStyle/>
          <a:p>
            <a:pPr marL="0" indent="0">
              <a:buNone/>
            </a:pPr>
            <a:r>
              <a:rPr lang="en-US" sz="1100" b="1" kern="0" spc="200" dirty="0">
                <a:solidFill>
                  <a:srgbClr val="1C6E7D"/>
                </a:solidFill>
                <a:latin typeface="Calibri" pitchFamily="34" charset="0"/>
                <a:ea typeface="Calibri" pitchFamily="34" charset="-122"/>
                <a:cs typeface="Calibri" pitchFamily="34" charset="-120"/>
              </a:rPr>
              <a:t>RESULTADOS · FORMATIVO</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400" b="1" dirty="0">
                <a:solidFill>
                  <a:srgbClr val="0E2233"/>
                </a:solidFill>
                <a:latin typeface="Cambria" pitchFamily="34" charset="0"/>
                <a:ea typeface="Cambria" pitchFamily="34" charset="-122"/>
                <a:cs typeface="Cambria" pitchFamily="34" charset="-120"/>
              </a:rPr>
              <a:t>Herramientas pedagógicas nacidas del curso</a:t>
            </a:r>
            <a:endParaRPr lang="en-US" sz="3400" dirty="0"/>
          </a:p>
        </p:txBody>
      </p:sp>
      <p:sp>
        <p:nvSpPr>
          <p:cNvPr id="4" name="Shape 2"/>
          <p:cNvSpPr/>
          <p:nvPr/>
        </p:nvSpPr>
        <p:spPr>
          <a:xfrm>
            <a:off x="548640" y="1737360"/>
            <a:ext cx="3593592" cy="3703320"/>
          </a:xfrm>
          <a:prstGeom prst="roundRect">
            <a:avLst>
              <a:gd name="adj" fmla="val 2290"/>
            </a:avLst>
          </a:prstGeom>
          <a:solidFill>
            <a:srgbClr val="F1F5F7"/>
          </a:solidFill>
          <a:ln w="12700">
            <a:solidFill>
              <a:srgbClr val="F1F5F7"/>
            </a:solidFill>
            <a:prstDash val="solid"/>
          </a:ln>
        </p:spPr>
      </p:sp>
      <p:sp>
        <p:nvSpPr>
          <p:cNvPr id="5" name="Text 3"/>
          <p:cNvSpPr/>
          <p:nvPr/>
        </p:nvSpPr>
        <p:spPr>
          <a:xfrm>
            <a:off x="868680" y="1965960"/>
            <a:ext cx="2971800" cy="256032"/>
          </a:xfrm>
          <a:prstGeom prst="rect">
            <a:avLst/>
          </a:prstGeom>
          <a:noFill/>
          <a:ln/>
        </p:spPr>
        <p:txBody>
          <a:bodyPr wrap="square" lIns="0" tIns="0" rIns="0" bIns="0" rtlCol="0" anchor="ctr"/>
          <a:lstStyle/>
          <a:p>
            <a:pPr marL="0" indent="0">
              <a:buNone/>
            </a:pPr>
            <a:r>
              <a:rPr lang="en-US" sz="950" b="1" kern="0" spc="150" dirty="0">
                <a:solidFill>
                  <a:srgbClr val="1C6E7D"/>
                </a:solidFill>
                <a:latin typeface="Calibri" pitchFamily="34" charset="0"/>
                <a:ea typeface="Calibri" pitchFamily="34" charset="-122"/>
                <a:cs typeface="Calibri" pitchFamily="34" charset="-120"/>
              </a:rPr>
              <a:t>NOTA DE POLÍTICA</a:t>
            </a:r>
            <a:endParaRPr lang="en-US" sz="950" dirty="0"/>
          </a:p>
        </p:txBody>
      </p:sp>
      <p:sp>
        <p:nvSpPr>
          <p:cNvPr id="6" name="Text 4"/>
          <p:cNvSpPr/>
          <p:nvPr/>
        </p:nvSpPr>
        <p:spPr>
          <a:xfrm>
            <a:off x="868680" y="2267712"/>
            <a:ext cx="2971800" cy="777240"/>
          </a:xfrm>
          <a:prstGeom prst="rect">
            <a:avLst/>
          </a:prstGeom>
          <a:noFill/>
          <a:ln/>
        </p:spPr>
        <p:txBody>
          <a:bodyPr wrap="square" lIns="0" tIns="0" rIns="0" bIns="0" rtlCol="0" anchor="t"/>
          <a:lstStyle/>
          <a:p>
            <a:pPr marL="0" indent="0">
              <a:lnSpc>
                <a:spcPts val="2200"/>
              </a:lnSpc>
              <a:buNone/>
            </a:pPr>
            <a:r>
              <a:rPr lang="en-US" sz="1700" b="1" dirty="0">
                <a:solidFill>
                  <a:srgbClr val="0E2233"/>
                </a:solidFill>
                <a:latin typeface="Calibri" pitchFamily="34" charset="0"/>
                <a:ea typeface="Calibri" pitchFamily="34" charset="-122"/>
                <a:cs typeface="Calibri" pitchFamily="34" charset="-120"/>
              </a:rPr>
              <a:t>Evaluador de objetivos</a:t>
            </a:r>
            <a:endParaRPr lang="en-US" sz="1700" dirty="0"/>
          </a:p>
        </p:txBody>
      </p:sp>
      <p:sp>
        <p:nvSpPr>
          <p:cNvPr id="7" name="Text 5"/>
          <p:cNvSpPr/>
          <p:nvPr/>
        </p:nvSpPr>
        <p:spPr>
          <a:xfrm>
            <a:off x="868680" y="3154680"/>
            <a:ext cx="2971800" cy="1600200"/>
          </a:xfrm>
          <a:prstGeom prst="rect">
            <a:avLst/>
          </a:prstGeom>
          <a:noFill/>
          <a:ln/>
        </p:spPr>
        <p:txBody>
          <a:bodyPr wrap="square" lIns="0" tIns="0" rIns="0" bIns="0" rtlCol="0" anchor="ctr"/>
          <a:lstStyle/>
          <a:p>
            <a:pPr marL="0" indent="0">
              <a:lnSpc>
                <a:spcPts val="1900"/>
              </a:lnSpc>
              <a:buNone/>
            </a:pPr>
            <a:r>
              <a:rPr lang="en-US" sz="1250" dirty="0">
                <a:solidFill>
                  <a:srgbClr val="5A6B78"/>
                </a:solidFill>
                <a:latin typeface="Calibri" pitchFamily="34" charset="0"/>
                <a:ea typeface="Calibri" pitchFamily="34" charset="-122"/>
                <a:cs typeface="Calibri" pitchFamily="34" charset="-120"/>
              </a:rPr>
              <a:t>Retroalimentación instantánea sobre el objetivo general y los objetivos específicos: verbo de acción único, público destinatario, problema, contexto, coherencia del conjunto.</a:t>
            </a:r>
            <a:endParaRPr lang="en-US" sz="1250" dirty="0"/>
          </a:p>
        </p:txBody>
      </p:sp>
      <p:sp>
        <p:nvSpPr>
          <p:cNvPr id="8" name="Text 6"/>
          <p:cNvSpPr/>
          <p:nvPr/>
        </p:nvSpPr>
        <p:spPr>
          <a:xfrm>
            <a:off x="868680" y="4800600"/>
            <a:ext cx="3017520" cy="502920"/>
          </a:xfrm>
          <a:prstGeom prst="rect">
            <a:avLst/>
          </a:prstGeom>
          <a:noFill/>
          <a:ln/>
        </p:spPr>
        <p:txBody>
          <a:bodyPr wrap="square" lIns="0" tIns="0" rIns="0" bIns="0" rtlCol="0" anchor="ctr"/>
          <a:lstStyle/>
          <a:p>
            <a:pPr marL="0" indent="0">
              <a:lnSpc>
                <a:spcPts val="1300"/>
              </a:lnSpc>
              <a:buNone/>
            </a:pPr>
            <a:r>
              <a:rPr lang="en-US" sz="950" dirty="0">
                <a:solidFill>
                  <a:srgbClr val="1C6E7D"/>
                </a:solidFill>
                <a:latin typeface="Courier New" pitchFamily="34" charset="0"/>
                <a:ea typeface="Courier New" pitchFamily="34" charset="-122"/>
                <a:cs typeface="Courier New" pitchFamily="34" charset="-120"/>
              </a:rPr>
              <a:t>eranlorob-dotcom.github.io/</a:t>
            </a:r>
            <a:endParaRPr lang="en-US" sz="950" dirty="0"/>
          </a:p>
          <a:p>
            <a:pPr marL="0" indent="0">
              <a:lnSpc>
                <a:spcPts val="1300"/>
              </a:lnSpc>
              <a:buNone/>
            </a:pPr>
            <a:r>
              <a:rPr lang="en-US" sz="950" dirty="0">
                <a:solidFill>
                  <a:srgbClr val="1C6E7D"/>
                </a:solidFill>
                <a:latin typeface="Courier New" pitchFamily="34" charset="0"/>
                <a:ea typeface="Courier New" pitchFamily="34" charset="-122"/>
                <a:cs typeface="Courier New" pitchFamily="34" charset="-120"/>
              </a:rPr>
              <a:t>MSO6083/objectifs/objectifsnoia.html</a:t>
            </a:r>
            <a:endParaRPr lang="en-US" sz="950" dirty="0"/>
          </a:p>
        </p:txBody>
      </p:sp>
      <p:sp>
        <p:nvSpPr>
          <p:cNvPr id="9" name="Shape 7"/>
          <p:cNvSpPr/>
          <p:nvPr/>
        </p:nvSpPr>
        <p:spPr>
          <a:xfrm>
            <a:off x="4325112" y="1737360"/>
            <a:ext cx="3593592" cy="3703320"/>
          </a:xfrm>
          <a:prstGeom prst="roundRect">
            <a:avLst>
              <a:gd name="adj" fmla="val 2290"/>
            </a:avLst>
          </a:prstGeom>
          <a:solidFill>
            <a:srgbClr val="F1F5F7"/>
          </a:solidFill>
          <a:ln w="12700">
            <a:solidFill>
              <a:srgbClr val="F1F5F7"/>
            </a:solidFill>
            <a:prstDash val="solid"/>
          </a:ln>
        </p:spPr>
      </p:sp>
      <p:sp>
        <p:nvSpPr>
          <p:cNvPr id="10" name="Text 8"/>
          <p:cNvSpPr/>
          <p:nvPr/>
        </p:nvSpPr>
        <p:spPr>
          <a:xfrm>
            <a:off x="4645152" y="1965960"/>
            <a:ext cx="2971800" cy="256032"/>
          </a:xfrm>
          <a:prstGeom prst="rect">
            <a:avLst/>
          </a:prstGeom>
          <a:noFill/>
          <a:ln/>
        </p:spPr>
        <p:txBody>
          <a:bodyPr wrap="square" lIns="0" tIns="0" rIns="0" bIns="0" rtlCol="0" anchor="ctr"/>
          <a:lstStyle/>
          <a:p>
            <a:pPr marL="0" indent="0">
              <a:buNone/>
            </a:pPr>
            <a:r>
              <a:rPr lang="en-US" sz="950" b="1" kern="0" spc="150" dirty="0">
                <a:solidFill>
                  <a:srgbClr val="1C6E7D"/>
                </a:solidFill>
                <a:latin typeface="Calibri" pitchFamily="34" charset="0"/>
                <a:ea typeface="Calibri" pitchFamily="34" charset="-122"/>
                <a:cs typeface="Calibri" pitchFamily="34" charset="-120"/>
              </a:rPr>
              <a:t>SIETE OPCIONES DE LA MAESTRÍA</a:t>
            </a:r>
            <a:endParaRPr lang="en-US" sz="950" dirty="0"/>
          </a:p>
        </p:txBody>
      </p:sp>
      <p:sp>
        <p:nvSpPr>
          <p:cNvPr id="11" name="Text 9"/>
          <p:cNvSpPr/>
          <p:nvPr/>
        </p:nvSpPr>
        <p:spPr>
          <a:xfrm>
            <a:off x="4645152" y="2267712"/>
            <a:ext cx="2971800" cy="777240"/>
          </a:xfrm>
          <a:prstGeom prst="rect">
            <a:avLst/>
          </a:prstGeom>
          <a:noFill/>
          <a:ln/>
        </p:spPr>
        <p:txBody>
          <a:bodyPr wrap="square" lIns="0" tIns="0" rIns="0" bIns="0" rtlCol="0" anchor="t"/>
          <a:lstStyle/>
          <a:p>
            <a:pPr marL="0" indent="0">
              <a:lnSpc>
                <a:spcPts val="2200"/>
              </a:lnSpc>
              <a:buNone/>
            </a:pPr>
            <a:r>
              <a:rPr lang="en-US" sz="1700" b="1" dirty="0">
                <a:solidFill>
                  <a:srgbClr val="0E2233"/>
                </a:solidFill>
                <a:latin typeface="Calibri" pitchFamily="34" charset="0"/>
                <a:ea typeface="Calibri" pitchFamily="34" charset="-122"/>
                <a:cs typeface="Calibri" pitchFamily="34" charset="-120"/>
              </a:rPr>
              <a:t>Evaluador de objetivos de pasantía 2.0</a:t>
            </a:r>
            <a:endParaRPr lang="en-US" sz="1700" dirty="0"/>
          </a:p>
        </p:txBody>
      </p:sp>
      <p:sp>
        <p:nvSpPr>
          <p:cNvPr id="12" name="Text 10"/>
          <p:cNvSpPr/>
          <p:nvPr/>
        </p:nvSpPr>
        <p:spPr>
          <a:xfrm>
            <a:off x="4645152" y="3154680"/>
            <a:ext cx="2971800" cy="1600200"/>
          </a:xfrm>
          <a:prstGeom prst="rect">
            <a:avLst/>
          </a:prstGeom>
          <a:noFill/>
          <a:ln/>
        </p:spPr>
        <p:txBody>
          <a:bodyPr wrap="square" lIns="0" tIns="0" rIns="0" bIns="0" rtlCol="0" anchor="ctr"/>
          <a:lstStyle/>
          <a:p>
            <a:pPr marL="0" indent="0">
              <a:lnSpc>
                <a:spcPts val="1900"/>
              </a:lnSpc>
              <a:buNone/>
            </a:pPr>
            <a:r>
              <a:rPr lang="en-US" sz="1250" dirty="0">
                <a:solidFill>
                  <a:srgbClr val="5A6B78"/>
                </a:solidFill>
                <a:latin typeface="Calibri" pitchFamily="34" charset="0"/>
                <a:ea typeface="Calibri" pitchFamily="34" charset="-122"/>
                <a:cs typeface="Calibri" pitchFamily="34" charset="-120"/>
              </a:rPr>
              <a:t>Misma lógica, adaptada al mandato de pasantía y desglosada por opción: promoción, vigilancia, salud ambiental, mundial, sistemas, Una sola Salud, investigación.</a:t>
            </a:r>
            <a:endParaRPr lang="en-US" sz="1250" dirty="0"/>
          </a:p>
        </p:txBody>
      </p:sp>
      <p:sp>
        <p:nvSpPr>
          <p:cNvPr id="13" name="Text 11"/>
          <p:cNvSpPr/>
          <p:nvPr/>
        </p:nvSpPr>
        <p:spPr>
          <a:xfrm>
            <a:off x="4645152" y="4800600"/>
            <a:ext cx="3017520" cy="502920"/>
          </a:xfrm>
          <a:prstGeom prst="rect">
            <a:avLst/>
          </a:prstGeom>
          <a:noFill/>
          <a:ln/>
        </p:spPr>
        <p:txBody>
          <a:bodyPr wrap="square" lIns="0" tIns="0" rIns="0" bIns="0" rtlCol="0" anchor="ctr"/>
          <a:lstStyle/>
          <a:p>
            <a:pPr marL="0" indent="0">
              <a:lnSpc>
                <a:spcPts val="1300"/>
              </a:lnSpc>
              <a:buNone/>
            </a:pPr>
            <a:r>
              <a:rPr lang="en-US" sz="950" dirty="0">
                <a:solidFill>
                  <a:srgbClr val="1C6E7D"/>
                </a:solidFill>
                <a:latin typeface="Courier New" pitchFamily="34" charset="0"/>
                <a:ea typeface="Courier New" pitchFamily="34" charset="-122"/>
                <a:cs typeface="Courier New" pitchFamily="34" charset="-120"/>
              </a:rPr>
              <a:t>eranlorob-dotcom.github.io/</a:t>
            </a:r>
            <a:endParaRPr lang="en-US" sz="950" dirty="0"/>
          </a:p>
          <a:p>
            <a:pPr marL="0" indent="0">
              <a:lnSpc>
                <a:spcPts val="1300"/>
              </a:lnSpc>
              <a:buNone/>
            </a:pPr>
            <a:r>
              <a:rPr lang="en-US" sz="950" dirty="0">
                <a:solidFill>
                  <a:srgbClr val="1C6E7D"/>
                </a:solidFill>
                <a:latin typeface="Courier New" pitchFamily="34" charset="0"/>
                <a:ea typeface="Courier New" pitchFamily="34" charset="-122"/>
                <a:cs typeface="Courier New" pitchFamily="34" charset="-120"/>
              </a:rPr>
              <a:t>MSO6083/objectifs/objectifsstages.html</a:t>
            </a:r>
            <a:endParaRPr lang="en-US" sz="950" dirty="0"/>
          </a:p>
        </p:txBody>
      </p:sp>
      <p:sp>
        <p:nvSpPr>
          <p:cNvPr id="14" name="Shape 12"/>
          <p:cNvSpPr/>
          <p:nvPr/>
        </p:nvSpPr>
        <p:spPr>
          <a:xfrm>
            <a:off x="8101584" y="1737360"/>
            <a:ext cx="3593592" cy="3703320"/>
          </a:xfrm>
          <a:prstGeom prst="roundRect">
            <a:avLst>
              <a:gd name="adj" fmla="val 2290"/>
            </a:avLst>
          </a:prstGeom>
          <a:solidFill>
            <a:srgbClr val="F1F5F7"/>
          </a:solidFill>
          <a:ln w="12700">
            <a:solidFill>
              <a:srgbClr val="F1F5F7"/>
            </a:solidFill>
            <a:prstDash val="solid"/>
          </a:ln>
        </p:spPr>
      </p:sp>
      <p:sp>
        <p:nvSpPr>
          <p:cNvPr id="15" name="Text 13"/>
          <p:cNvSpPr/>
          <p:nvPr/>
        </p:nvSpPr>
        <p:spPr>
          <a:xfrm>
            <a:off x="8421624" y="1965960"/>
            <a:ext cx="2971800" cy="256032"/>
          </a:xfrm>
          <a:prstGeom prst="rect">
            <a:avLst/>
          </a:prstGeom>
          <a:noFill/>
          <a:ln/>
        </p:spPr>
        <p:txBody>
          <a:bodyPr wrap="square" lIns="0" tIns="0" rIns="0" bIns="0" rtlCol="0" anchor="ctr"/>
          <a:lstStyle/>
          <a:p>
            <a:pPr marL="0" indent="0">
              <a:buNone/>
            </a:pPr>
            <a:r>
              <a:rPr lang="en-US" sz="950" b="1" kern="0" spc="150" dirty="0">
                <a:solidFill>
                  <a:srgbClr val="1C6E7D"/>
                </a:solidFill>
                <a:latin typeface="Calibri" pitchFamily="34" charset="0"/>
                <a:ea typeface="Calibri" pitchFamily="34" charset="-122"/>
                <a:cs typeface="Calibri" pitchFamily="34" charset="-120"/>
              </a:rPr>
              <a:t>NOTA INTERVENCIONISTA</a:t>
            </a:r>
            <a:endParaRPr lang="en-US" sz="950" dirty="0"/>
          </a:p>
        </p:txBody>
      </p:sp>
      <p:sp>
        <p:nvSpPr>
          <p:cNvPr id="16" name="Text 14"/>
          <p:cNvSpPr/>
          <p:nvPr/>
        </p:nvSpPr>
        <p:spPr>
          <a:xfrm>
            <a:off x="8421624" y="2267712"/>
            <a:ext cx="2971800" cy="777240"/>
          </a:xfrm>
          <a:prstGeom prst="rect">
            <a:avLst/>
          </a:prstGeom>
          <a:noFill/>
          <a:ln/>
        </p:spPr>
        <p:txBody>
          <a:bodyPr wrap="square" lIns="0" tIns="0" rIns="0" bIns="0" rtlCol="0" anchor="t"/>
          <a:lstStyle/>
          <a:p>
            <a:pPr marL="0" indent="0">
              <a:lnSpc>
                <a:spcPts val="2200"/>
              </a:lnSpc>
              <a:buNone/>
            </a:pPr>
            <a:r>
              <a:rPr lang="en-US" sz="1700" b="1" dirty="0">
                <a:solidFill>
                  <a:srgbClr val="0E2233"/>
                </a:solidFill>
                <a:latin typeface="Calibri" pitchFamily="34" charset="0"/>
                <a:ea typeface="Calibri" pitchFamily="34" charset="-122"/>
                <a:cs typeface="Calibri" pitchFamily="34" charset="-120"/>
              </a:rPr>
              <a:t>El banco de pruebas del título</a:t>
            </a:r>
            <a:endParaRPr lang="en-US" sz="1700" dirty="0"/>
          </a:p>
        </p:txBody>
      </p:sp>
      <p:sp>
        <p:nvSpPr>
          <p:cNvPr id="17" name="Text 15"/>
          <p:cNvSpPr/>
          <p:nvPr/>
        </p:nvSpPr>
        <p:spPr>
          <a:xfrm>
            <a:off x="8421624" y="3154680"/>
            <a:ext cx="2971800" cy="1600200"/>
          </a:xfrm>
          <a:prstGeom prst="rect">
            <a:avLst/>
          </a:prstGeom>
          <a:noFill/>
          <a:ln/>
        </p:spPr>
        <p:txBody>
          <a:bodyPr wrap="square" lIns="0" tIns="0" rIns="0" bIns="0" rtlCol="0" anchor="ctr"/>
          <a:lstStyle/>
          <a:p>
            <a:pPr marL="0" indent="0">
              <a:lnSpc>
                <a:spcPts val="1900"/>
              </a:lnSpc>
              <a:buNone/>
            </a:pPr>
            <a:r>
              <a:rPr lang="en-US" sz="1250" dirty="0">
                <a:solidFill>
                  <a:srgbClr val="5A6B78"/>
                </a:solidFill>
                <a:latin typeface="Calibri" pitchFamily="34" charset="0"/>
                <a:ea typeface="Calibri" pitchFamily="34" charset="-122"/>
                <a:cs typeface="Calibri" pitchFamily="34" charset="-120"/>
              </a:rPr>
              <a:t>Siete criterios provenientes de las guías del CCNPPS, de R4D y del equipo RENARD, con ejemplos antes/después y plantillas de reformulación.</a:t>
            </a:r>
            <a:endParaRPr lang="en-US" sz="1250" dirty="0"/>
          </a:p>
        </p:txBody>
      </p:sp>
      <p:sp>
        <p:nvSpPr>
          <p:cNvPr id="18" name="Text 16"/>
          <p:cNvSpPr/>
          <p:nvPr/>
        </p:nvSpPr>
        <p:spPr>
          <a:xfrm>
            <a:off x="8421624" y="4800600"/>
            <a:ext cx="3017520" cy="502920"/>
          </a:xfrm>
          <a:prstGeom prst="rect">
            <a:avLst/>
          </a:prstGeom>
          <a:noFill/>
          <a:ln/>
        </p:spPr>
        <p:txBody>
          <a:bodyPr wrap="square" lIns="0" tIns="0" rIns="0" bIns="0" rtlCol="0" anchor="ctr"/>
          <a:lstStyle/>
          <a:p>
            <a:pPr marL="0" indent="0">
              <a:lnSpc>
                <a:spcPts val="1300"/>
              </a:lnSpc>
              <a:buNone/>
            </a:pPr>
            <a:r>
              <a:rPr lang="en-US" sz="950" dirty="0">
                <a:solidFill>
                  <a:srgbClr val="1C6E7D"/>
                </a:solidFill>
                <a:latin typeface="Courier New" pitchFamily="34" charset="0"/>
                <a:ea typeface="Courier New" pitchFamily="34" charset="-122"/>
                <a:cs typeface="Courier New" pitchFamily="34" charset="-120"/>
              </a:rPr>
              <a:t>eranlorob-dotcom.github.io/</a:t>
            </a:r>
            <a:endParaRPr lang="en-US" sz="950" dirty="0"/>
          </a:p>
          <a:p>
            <a:pPr marL="0" indent="0">
              <a:lnSpc>
                <a:spcPts val="1300"/>
              </a:lnSpc>
              <a:buNone/>
            </a:pPr>
            <a:r>
              <a:rPr lang="en-US" sz="950" dirty="0">
                <a:solidFill>
                  <a:srgbClr val="1C6E7D"/>
                </a:solidFill>
                <a:latin typeface="Courier New" pitchFamily="34" charset="0"/>
                <a:ea typeface="Courier New" pitchFamily="34" charset="-122"/>
                <a:cs typeface="Courier New" pitchFamily="34" charset="-120"/>
              </a:rPr>
              <a:t>MSO6083/titre/titre.html</a:t>
            </a:r>
            <a:endParaRPr lang="en-US" sz="950" dirty="0"/>
          </a:p>
        </p:txBody>
      </p:sp>
      <p:sp>
        <p:nvSpPr>
          <p:cNvPr id="19" name="Text 17"/>
          <p:cNvSpPr/>
          <p:nvPr/>
        </p:nvSpPr>
        <p:spPr>
          <a:xfrm>
            <a:off x="548640" y="5669280"/>
            <a:ext cx="11091672" cy="365760"/>
          </a:xfrm>
          <a:prstGeom prst="rect">
            <a:avLst/>
          </a:prstGeom>
          <a:noFill/>
          <a:ln/>
        </p:spPr>
        <p:txBody>
          <a:bodyPr wrap="square" lIns="0" tIns="0" rIns="0" bIns="0" rtlCol="0" anchor="ctr"/>
          <a:lstStyle/>
          <a:p>
            <a:pPr marL="0" indent="0">
              <a:buNone/>
            </a:pPr>
            <a:r>
              <a:rPr lang="en-US" sz="1350" i="1" dirty="0">
                <a:solidFill>
                  <a:srgbClr val="0E2233"/>
                </a:solidFill>
                <a:latin typeface="Calibri" pitchFamily="34" charset="0"/>
                <a:ea typeface="Calibri" pitchFamily="34" charset="-122"/>
                <a:cs typeface="Calibri" pitchFamily="34" charset="-120"/>
              </a:rPr>
              <a:t>Gratuitas, sin cuenta, evaluación basada en reglas — concebidas para ser adaptadas y redifundidas libremente.</a:t>
            </a:r>
            <a:endParaRPr lang="en-US" sz="1350" dirty="0"/>
          </a:p>
        </p:txBody>
      </p:sp>
      <p:sp>
        <p:nvSpPr>
          <p:cNvPr id="20" name="Text 18"/>
          <p:cNvSpPr/>
          <p:nvPr/>
        </p:nvSpPr>
        <p:spPr>
          <a:xfrm>
            <a:off x="548640" y="6355080"/>
            <a:ext cx="7315200" cy="274320"/>
          </a:xfrm>
          <a:prstGeom prst="rect">
            <a:avLst/>
          </a:prstGeom>
          <a:noFill/>
          <a:ln/>
        </p:spPr>
        <p:txBody>
          <a:bodyPr wrap="square" lIns="0" tIns="0" rIns="0" bIns="0" rtlCol="0" anchor="ctr"/>
          <a:lstStyle/>
          <a:p>
            <a:pPr marL="0" indent="0">
              <a:buNone/>
            </a:pPr>
            <a:r>
              <a:rPr lang="en-US" sz="950" dirty="0">
                <a:solidFill>
                  <a:srgbClr val="5A6B78"/>
                </a:solidFill>
                <a:latin typeface="Calibri" pitchFamily="34" charset="0"/>
                <a:ea typeface="Calibri" pitchFamily="34" charset="-122"/>
                <a:cs typeface="Calibri" pitchFamily="34" charset="-120"/>
              </a:rPr>
              <a:t>Éric Robitaille, Ph. D. — CISSS des Laurentides / ESPUM</a:t>
            </a:r>
            <a:endParaRPr lang="en-US" sz="950" dirty="0"/>
          </a:p>
        </p:txBody>
      </p:sp>
      <p:sp>
        <p:nvSpPr>
          <p:cNvPr id="21" name="Text 19"/>
          <p:cNvSpPr/>
          <p:nvPr/>
        </p:nvSpPr>
        <p:spPr>
          <a:xfrm>
            <a:off x="11155680" y="6355080"/>
            <a:ext cx="502920" cy="274320"/>
          </a:xfrm>
          <a:prstGeom prst="rect">
            <a:avLst/>
          </a:prstGeom>
          <a:noFill/>
          <a:ln/>
        </p:spPr>
        <p:txBody>
          <a:bodyPr wrap="square" lIns="0" tIns="0" rIns="0" bIns="0" rtlCol="0" anchor="ctr"/>
          <a:lstStyle/>
          <a:p>
            <a:pPr marL="0" indent="0" algn="r">
              <a:buNone/>
            </a:pPr>
            <a:r>
              <a:rPr lang="en-US" sz="950" dirty="0">
                <a:solidFill>
                  <a:srgbClr val="5A6B78"/>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lIns="0" tIns="0" rIns="0" bIns="0" rtlCol="0" anchor="ctr"/>
          <a:lstStyle/>
          <a:p>
            <a:pPr marL="0" indent="0">
              <a:buNone/>
            </a:pPr>
            <a:r>
              <a:rPr lang="en-US" sz="1100" b="1" kern="0" spc="200" dirty="0">
                <a:solidFill>
                  <a:srgbClr val="1C6E7D"/>
                </a:solidFill>
                <a:latin typeface="Calibri" pitchFamily="34" charset="0"/>
                <a:ea typeface="Calibri" pitchFamily="34" charset="-122"/>
                <a:cs typeface="Calibri" pitchFamily="34" charset="-120"/>
              </a:rPr>
              <a:t>UNA PRÁCTICA NUEVA</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400" b="1" dirty="0">
                <a:solidFill>
                  <a:srgbClr val="0E2233"/>
                </a:solidFill>
                <a:latin typeface="Cambria" pitchFamily="34" charset="0"/>
                <a:ea typeface="Cambria" pitchFamily="34" charset="-122"/>
                <a:cs typeface="Cambria" pitchFamily="34" charset="-120"/>
              </a:rPr>
              <a:t>El vibe coding: describir en vez de programar</a:t>
            </a:r>
            <a:endParaRPr lang="en-US" sz="3400" dirty="0"/>
          </a:p>
        </p:txBody>
      </p:sp>
      <p:sp>
        <p:nvSpPr>
          <p:cNvPr id="4" name="Shape 2"/>
          <p:cNvSpPr/>
          <p:nvPr/>
        </p:nvSpPr>
        <p:spPr>
          <a:xfrm>
            <a:off x="548640" y="1783080"/>
            <a:ext cx="4572000" cy="3063240"/>
          </a:xfrm>
          <a:prstGeom prst="roundRect">
            <a:avLst>
              <a:gd name="adj" fmla="val 2687"/>
            </a:avLst>
          </a:prstGeom>
          <a:solidFill>
            <a:srgbClr val="0E2233"/>
          </a:solidFill>
          <a:ln w="12700">
            <a:solidFill>
              <a:srgbClr val="0E2233"/>
            </a:solidFill>
            <a:prstDash val="solid"/>
          </a:ln>
        </p:spPr>
      </p:sp>
      <p:sp>
        <p:nvSpPr>
          <p:cNvPr id="5" name="Text 3"/>
          <p:cNvSpPr/>
          <p:nvPr/>
        </p:nvSpPr>
        <p:spPr>
          <a:xfrm>
            <a:off x="914400" y="2011680"/>
            <a:ext cx="3886200" cy="868680"/>
          </a:xfrm>
          <a:prstGeom prst="rect">
            <a:avLst/>
          </a:prstGeom>
          <a:noFill/>
          <a:ln/>
        </p:spPr>
        <p:txBody>
          <a:bodyPr wrap="square" lIns="0" tIns="0" rIns="0" bIns="0" rtlCol="0" anchor="ctr"/>
          <a:lstStyle/>
          <a:p>
            <a:pPr marL="0" indent="0">
              <a:lnSpc>
                <a:spcPts val="2400"/>
              </a:lnSpc>
              <a:buNone/>
            </a:pPr>
            <a:r>
              <a:rPr lang="en-US" sz="1700" b="1" dirty="0">
                <a:solidFill>
                  <a:srgbClr val="E29524"/>
                </a:solidFill>
                <a:latin typeface="Cambria" pitchFamily="34" charset="0"/>
                <a:ea typeface="Cambria" pitchFamily="34" charset="-122"/>
                <a:cs typeface="Cambria" pitchFamily="34" charset="-120"/>
              </a:rPr>
              <a:t>«Uno se deja llevar</a:t>
            </a:r>
            <a:endParaRPr lang="en-US" sz="1700" dirty="0"/>
          </a:p>
          <a:p>
            <a:pPr marL="0" indent="0">
              <a:lnSpc>
                <a:spcPts val="2400"/>
              </a:lnSpc>
              <a:buNone/>
            </a:pPr>
            <a:r>
              <a:rPr lang="en-US" sz="1700" b="1" dirty="0">
                <a:solidFill>
                  <a:srgbClr val="E29524"/>
                </a:solidFill>
                <a:latin typeface="Cambria" pitchFamily="34" charset="0"/>
                <a:ea typeface="Cambria" pitchFamily="34" charset="-122"/>
                <a:cs typeface="Cambria" pitchFamily="34" charset="-120"/>
              </a:rPr>
              <a:t>y olvida que el código existe.»</a:t>
            </a:r>
            <a:endParaRPr lang="en-US" sz="1700" dirty="0"/>
          </a:p>
        </p:txBody>
      </p:sp>
      <p:sp>
        <p:nvSpPr>
          <p:cNvPr id="6" name="Text 4"/>
          <p:cNvSpPr/>
          <p:nvPr/>
        </p:nvSpPr>
        <p:spPr>
          <a:xfrm>
            <a:off x="914400" y="2880360"/>
            <a:ext cx="3886200" cy="274320"/>
          </a:xfrm>
          <a:prstGeom prst="rect">
            <a:avLst/>
          </a:prstGeom>
          <a:noFill/>
          <a:ln/>
        </p:spPr>
        <p:txBody>
          <a:bodyPr wrap="square" lIns="0" tIns="0" rIns="0" bIns="0" rtlCol="0" anchor="ctr"/>
          <a:lstStyle/>
          <a:p>
            <a:pPr marL="0" indent="0">
              <a:buNone/>
            </a:pPr>
            <a:r>
              <a:rPr lang="en-US" sz="1150" dirty="0">
                <a:solidFill>
                  <a:srgbClr val="3D9AA8"/>
                </a:solidFill>
                <a:latin typeface="Calibri" pitchFamily="34" charset="0"/>
                <a:ea typeface="Calibri" pitchFamily="34" charset="-122"/>
                <a:cs typeface="Calibri" pitchFamily="34" charset="-120"/>
              </a:rPr>
              <a:t>Andrej Karpathy, 2 de febrero de 2025</a:t>
            </a:r>
            <a:endParaRPr lang="en-US" sz="1150" dirty="0"/>
          </a:p>
        </p:txBody>
      </p:sp>
      <p:sp>
        <p:nvSpPr>
          <p:cNvPr id="7" name="Text 5"/>
          <p:cNvSpPr/>
          <p:nvPr/>
        </p:nvSpPr>
        <p:spPr>
          <a:xfrm>
            <a:off x="914400" y="3291840"/>
            <a:ext cx="3886200" cy="1325880"/>
          </a:xfrm>
          <a:prstGeom prst="rect">
            <a:avLst/>
          </a:prstGeom>
          <a:noFill/>
          <a:ln/>
        </p:spPr>
        <p:txBody>
          <a:bodyPr wrap="square" lIns="0" tIns="0" rIns="0" bIns="0" rtlCol="0" anchor="ctr"/>
          <a:lstStyle/>
          <a:p>
            <a:pPr marL="0" indent="0">
              <a:lnSpc>
                <a:spcPts val="1900"/>
              </a:lnSpc>
              <a:buNone/>
            </a:pPr>
            <a:r>
              <a:rPr lang="en-US" sz="1250" dirty="0">
                <a:solidFill>
                  <a:srgbClr val="C6D5DE"/>
                </a:solidFill>
                <a:latin typeface="Calibri" pitchFamily="34" charset="0"/>
                <a:ea typeface="Calibri" pitchFamily="34" charset="-122"/>
                <a:cs typeface="Calibri" pitchFamily="34" charset="-120"/>
              </a:rPr>
              <a:t>Describir en lenguaje natural lo que se quiere construir, dejar que el modelo escriba el código y juzgar el resultado en pantalla en vez de releer las líneas. El término fue elegido palabra del año 2025 por el diccionario Collins.</a:t>
            </a:r>
            <a:endParaRPr lang="en-US" sz="1250" dirty="0"/>
          </a:p>
        </p:txBody>
      </p:sp>
      <p:sp>
        <p:nvSpPr>
          <p:cNvPr id="8" name="Shape 6"/>
          <p:cNvSpPr/>
          <p:nvPr/>
        </p:nvSpPr>
        <p:spPr>
          <a:xfrm>
            <a:off x="5330952" y="1783080"/>
            <a:ext cx="6309360" cy="914400"/>
          </a:xfrm>
          <a:prstGeom prst="roundRect">
            <a:avLst>
              <a:gd name="adj" fmla="val 9000"/>
            </a:avLst>
          </a:prstGeom>
          <a:solidFill>
            <a:srgbClr val="F1F5F7"/>
          </a:solidFill>
          <a:ln w="12700">
            <a:solidFill>
              <a:srgbClr val="F1F5F7"/>
            </a:solidFill>
            <a:prstDash val="solid"/>
          </a:ln>
        </p:spPr>
      </p:sp>
      <p:sp>
        <p:nvSpPr>
          <p:cNvPr id="9" name="Text 7"/>
          <p:cNvSpPr/>
          <p:nvPr/>
        </p:nvSpPr>
        <p:spPr>
          <a:xfrm>
            <a:off x="5605272" y="1783080"/>
            <a:ext cx="1874520" cy="914400"/>
          </a:xfrm>
          <a:prstGeom prst="rect">
            <a:avLst/>
          </a:prstGeom>
          <a:noFill/>
          <a:ln/>
        </p:spPr>
        <p:txBody>
          <a:bodyPr wrap="square" lIns="0" tIns="0" rIns="0" bIns="0" rtlCol="0" anchor="ctr"/>
          <a:lstStyle/>
          <a:p>
            <a:pPr marL="0" indent="0">
              <a:lnSpc>
                <a:spcPts val="1800"/>
              </a:lnSpc>
              <a:buNone/>
            </a:pPr>
            <a:r>
              <a:rPr lang="en-US" sz="1350" b="1" dirty="0">
                <a:solidFill>
                  <a:srgbClr val="1C6E7D"/>
                </a:solidFill>
                <a:latin typeface="Calibri" pitchFamily="34" charset="0"/>
                <a:ea typeface="Calibri" pitchFamily="34" charset="-122"/>
                <a:cs typeface="Calibri" pitchFamily="34" charset="-120"/>
              </a:rPr>
              <a:t>Lo que hace posible</a:t>
            </a:r>
            <a:endParaRPr lang="en-US" sz="1350" dirty="0"/>
          </a:p>
        </p:txBody>
      </p:sp>
      <p:sp>
        <p:nvSpPr>
          <p:cNvPr id="10" name="Text 8"/>
          <p:cNvSpPr/>
          <p:nvPr/>
        </p:nvSpPr>
        <p:spPr>
          <a:xfrm>
            <a:off x="7543800" y="1783080"/>
            <a:ext cx="3840480" cy="914400"/>
          </a:xfrm>
          <a:prstGeom prst="rect">
            <a:avLst/>
          </a:prstGeom>
          <a:noFill/>
          <a:ln/>
        </p:spPr>
        <p:txBody>
          <a:bodyPr wrap="square" lIns="0" tIns="0" rIns="0" bIns="0" rtlCol="0" anchor="ctr"/>
          <a:lstStyle/>
          <a:p>
            <a:pPr marL="0" indent="0">
              <a:lnSpc>
                <a:spcPts val="1700"/>
              </a:lnSpc>
              <a:buNone/>
            </a:pPr>
            <a:r>
              <a:rPr lang="en-US" sz="1200" dirty="0">
                <a:solidFill>
                  <a:srgbClr val="5A6B78"/>
                </a:solidFill>
                <a:latin typeface="Calibri" pitchFamily="34" charset="0"/>
                <a:ea typeface="Calibri" pitchFamily="34" charset="-122"/>
                <a:cs typeface="Calibri" pitchFamily="34" charset="-120"/>
              </a:rPr>
              <a:t>Un prototipo funcional en pocas horas. Probar una idea de indicador antes de invertir en ella. Producir un entregable compartible con un centro de pasantía.</a:t>
            </a:r>
            <a:endParaRPr lang="en-US" sz="1200" dirty="0"/>
          </a:p>
        </p:txBody>
      </p:sp>
      <p:sp>
        <p:nvSpPr>
          <p:cNvPr id="11" name="Shape 9"/>
          <p:cNvSpPr/>
          <p:nvPr/>
        </p:nvSpPr>
        <p:spPr>
          <a:xfrm>
            <a:off x="5330952" y="2862072"/>
            <a:ext cx="6309360" cy="914400"/>
          </a:xfrm>
          <a:prstGeom prst="roundRect">
            <a:avLst>
              <a:gd name="adj" fmla="val 9000"/>
            </a:avLst>
          </a:prstGeom>
          <a:solidFill>
            <a:srgbClr val="F1F5F7"/>
          </a:solidFill>
          <a:ln w="12700">
            <a:solidFill>
              <a:srgbClr val="F1F5F7"/>
            </a:solidFill>
            <a:prstDash val="solid"/>
          </a:ln>
        </p:spPr>
      </p:sp>
      <p:sp>
        <p:nvSpPr>
          <p:cNvPr id="12" name="Text 10"/>
          <p:cNvSpPr/>
          <p:nvPr/>
        </p:nvSpPr>
        <p:spPr>
          <a:xfrm>
            <a:off x="5605272" y="2862072"/>
            <a:ext cx="1874520" cy="914400"/>
          </a:xfrm>
          <a:prstGeom prst="rect">
            <a:avLst/>
          </a:prstGeom>
          <a:noFill/>
          <a:ln/>
        </p:spPr>
        <p:txBody>
          <a:bodyPr wrap="square" lIns="0" tIns="0" rIns="0" bIns="0" rtlCol="0" anchor="ctr"/>
          <a:lstStyle/>
          <a:p>
            <a:pPr marL="0" indent="0">
              <a:lnSpc>
                <a:spcPts val="1800"/>
              </a:lnSpc>
              <a:buNone/>
            </a:pPr>
            <a:r>
              <a:rPr lang="en-US" sz="1350" b="1" dirty="0">
                <a:solidFill>
                  <a:srgbClr val="1C6E7D"/>
                </a:solidFill>
                <a:latin typeface="Calibri" pitchFamily="34" charset="0"/>
                <a:ea typeface="Calibri" pitchFamily="34" charset="-122"/>
                <a:cs typeface="Calibri" pitchFamily="34" charset="-120"/>
              </a:rPr>
              <a:t>Lo que sigue exigiendo</a:t>
            </a:r>
            <a:endParaRPr lang="en-US" sz="1350" dirty="0"/>
          </a:p>
        </p:txBody>
      </p:sp>
      <p:sp>
        <p:nvSpPr>
          <p:cNvPr id="13" name="Text 11"/>
          <p:cNvSpPr/>
          <p:nvPr/>
        </p:nvSpPr>
        <p:spPr>
          <a:xfrm>
            <a:off x="7543800" y="2862072"/>
            <a:ext cx="3840480" cy="914400"/>
          </a:xfrm>
          <a:prstGeom prst="rect">
            <a:avLst/>
          </a:prstGeom>
          <a:noFill/>
          <a:ln/>
        </p:spPr>
        <p:txBody>
          <a:bodyPr wrap="square" lIns="0" tIns="0" rIns="0" bIns="0" rtlCol="0" anchor="ctr"/>
          <a:lstStyle/>
          <a:p>
            <a:pPr marL="0" indent="0">
              <a:lnSpc>
                <a:spcPts val="1700"/>
              </a:lnSpc>
              <a:buNone/>
            </a:pPr>
            <a:r>
              <a:rPr lang="en-US" sz="1200" dirty="0">
                <a:solidFill>
                  <a:srgbClr val="5A6B78"/>
                </a:solidFill>
                <a:latin typeface="Calibri" pitchFamily="34" charset="0"/>
                <a:ea typeface="Calibri" pitchFamily="34" charset="-122"/>
                <a:cs typeface="Calibri" pitchFamily="34" charset="-120"/>
              </a:rPr>
              <a:t>Saber formular la pregunta, conocer los propios datos y reconocer un resultado falso cuando aparece en pantalla.</a:t>
            </a:r>
            <a:endParaRPr lang="en-US" sz="1200" dirty="0"/>
          </a:p>
        </p:txBody>
      </p:sp>
      <p:sp>
        <p:nvSpPr>
          <p:cNvPr id="14" name="Shape 12"/>
          <p:cNvSpPr/>
          <p:nvPr/>
        </p:nvSpPr>
        <p:spPr>
          <a:xfrm>
            <a:off x="5330952" y="3941064"/>
            <a:ext cx="6309360" cy="914400"/>
          </a:xfrm>
          <a:prstGeom prst="roundRect">
            <a:avLst>
              <a:gd name="adj" fmla="val 9000"/>
            </a:avLst>
          </a:prstGeom>
          <a:solidFill>
            <a:srgbClr val="E7EDF1"/>
          </a:solidFill>
          <a:ln w="12700">
            <a:solidFill>
              <a:srgbClr val="E7EDF1"/>
            </a:solidFill>
            <a:prstDash val="solid"/>
          </a:ln>
        </p:spPr>
      </p:sp>
      <p:sp>
        <p:nvSpPr>
          <p:cNvPr id="15" name="Text 13"/>
          <p:cNvSpPr/>
          <p:nvPr/>
        </p:nvSpPr>
        <p:spPr>
          <a:xfrm>
            <a:off x="5605272" y="3941064"/>
            <a:ext cx="1874520" cy="914400"/>
          </a:xfrm>
          <a:prstGeom prst="rect">
            <a:avLst/>
          </a:prstGeom>
          <a:noFill/>
          <a:ln/>
        </p:spPr>
        <p:txBody>
          <a:bodyPr wrap="square" lIns="0" tIns="0" rIns="0" bIns="0" rtlCol="0" anchor="ctr"/>
          <a:lstStyle/>
          <a:p>
            <a:pPr marL="0" indent="0">
              <a:lnSpc>
                <a:spcPts val="1800"/>
              </a:lnSpc>
              <a:buNone/>
            </a:pPr>
            <a:r>
              <a:rPr lang="en-US" sz="1350" b="1" dirty="0">
                <a:solidFill>
                  <a:srgbClr val="9C4A3C"/>
                </a:solidFill>
                <a:latin typeface="Calibri" pitchFamily="34" charset="0"/>
                <a:ea typeface="Calibri" pitchFamily="34" charset="-122"/>
                <a:cs typeface="Calibri" pitchFamily="34" charset="-120"/>
              </a:rPr>
              <a:t>De lo que no dispensa</a:t>
            </a:r>
            <a:endParaRPr lang="en-US" sz="1350" dirty="0"/>
          </a:p>
        </p:txBody>
      </p:sp>
      <p:sp>
        <p:nvSpPr>
          <p:cNvPr id="16" name="Text 14"/>
          <p:cNvSpPr/>
          <p:nvPr/>
        </p:nvSpPr>
        <p:spPr>
          <a:xfrm>
            <a:off x="7543800" y="3941064"/>
            <a:ext cx="3840480" cy="914400"/>
          </a:xfrm>
          <a:prstGeom prst="rect">
            <a:avLst/>
          </a:prstGeom>
          <a:noFill/>
          <a:ln/>
        </p:spPr>
        <p:txBody>
          <a:bodyPr wrap="square" lIns="0" tIns="0" rIns="0" bIns="0" rtlCol="0" anchor="ctr"/>
          <a:lstStyle/>
          <a:p>
            <a:pPr marL="0" indent="0">
              <a:lnSpc>
                <a:spcPts val="1700"/>
              </a:lnSpc>
              <a:buNone/>
            </a:pPr>
            <a:r>
              <a:rPr lang="en-US" sz="1200" dirty="0">
                <a:solidFill>
                  <a:srgbClr val="0E2233"/>
                </a:solidFill>
                <a:latin typeface="Calibri" pitchFamily="34" charset="0"/>
                <a:ea typeface="Calibri" pitchFamily="34" charset="-122"/>
                <a:cs typeface="Calibri" pitchFamily="34" charset="-120"/>
              </a:rPr>
              <a:t>Releer antes de difundir, verificar los cálculos, documentar las fuentes — y nunca volcar datos sensibles.</a:t>
            </a:r>
            <a:endParaRPr lang="en-US" sz="1200" dirty="0"/>
          </a:p>
        </p:txBody>
      </p:sp>
      <p:sp>
        <p:nvSpPr>
          <p:cNvPr id="17" name="Shape 15"/>
          <p:cNvSpPr/>
          <p:nvPr/>
        </p:nvSpPr>
        <p:spPr>
          <a:xfrm>
            <a:off x="548640" y="4983480"/>
            <a:ext cx="11091672" cy="960120"/>
          </a:xfrm>
          <a:prstGeom prst="roundRect">
            <a:avLst>
              <a:gd name="adj" fmla="val 8571"/>
            </a:avLst>
          </a:prstGeom>
          <a:solidFill>
            <a:srgbClr val="1C6E7D"/>
          </a:solidFill>
          <a:ln w="12700">
            <a:solidFill>
              <a:srgbClr val="1C6E7D"/>
            </a:solidFill>
            <a:prstDash val="solid"/>
          </a:ln>
        </p:spPr>
      </p:sp>
      <p:sp>
        <p:nvSpPr>
          <p:cNvPr id="18" name="Text 16"/>
          <p:cNvSpPr/>
          <p:nvPr/>
        </p:nvSpPr>
        <p:spPr>
          <a:xfrm>
            <a:off x="914400" y="4983480"/>
            <a:ext cx="10332720" cy="960120"/>
          </a:xfrm>
          <a:prstGeom prst="rect">
            <a:avLst/>
          </a:prstGeom>
          <a:noFill/>
          <a:ln/>
        </p:spPr>
        <p:txBody>
          <a:bodyPr wrap="square" lIns="0" tIns="0" rIns="0" bIns="0" rtlCol="0" anchor="ctr"/>
          <a:lstStyle/>
          <a:p>
            <a:pPr marL="0" indent="0">
              <a:lnSpc>
                <a:spcPts val="2000"/>
              </a:lnSpc>
              <a:buNone/>
            </a:pPr>
            <a:r>
              <a:rPr lang="en-US" sz="1350" b="1" dirty="0">
                <a:solidFill>
                  <a:srgbClr val="E29524"/>
                </a:solidFill>
                <a:latin typeface="Calibri" pitchFamily="34" charset="0"/>
                <a:ea typeface="Calibri" pitchFamily="34" charset="-122"/>
                <a:cs typeface="Calibri" pitchFamily="34" charset="-120"/>
              </a:rPr>
              <a:t>La regla del curso: </a:t>
            </a:r>
            <a:r>
              <a:rPr lang="en-US" sz="1350" dirty="0">
                <a:solidFill>
                  <a:srgbClr val="FFFFFF"/>
                </a:solidFill>
                <a:latin typeface="Calibri" pitchFamily="34" charset="0"/>
                <a:ea typeface="Calibri" pitchFamily="34" charset="-122"/>
                <a:cs typeface="Calibri" pitchFamily="34" charset="-120"/>
              </a:rPr>
              <a:t>el vibe coding es aceptable para prototipar, nunca para difundir. El propio Karpathy reservaba el método para proyectos sin consecuencias — una herramienta publicada debe ser releída, validada y documentada.</a:t>
            </a:r>
            <a:endParaRPr lang="en-US" sz="1350" dirty="0"/>
          </a:p>
        </p:txBody>
      </p:sp>
      <p:sp>
        <p:nvSpPr>
          <p:cNvPr id="19" name="Text 17"/>
          <p:cNvSpPr/>
          <p:nvPr/>
        </p:nvSpPr>
        <p:spPr>
          <a:xfrm>
            <a:off x="548640" y="6355080"/>
            <a:ext cx="7315200" cy="274320"/>
          </a:xfrm>
          <a:prstGeom prst="rect">
            <a:avLst/>
          </a:prstGeom>
          <a:noFill/>
          <a:ln/>
        </p:spPr>
        <p:txBody>
          <a:bodyPr wrap="square" lIns="0" tIns="0" rIns="0" bIns="0" rtlCol="0" anchor="ctr"/>
          <a:lstStyle/>
          <a:p>
            <a:pPr marL="0" indent="0">
              <a:buNone/>
            </a:pPr>
            <a:r>
              <a:rPr lang="en-US" sz="950" dirty="0">
                <a:solidFill>
                  <a:srgbClr val="5A6B78"/>
                </a:solidFill>
                <a:latin typeface="Calibri" pitchFamily="34" charset="0"/>
                <a:ea typeface="Calibri" pitchFamily="34" charset="-122"/>
                <a:cs typeface="Calibri" pitchFamily="34" charset="-120"/>
              </a:rPr>
              <a:t>Éric Robitaille, Ph. D. — CISSS des Laurentides / ESPUM</a:t>
            </a:r>
            <a:endParaRPr lang="en-US" sz="950" dirty="0"/>
          </a:p>
        </p:txBody>
      </p:sp>
      <p:sp>
        <p:nvSpPr>
          <p:cNvPr id="20" name="Text 18"/>
          <p:cNvSpPr/>
          <p:nvPr/>
        </p:nvSpPr>
        <p:spPr>
          <a:xfrm>
            <a:off x="11155680" y="6355080"/>
            <a:ext cx="502920" cy="274320"/>
          </a:xfrm>
          <a:prstGeom prst="rect">
            <a:avLst/>
          </a:prstGeom>
          <a:noFill/>
          <a:ln/>
        </p:spPr>
        <p:txBody>
          <a:bodyPr wrap="square" lIns="0" tIns="0" rIns="0" bIns="0" rtlCol="0" anchor="ctr"/>
          <a:lstStyle/>
          <a:p>
            <a:pPr marL="0" indent="0" algn="r">
              <a:buNone/>
            </a:pPr>
            <a:r>
              <a:rPr lang="en-US" sz="950" dirty="0">
                <a:solidFill>
                  <a:srgbClr val="5A6B78"/>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2233"/>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lIns="0" tIns="0" rIns="0" bIns="0" rtlCol="0" anchor="ctr"/>
          <a:lstStyle/>
          <a:p>
            <a:pPr marL="0" indent="0">
              <a:buNone/>
            </a:pPr>
            <a:r>
              <a:rPr lang="en-US" sz="1100" b="1" kern="0" spc="200" dirty="0">
                <a:solidFill>
                  <a:srgbClr val="3D9AA8"/>
                </a:solidFill>
                <a:latin typeface="Calibri" pitchFamily="34" charset="0"/>
                <a:ea typeface="Calibri" pitchFamily="34" charset="-122"/>
                <a:cs typeface="Calibri" pitchFamily="34" charset="-120"/>
              </a:rPr>
              <a:t>RESULTADO NO PLANIFICADO</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Estudiantes que se vuelven productores de herramientas</a:t>
            </a:r>
            <a:endParaRPr lang="en-US" sz="3200" dirty="0"/>
          </a:p>
        </p:txBody>
      </p:sp>
      <p:sp>
        <p:nvSpPr>
          <p:cNvPr id="4" name="Text 2"/>
          <p:cNvSpPr/>
          <p:nvPr/>
        </p:nvSpPr>
        <p:spPr>
          <a:xfrm>
            <a:off x="548640" y="1783080"/>
            <a:ext cx="5760720" cy="457200"/>
          </a:xfrm>
          <a:prstGeom prst="rect">
            <a:avLst/>
          </a:prstGeom>
          <a:noFill/>
          <a:ln/>
        </p:spPr>
        <p:txBody>
          <a:bodyPr wrap="square" lIns="0" tIns="0" rIns="0" bIns="0" rtlCol="0" anchor="ctr"/>
          <a:lstStyle/>
          <a:p>
            <a:pPr marL="0" indent="0">
              <a:buNone/>
            </a:pPr>
            <a:r>
              <a:rPr lang="en-US" sz="2100" b="1" dirty="0">
                <a:solidFill>
                  <a:srgbClr val="E29524"/>
                </a:solidFill>
                <a:latin typeface="Cambria" pitchFamily="34" charset="0"/>
                <a:ea typeface="Cambria" pitchFamily="34" charset="-122"/>
                <a:cs typeface="Cambria" pitchFamily="34" charset="-120"/>
              </a:rPr>
              <a:t>El umbral técnico se desplazó.</a:t>
            </a:r>
            <a:endParaRPr lang="en-US" sz="2100" dirty="0"/>
          </a:p>
        </p:txBody>
      </p:sp>
      <p:sp>
        <p:nvSpPr>
          <p:cNvPr id="5" name="Text 3"/>
          <p:cNvSpPr/>
          <p:nvPr/>
        </p:nvSpPr>
        <p:spPr>
          <a:xfrm>
            <a:off x="548640" y="2331720"/>
            <a:ext cx="5760720" cy="2926080"/>
          </a:xfrm>
          <a:prstGeom prst="rect">
            <a:avLst/>
          </a:prstGeom>
          <a:noFill/>
          <a:ln/>
        </p:spPr>
        <p:txBody>
          <a:bodyPr wrap="square" lIns="0" tIns="0" rIns="0" bIns="0" rtlCol="0" anchor="ctr"/>
          <a:lstStyle/>
          <a:p>
            <a:pPr marL="0" indent="0">
              <a:lnSpc>
                <a:spcPts val="2200"/>
              </a:lnSpc>
              <a:buNone/>
            </a:pPr>
            <a:r>
              <a:rPr lang="en-US" sz="1400" dirty="0">
                <a:solidFill>
                  <a:srgbClr val="C6D5DE"/>
                </a:solidFill>
                <a:latin typeface="Calibri" pitchFamily="34" charset="0"/>
                <a:ea typeface="Calibri" pitchFamily="34" charset="-122"/>
                <a:cs typeface="Calibri" pitchFamily="34" charset="-120"/>
              </a:rPr>
              <a:t>Producir una aplicación web funcional exigía antes meses de formación en programación. Ese prerrequisito desapareció — lo que queda, y que nunca fue automatizable, es saber qué pregunta merece una herramienta, qué datos son válidos y cómo debe interpretarse un resultado.</a:t>
            </a:r>
            <a:endParaRPr lang="en-US" sz="1400" dirty="0"/>
          </a:p>
          <a:p>
            <a:pPr marL="0" indent="0">
              <a:lnSpc>
                <a:spcPts val="2200"/>
              </a:lnSpc>
              <a:buNone/>
            </a:pPr>
            <a:endParaRPr lang="en-US" sz="1400" dirty="0"/>
          </a:p>
          <a:p>
            <a:pPr marL="0" indent="0">
              <a:lnSpc>
                <a:spcPts val="2200"/>
              </a:lnSpc>
              <a:buNone/>
            </a:pPr>
            <a:r>
              <a:rPr lang="en-US" sz="1400" dirty="0">
                <a:solidFill>
                  <a:srgbClr val="C6D5DE"/>
                </a:solidFill>
                <a:latin typeface="Calibri" pitchFamily="34" charset="0"/>
                <a:ea typeface="Calibri" pitchFamily="34" charset="-122"/>
                <a:cs typeface="Calibri" pitchFamily="34" charset="-120"/>
              </a:rPr>
              <a:t>Dicho de otro modo: la restricción se desplazó de la técnica hacia la experticia. Que es precisamente lo que el programa enseña.</a:t>
            </a:r>
            <a:endParaRPr lang="en-US" sz="1400" dirty="0"/>
          </a:p>
        </p:txBody>
      </p:sp>
      <p:sp>
        <p:nvSpPr>
          <p:cNvPr id="6" name="Shape 4"/>
          <p:cNvSpPr/>
          <p:nvPr/>
        </p:nvSpPr>
        <p:spPr>
          <a:xfrm>
            <a:off x="6629400" y="1828800"/>
            <a:ext cx="5010912" cy="960120"/>
          </a:xfrm>
          <a:prstGeom prst="roundRect">
            <a:avLst>
              <a:gd name="adj" fmla="val 7619"/>
            </a:avLst>
          </a:prstGeom>
          <a:solidFill>
            <a:srgbClr val="1A3A52"/>
          </a:solidFill>
          <a:ln/>
        </p:spPr>
      </p:sp>
      <p:sp>
        <p:nvSpPr>
          <p:cNvPr id="7" name="Shape 5"/>
          <p:cNvSpPr/>
          <p:nvPr/>
        </p:nvSpPr>
        <p:spPr>
          <a:xfrm>
            <a:off x="6903720" y="2103120"/>
            <a:ext cx="411480" cy="411480"/>
          </a:xfrm>
          <a:prstGeom prst="ellipse">
            <a:avLst/>
          </a:prstGeom>
          <a:solidFill>
            <a:srgbClr val="1C6E7D"/>
          </a:solidFill>
          <a:ln/>
        </p:spPr>
      </p:sp>
      <p:sp>
        <p:nvSpPr>
          <p:cNvPr id="8" name="Text 6"/>
          <p:cNvSpPr/>
          <p:nvPr/>
        </p:nvSpPr>
        <p:spPr>
          <a:xfrm>
            <a:off x="6903720" y="21031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7498080" y="1828800"/>
            <a:ext cx="3977640" cy="960120"/>
          </a:xfrm>
          <a:prstGeom prst="rect">
            <a:avLst/>
          </a:prstGeom>
          <a:noFill/>
          <a:ln/>
        </p:spPr>
        <p:txBody>
          <a:bodyPr wrap="square" lIns="0" tIns="0" rIns="0" bIns="0" rtlCol="0" anchor="ctr"/>
          <a:lstStyle/>
          <a:p>
            <a:pPr marL="0" indent="0">
              <a:lnSpc>
                <a:spcPts val="1800"/>
              </a:lnSpc>
              <a:buNone/>
            </a:pPr>
            <a:r>
              <a:rPr lang="en-US" sz="1250" dirty="0">
                <a:solidFill>
                  <a:srgbClr val="FFFFFF"/>
                </a:solidFill>
                <a:latin typeface="Calibri" pitchFamily="34" charset="0"/>
                <a:ea typeface="Calibri" pitchFamily="34" charset="-122"/>
                <a:cs typeface="Calibri" pitchFamily="34" charset="-120"/>
              </a:rPr>
              <a:t>Aplicaciones web desarrolladas de forma autónoma, fuera de las exigencias del curso</a:t>
            </a:r>
            <a:endParaRPr lang="en-US" sz="1250" dirty="0"/>
          </a:p>
        </p:txBody>
      </p:sp>
      <p:sp>
        <p:nvSpPr>
          <p:cNvPr id="10" name="Shape 8"/>
          <p:cNvSpPr/>
          <p:nvPr/>
        </p:nvSpPr>
        <p:spPr>
          <a:xfrm>
            <a:off x="6629400" y="2907792"/>
            <a:ext cx="5010912" cy="960120"/>
          </a:xfrm>
          <a:prstGeom prst="roundRect">
            <a:avLst>
              <a:gd name="adj" fmla="val 7619"/>
            </a:avLst>
          </a:prstGeom>
          <a:solidFill>
            <a:srgbClr val="1A3A52"/>
          </a:solidFill>
          <a:ln/>
        </p:spPr>
      </p:sp>
      <p:sp>
        <p:nvSpPr>
          <p:cNvPr id="11" name="Shape 9"/>
          <p:cNvSpPr/>
          <p:nvPr/>
        </p:nvSpPr>
        <p:spPr>
          <a:xfrm>
            <a:off x="6903720" y="3182112"/>
            <a:ext cx="411480" cy="411480"/>
          </a:xfrm>
          <a:prstGeom prst="ellipse">
            <a:avLst/>
          </a:prstGeom>
          <a:solidFill>
            <a:srgbClr val="1C6E7D"/>
          </a:solidFill>
          <a:ln/>
        </p:spPr>
      </p:sp>
      <p:sp>
        <p:nvSpPr>
          <p:cNvPr id="12" name="Text 10"/>
          <p:cNvSpPr/>
          <p:nvPr/>
        </p:nvSpPr>
        <p:spPr>
          <a:xfrm>
            <a:off x="6903720" y="318211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7498080" y="2907792"/>
            <a:ext cx="3977640" cy="960120"/>
          </a:xfrm>
          <a:prstGeom prst="rect">
            <a:avLst/>
          </a:prstGeom>
          <a:noFill/>
          <a:ln/>
        </p:spPr>
        <p:txBody>
          <a:bodyPr wrap="square" lIns="0" tIns="0" rIns="0" bIns="0" rtlCol="0" anchor="ctr"/>
          <a:lstStyle/>
          <a:p>
            <a:pPr marL="0" indent="0">
              <a:lnSpc>
                <a:spcPts val="1800"/>
              </a:lnSpc>
              <a:buNone/>
            </a:pPr>
            <a:r>
              <a:rPr lang="en-US" sz="1250" dirty="0">
                <a:solidFill>
                  <a:srgbClr val="FFFFFF"/>
                </a:solidFill>
                <a:latin typeface="Calibri" pitchFamily="34" charset="0"/>
                <a:ea typeface="Calibri" pitchFamily="34" charset="-122"/>
                <a:cs typeface="Calibri" pitchFamily="34" charset="-120"/>
              </a:rPr>
              <a:t>Una reapropiación de los datos abiertos quebequenses como materia prima</a:t>
            </a:r>
            <a:endParaRPr lang="en-US" sz="1250" dirty="0"/>
          </a:p>
        </p:txBody>
      </p:sp>
      <p:sp>
        <p:nvSpPr>
          <p:cNvPr id="14" name="Shape 12"/>
          <p:cNvSpPr/>
          <p:nvPr/>
        </p:nvSpPr>
        <p:spPr>
          <a:xfrm>
            <a:off x="6629400" y="3986784"/>
            <a:ext cx="5010912" cy="960120"/>
          </a:xfrm>
          <a:prstGeom prst="roundRect">
            <a:avLst>
              <a:gd name="adj" fmla="val 7619"/>
            </a:avLst>
          </a:prstGeom>
          <a:solidFill>
            <a:srgbClr val="1A3A52"/>
          </a:solidFill>
          <a:ln/>
        </p:spPr>
      </p:sp>
      <p:sp>
        <p:nvSpPr>
          <p:cNvPr id="15" name="Shape 13"/>
          <p:cNvSpPr/>
          <p:nvPr/>
        </p:nvSpPr>
        <p:spPr>
          <a:xfrm>
            <a:off x="6903720" y="4261104"/>
            <a:ext cx="411480" cy="411480"/>
          </a:xfrm>
          <a:prstGeom prst="ellipse">
            <a:avLst/>
          </a:prstGeom>
          <a:solidFill>
            <a:srgbClr val="1C6E7D"/>
          </a:solidFill>
          <a:ln/>
        </p:spPr>
      </p:sp>
      <p:sp>
        <p:nvSpPr>
          <p:cNvPr id="16" name="Text 14"/>
          <p:cNvSpPr/>
          <p:nvPr/>
        </p:nvSpPr>
        <p:spPr>
          <a:xfrm>
            <a:off x="6903720" y="4261104"/>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7498080" y="3986784"/>
            <a:ext cx="3977640" cy="960120"/>
          </a:xfrm>
          <a:prstGeom prst="rect">
            <a:avLst/>
          </a:prstGeom>
          <a:noFill/>
          <a:ln/>
        </p:spPr>
        <p:txBody>
          <a:bodyPr wrap="square" lIns="0" tIns="0" rIns="0" bIns="0" rtlCol="0" anchor="ctr"/>
          <a:lstStyle/>
          <a:p>
            <a:pPr marL="0" indent="0">
              <a:lnSpc>
                <a:spcPts val="1800"/>
              </a:lnSpc>
              <a:buNone/>
            </a:pPr>
            <a:r>
              <a:rPr lang="en-US" sz="1250" dirty="0">
                <a:solidFill>
                  <a:srgbClr val="FFFFFF"/>
                </a:solidFill>
                <a:latin typeface="Calibri" pitchFamily="34" charset="0"/>
                <a:ea typeface="Calibri" pitchFamily="34" charset="-122"/>
                <a:cs typeface="Calibri" pitchFamily="34" charset="-120"/>
              </a:rPr>
              <a:t>Entregables compartibles con un centro de pasantía en vez de un trabajo entregado y olvidado</a:t>
            </a:r>
            <a:endParaRPr lang="en-US" sz="1250" dirty="0"/>
          </a:p>
        </p:txBody>
      </p:sp>
      <p:sp>
        <p:nvSpPr>
          <p:cNvPr id="18" name="Shape 16"/>
          <p:cNvSpPr/>
          <p:nvPr/>
        </p:nvSpPr>
        <p:spPr>
          <a:xfrm>
            <a:off x="6629400" y="5065776"/>
            <a:ext cx="5010912" cy="960120"/>
          </a:xfrm>
          <a:prstGeom prst="roundRect">
            <a:avLst>
              <a:gd name="adj" fmla="val 7619"/>
            </a:avLst>
          </a:prstGeom>
          <a:solidFill>
            <a:srgbClr val="1A3A52"/>
          </a:solidFill>
          <a:ln/>
        </p:spPr>
      </p:sp>
      <p:sp>
        <p:nvSpPr>
          <p:cNvPr id="19" name="Shape 17"/>
          <p:cNvSpPr/>
          <p:nvPr/>
        </p:nvSpPr>
        <p:spPr>
          <a:xfrm>
            <a:off x="6903720" y="5340096"/>
            <a:ext cx="411480" cy="411480"/>
          </a:xfrm>
          <a:prstGeom prst="ellipse">
            <a:avLst/>
          </a:prstGeom>
          <a:solidFill>
            <a:srgbClr val="1C6E7D"/>
          </a:solidFill>
          <a:ln/>
        </p:spPr>
      </p:sp>
      <p:sp>
        <p:nvSpPr>
          <p:cNvPr id="20" name="Text 18"/>
          <p:cNvSpPr/>
          <p:nvPr/>
        </p:nvSpPr>
        <p:spPr>
          <a:xfrm>
            <a:off x="6903720" y="5340096"/>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7498080" y="5065776"/>
            <a:ext cx="3977640" cy="960120"/>
          </a:xfrm>
          <a:prstGeom prst="rect">
            <a:avLst/>
          </a:prstGeom>
          <a:noFill/>
          <a:ln/>
        </p:spPr>
        <p:txBody>
          <a:bodyPr wrap="square" lIns="0" tIns="0" rIns="0" bIns="0" rtlCol="0" anchor="ctr"/>
          <a:lstStyle/>
          <a:p>
            <a:pPr marL="0" indent="0">
              <a:lnSpc>
                <a:spcPts val="1800"/>
              </a:lnSpc>
              <a:buNone/>
            </a:pPr>
            <a:r>
              <a:rPr lang="en-US" sz="1250" dirty="0">
                <a:solidFill>
                  <a:srgbClr val="FFFFFF"/>
                </a:solidFill>
                <a:latin typeface="Calibri" pitchFamily="34" charset="0"/>
                <a:ea typeface="Calibri" pitchFamily="34" charset="-122"/>
                <a:cs typeface="Calibri" pitchFamily="34" charset="-120"/>
              </a:rPr>
              <a:t>Una relación más crítica con la herramienta: se detectan mejor los errores cuando uno ha construido</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lIns="0" tIns="0" rIns="0" bIns="0" rtlCol="0" anchor="ctr"/>
          <a:lstStyle/>
          <a:p>
            <a:pPr marL="0" indent="0">
              <a:buNone/>
            </a:pPr>
            <a:r>
              <a:rPr lang="en-US" sz="1100" b="1" kern="0" spc="200" dirty="0">
                <a:solidFill>
                  <a:srgbClr val="1C6E7D"/>
                </a:solidFill>
                <a:latin typeface="Calibri" pitchFamily="34" charset="0"/>
                <a:ea typeface="Calibri" pitchFamily="34" charset="-122"/>
                <a:cs typeface="Calibri" pitchFamily="34" charset="-120"/>
              </a:rPr>
              <a:t>RESULTADO</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400" b="1" dirty="0">
                <a:solidFill>
                  <a:srgbClr val="0E2233"/>
                </a:solidFill>
                <a:latin typeface="Cambria" pitchFamily="34" charset="0"/>
                <a:ea typeface="Cambria" pitchFamily="34" charset="-122"/>
                <a:cs typeface="Cambria" pitchFamily="34" charset="-120"/>
              </a:rPr>
              <a:t>Lo que el curso desplaza — y lo que no</a:t>
            </a:r>
            <a:endParaRPr lang="en-US" sz="3400" dirty="0"/>
          </a:p>
        </p:txBody>
      </p:sp>
      <p:sp>
        <p:nvSpPr>
          <p:cNvPr id="4" name="Shape 2"/>
          <p:cNvSpPr/>
          <p:nvPr/>
        </p:nvSpPr>
        <p:spPr>
          <a:xfrm>
            <a:off x="548640" y="1783080"/>
            <a:ext cx="11091672" cy="1920240"/>
          </a:xfrm>
          <a:prstGeom prst="roundRect">
            <a:avLst>
              <a:gd name="adj" fmla="val 4286"/>
            </a:avLst>
          </a:prstGeom>
          <a:solidFill>
            <a:srgbClr val="E7EDF1"/>
          </a:solidFill>
          <a:ln w="12700">
            <a:solidFill>
              <a:srgbClr val="E7EDF1"/>
            </a:solidFill>
            <a:prstDash val="solid"/>
          </a:ln>
        </p:spPr>
      </p:sp>
      <p:sp>
        <p:nvSpPr>
          <p:cNvPr id="5" name="Text 3"/>
          <p:cNvSpPr/>
          <p:nvPr/>
        </p:nvSpPr>
        <p:spPr>
          <a:xfrm>
            <a:off x="914400" y="1783080"/>
            <a:ext cx="2011680" cy="1920240"/>
          </a:xfrm>
          <a:prstGeom prst="rect">
            <a:avLst/>
          </a:prstGeom>
          <a:noFill/>
          <a:ln/>
        </p:spPr>
        <p:txBody>
          <a:bodyPr wrap="square" lIns="0" tIns="0" rIns="0" bIns="0" rtlCol="0" anchor="ctr"/>
          <a:lstStyle/>
          <a:p>
            <a:pPr marL="0" indent="0">
              <a:lnSpc>
                <a:spcPts val="2600"/>
              </a:lnSpc>
              <a:buNone/>
            </a:pPr>
            <a:r>
              <a:rPr lang="en-US" sz="2100" b="1" dirty="0">
                <a:solidFill>
                  <a:srgbClr val="9C4A3C"/>
                </a:solidFill>
                <a:latin typeface="Cambria" pitchFamily="34" charset="0"/>
                <a:ea typeface="Cambria" pitchFamily="34" charset="-122"/>
                <a:cs typeface="Cambria" pitchFamily="34" charset="-120"/>
              </a:rPr>
              <a:t>Fuera del</a:t>
            </a:r>
            <a:endParaRPr lang="en-US" sz="2100" dirty="0"/>
          </a:p>
          <a:p>
            <a:pPr marL="0" indent="0">
              <a:lnSpc>
                <a:spcPts val="2600"/>
              </a:lnSpc>
              <a:buNone/>
            </a:pPr>
            <a:r>
              <a:rPr lang="en-US" sz="2100" b="1" dirty="0">
                <a:solidFill>
                  <a:srgbClr val="9C4A3C"/>
                </a:solidFill>
                <a:latin typeface="Cambria" pitchFamily="34" charset="0"/>
                <a:ea typeface="Cambria" pitchFamily="34" charset="-122"/>
                <a:cs typeface="Cambria" pitchFamily="34" charset="-120"/>
              </a:rPr>
              <a:t>alcance</a:t>
            </a:r>
            <a:endParaRPr lang="en-US" sz="2100" dirty="0"/>
          </a:p>
        </p:txBody>
      </p:sp>
      <p:sp>
        <p:nvSpPr>
          <p:cNvPr id="6" name="Text 4"/>
          <p:cNvSpPr/>
          <p:nvPr/>
        </p:nvSpPr>
        <p:spPr>
          <a:xfrm>
            <a:off x="3108960" y="1874520"/>
            <a:ext cx="8138160" cy="173736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50" dirty="0">
                <a:solidFill>
                  <a:srgbClr val="0E2233"/>
                </a:solidFill>
                <a:latin typeface="Calibri" pitchFamily="34" charset="0"/>
                <a:ea typeface="Calibri" pitchFamily="34" charset="-122"/>
                <a:cs typeface="Calibri" pitchFamily="34" charset="-120"/>
              </a:rPr>
              <a:t>La tasa de adopción: ya estaba cerca del 100 % antes de la primera sesión.</a:t>
            </a:r>
            <a:endParaRPr lang="en-US" sz="1250" dirty="0"/>
          </a:p>
          <a:p>
            <a:pPr marL="342900" indent="-342900">
              <a:lnSpc>
                <a:spcPts val="1700"/>
              </a:lnSpc>
              <a:spcAft>
                <a:spcPts val="700"/>
              </a:spcAft>
              <a:buSzPct val="100000"/>
              <a:buChar char="•"/>
            </a:pPr>
            <a:r>
              <a:rPr lang="en-US" sz="1250" dirty="0">
                <a:solidFill>
                  <a:srgbClr val="0E2233"/>
                </a:solidFill>
                <a:latin typeface="Calibri" pitchFamily="34" charset="0"/>
                <a:ea typeface="Calibri" pitchFamily="34" charset="-122"/>
                <a:cs typeface="Calibri" pitchFamily="34" charset="-120"/>
              </a:rPr>
              <a:t>La velocidad de difusión de las herramientas, que supera la de los programas y las políticas.</a:t>
            </a:r>
            <a:endParaRPr lang="en-US" sz="1250" dirty="0"/>
          </a:p>
          <a:p>
            <a:pPr marL="342900" indent="-342900">
              <a:lnSpc>
                <a:spcPts val="1700"/>
              </a:lnSpc>
              <a:spcAft>
                <a:spcPts val="700"/>
              </a:spcAft>
              <a:buSzPct val="100000"/>
              <a:buChar char="•"/>
            </a:pPr>
            <a:r>
              <a:rPr lang="en-US" sz="1250" dirty="0">
                <a:solidFill>
                  <a:srgbClr val="0E2233"/>
                </a:solidFill>
                <a:latin typeface="Calibri" pitchFamily="34" charset="0"/>
                <a:ea typeface="Calibri" pitchFamily="34" charset="-122"/>
                <a:cs typeface="Calibri" pitchFamily="34" charset="-120"/>
              </a:rPr>
              <a:t>La desigualdad de acceso a las funcionalidades de pago.</a:t>
            </a:r>
            <a:endParaRPr lang="en-US" sz="1250" dirty="0"/>
          </a:p>
          <a:p>
            <a:pPr marL="342900" indent="-342900">
              <a:lnSpc>
                <a:spcPts val="1700"/>
              </a:lnSpc>
              <a:spcAft>
                <a:spcPts val="700"/>
              </a:spcAft>
              <a:buSzPct val="100000"/>
              <a:buChar char="•"/>
            </a:pPr>
            <a:r>
              <a:rPr lang="en-US" sz="1250" dirty="0">
                <a:solidFill>
                  <a:srgbClr val="0E2233"/>
                </a:solidFill>
                <a:latin typeface="Calibri" pitchFamily="34" charset="0"/>
                <a:ea typeface="Calibri" pitchFamily="34" charset="-122"/>
                <a:cs typeface="Calibri" pitchFamily="34" charset="-120"/>
              </a:rPr>
              <a:t>La tentación de delegar el juicio — se contiene, no se elimina.</a:t>
            </a:r>
            <a:endParaRPr lang="en-US" sz="1250" dirty="0"/>
          </a:p>
        </p:txBody>
      </p:sp>
      <p:sp>
        <p:nvSpPr>
          <p:cNvPr id="7" name="Shape 5"/>
          <p:cNvSpPr/>
          <p:nvPr/>
        </p:nvSpPr>
        <p:spPr>
          <a:xfrm>
            <a:off x="548640" y="3886200"/>
            <a:ext cx="11091672" cy="1920240"/>
          </a:xfrm>
          <a:prstGeom prst="roundRect">
            <a:avLst>
              <a:gd name="adj" fmla="val 4286"/>
            </a:avLst>
          </a:prstGeom>
          <a:solidFill>
            <a:srgbClr val="1C6E7D"/>
          </a:solidFill>
          <a:ln w="12700">
            <a:solidFill>
              <a:srgbClr val="1C6E7D"/>
            </a:solidFill>
            <a:prstDash val="solid"/>
          </a:ln>
        </p:spPr>
      </p:sp>
      <p:sp>
        <p:nvSpPr>
          <p:cNvPr id="8" name="Text 6"/>
          <p:cNvSpPr/>
          <p:nvPr/>
        </p:nvSpPr>
        <p:spPr>
          <a:xfrm>
            <a:off x="914400" y="3886200"/>
            <a:ext cx="2103120" cy="1920240"/>
          </a:xfrm>
          <a:prstGeom prst="rect">
            <a:avLst/>
          </a:prstGeom>
          <a:noFill/>
          <a:ln/>
        </p:spPr>
        <p:txBody>
          <a:bodyPr wrap="square" lIns="0" tIns="0" rIns="0" bIns="0" rtlCol="0" anchor="ctr"/>
          <a:lstStyle/>
          <a:p>
            <a:pPr marL="0" indent="0">
              <a:lnSpc>
                <a:spcPts val="2400"/>
              </a:lnSpc>
              <a:buNone/>
            </a:pPr>
            <a:r>
              <a:rPr lang="en-US" sz="1900" b="1" dirty="0">
                <a:solidFill>
                  <a:srgbClr val="E29524"/>
                </a:solidFill>
                <a:latin typeface="Cambria" pitchFamily="34" charset="0"/>
                <a:ea typeface="Cambria" pitchFamily="34" charset="-122"/>
                <a:cs typeface="Cambria" pitchFamily="34" charset="-120"/>
              </a:rPr>
              <a:t>Lo que el</a:t>
            </a:r>
            <a:endParaRPr lang="en-US" sz="1900" dirty="0"/>
          </a:p>
          <a:p>
            <a:pPr marL="0" indent="0">
              <a:lnSpc>
                <a:spcPts val="2400"/>
              </a:lnSpc>
              <a:buNone/>
            </a:pPr>
            <a:r>
              <a:rPr lang="en-US" sz="1900" b="1" dirty="0">
                <a:solidFill>
                  <a:srgbClr val="E29524"/>
                </a:solidFill>
                <a:latin typeface="Cambria" pitchFamily="34" charset="0"/>
                <a:ea typeface="Cambria" pitchFamily="34" charset="-122"/>
                <a:cs typeface="Cambria" pitchFamily="34" charset="-120"/>
              </a:rPr>
              <a:t>curso desplaza</a:t>
            </a:r>
            <a:endParaRPr lang="en-US" sz="1900" dirty="0"/>
          </a:p>
        </p:txBody>
      </p:sp>
      <p:sp>
        <p:nvSpPr>
          <p:cNvPr id="9" name="Text 7"/>
          <p:cNvSpPr/>
          <p:nvPr/>
        </p:nvSpPr>
        <p:spPr>
          <a:xfrm>
            <a:off x="3200400" y="3977640"/>
            <a:ext cx="8046720" cy="173736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El uso se vuelve decible, por tanto discutible, por tanto corregible.</a:t>
            </a:r>
            <a:endParaRPr lang="en-US" sz="1250" dirty="0"/>
          </a:p>
          <a:p>
            <a:pPr marL="342900" indent="-342900">
              <a:lnSpc>
                <a:spcPts val="1700"/>
              </a:lnSpc>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El proceso se documenta: los estudiantes saben explicar qué pidieron y por qué.</a:t>
            </a:r>
            <a:endParaRPr lang="en-US" sz="1250" dirty="0"/>
          </a:p>
          <a:p>
            <a:pPr marL="342900" indent="-342900">
              <a:lnSpc>
                <a:spcPts val="1700"/>
              </a:lnSpc>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La brecha se reduce entre los autodidactas y quienes no se atrevían.</a:t>
            </a:r>
            <a:endParaRPr lang="en-US" sz="1250" dirty="0"/>
          </a:p>
          <a:p>
            <a:pPr marL="342900" indent="-342900">
              <a:lnSpc>
                <a:spcPts val="1700"/>
              </a:lnSpc>
              <a:spcAft>
                <a:spcPts val="700"/>
              </a:spcAft>
              <a:buSzPct val="100000"/>
              <a:buChar char="•"/>
            </a:pPr>
            <a:r>
              <a:rPr lang="en-US" sz="1250" dirty="0">
                <a:solidFill>
                  <a:srgbClr val="FFFFFF"/>
                </a:solidFill>
                <a:latin typeface="Calibri" pitchFamily="34" charset="0"/>
                <a:ea typeface="Calibri" pitchFamily="34" charset="-122"/>
                <a:cs typeface="Calibri" pitchFamily="34" charset="-120"/>
              </a:rPr>
              <a:t>La ambición de los entregables sube — hasta aplicaciones desarrolladas de forma autónoma.</a:t>
            </a:r>
            <a:endParaRPr lang="en-US" sz="1250" dirty="0"/>
          </a:p>
        </p:txBody>
      </p:sp>
      <p:sp>
        <p:nvSpPr>
          <p:cNvPr id="10" name="Text 8"/>
          <p:cNvSpPr/>
          <p:nvPr/>
        </p:nvSpPr>
        <p:spPr>
          <a:xfrm>
            <a:off x="548640" y="5925312"/>
            <a:ext cx="11091672" cy="320040"/>
          </a:xfrm>
          <a:prstGeom prst="rect">
            <a:avLst/>
          </a:prstGeom>
          <a:noFill/>
          <a:ln/>
        </p:spPr>
        <p:txBody>
          <a:bodyPr wrap="square" lIns="0" tIns="0" rIns="0" bIns="0" rtlCol="0" anchor="ctr"/>
          <a:lstStyle/>
          <a:p>
            <a:pPr marL="0" indent="0">
              <a:buNone/>
            </a:pPr>
            <a:r>
              <a:rPr lang="en-US" sz="1150" i="1" dirty="0">
                <a:solidFill>
                  <a:srgbClr val="5A6B78"/>
                </a:solidFill>
                <a:latin typeface="Calibri" pitchFamily="34" charset="0"/>
                <a:ea typeface="Calibri" pitchFamily="34" charset="-122"/>
                <a:cs typeface="Calibri" pitchFamily="34" charset="-120"/>
              </a:rPr>
              <a:t>Observaciones cualitativas extraídas de los trabajos entregados — por documentar sistemáticamente en las próximas cohortes.</a:t>
            </a:r>
            <a:endParaRPr lang="en-US" sz="1150" dirty="0"/>
          </a:p>
        </p:txBody>
      </p:sp>
      <p:sp>
        <p:nvSpPr>
          <p:cNvPr id="11" name="Text 9"/>
          <p:cNvSpPr/>
          <p:nvPr/>
        </p:nvSpPr>
        <p:spPr>
          <a:xfrm>
            <a:off x="548640" y="6355080"/>
            <a:ext cx="7315200" cy="274320"/>
          </a:xfrm>
          <a:prstGeom prst="rect">
            <a:avLst/>
          </a:prstGeom>
          <a:noFill/>
          <a:ln/>
        </p:spPr>
        <p:txBody>
          <a:bodyPr wrap="square" lIns="0" tIns="0" rIns="0" bIns="0" rtlCol="0" anchor="ctr"/>
          <a:lstStyle/>
          <a:p>
            <a:pPr marL="0" indent="0">
              <a:buNone/>
            </a:pPr>
            <a:r>
              <a:rPr lang="en-US" sz="950" dirty="0">
                <a:solidFill>
                  <a:srgbClr val="5A6B78"/>
                </a:solidFill>
                <a:latin typeface="Calibri" pitchFamily="34" charset="0"/>
                <a:ea typeface="Calibri" pitchFamily="34" charset="-122"/>
                <a:cs typeface="Calibri" pitchFamily="34" charset="-120"/>
              </a:rPr>
              <a:t>Éric Robitaille, Ph. D. — CISSS des Laurentides / ESPUM</a:t>
            </a:r>
            <a:endParaRPr lang="en-US" sz="950" dirty="0"/>
          </a:p>
        </p:txBody>
      </p:sp>
      <p:sp>
        <p:nvSpPr>
          <p:cNvPr id="12" name="Text 10"/>
          <p:cNvSpPr/>
          <p:nvPr/>
        </p:nvSpPr>
        <p:spPr>
          <a:xfrm>
            <a:off x="11155680" y="6355080"/>
            <a:ext cx="502920" cy="274320"/>
          </a:xfrm>
          <a:prstGeom prst="rect">
            <a:avLst/>
          </a:prstGeom>
          <a:noFill/>
          <a:ln/>
        </p:spPr>
        <p:txBody>
          <a:bodyPr wrap="square" lIns="0" tIns="0" rIns="0" bIns="0" rtlCol="0" anchor="ctr"/>
          <a:lstStyle/>
          <a:p>
            <a:pPr marL="0" indent="0" algn="r">
              <a:buNone/>
            </a:pPr>
            <a:r>
              <a:rPr lang="en-US" sz="950" dirty="0">
                <a:solidFill>
                  <a:srgbClr val="5A6B78"/>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lIns="0" tIns="0" rIns="0" bIns="0" rtlCol="0" anchor="ctr"/>
          <a:lstStyle/>
          <a:p>
            <a:pPr marL="0" indent="0">
              <a:buNone/>
            </a:pPr>
            <a:r>
              <a:rPr lang="en-US" sz="1100" b="1" kern="0" spc="200" dirty="0">
                <a:solidFill>
                  <a:srgbClr val="1C6E7D"/>
                </a:solidFill>
                <a:latin typeface="Calibri" pitchFamily="34" charset="0"/>
                <a:ea typeface="Calibri" pitchFamily="34" charset="-122"/>
                <a:cs typeface="Calibri" pitchFamily="34" charset="-120"/>
              </a:rPr>
              <a:t>SALVAGUARDAS</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400" b="1" dirty="0">
                <a:solidFill>
                  <a:srgbClr val="0E2233"/>
                </a:solidFill>
                <a:latin typeface="Cambria" pitchFamily="34" charset="0"/>
                <a:ea typeface="Cambria" pitchFamily="34" charset="-122"/>
                <a:cs typeface="Cambria" pitchFamily="34" charset="-120"/>
              </a:rPr>
              <a:t>Lo que el enfoque no resuelve</a:t>
            </a:r>
            <a:endParaRPr lang="en-US" sz="3400" dirty="0"/>
          </a:p>
        </p:txBody>
      </p:sp>
      <p:sp>
        <p:nvSpPr>
          <p:cNvPr id="4" name="Shape 2"/>
          <p:cNvSpPr/>
          <p:nvPr/>
        </p:nvSpPr>
        <p:spPr>
          <a:xfrm>
            <a:off x="548640" y="1737360"/>
            <a:ext cx="3538728" cy="2011680"/>
          </a:xfrm>
          <a:prstGeom prst="roundRect">
            <a:avLst>
              <a:gd name="adj" fmla="val 4091"/>
            </a:avLst>
          </a:prstGeom>
          <a:solidFill>
            <a:srgbClr val="F1F5F7"/>
          </a:solidFill>
          <a:ln w="12700">
            <a:solidFill>
              <a:srgbClr val="F1F5F7"/>
            </a:solidFill>
            <a:prstDash val="solid"/>
          </a:ln>
        </p:spPr>
      </p:sp>
      <p:sp>
        <p:nvSpPr>
          <p:cNvPr id="5" name="Text 3"/>
          <p:cNvSpPr/>
          <p:nvPr/>
        </p:nvSpPr>
        <p:spPr>
          <a:xfrm>
            <a:off x="841248" y="1938528"/>
            <a:ext cx="2971800" cy="384048"/>
          </a:xfrm>
          <a:prstGeom prst="rect">
            <a:avLst/>
          </a:prstGeom>
          <a:noFill/>
          <a:ln/>
        </p:spPr>
        <p:txBody>
          <a:bodyPr wrap="square" lIns="0" tIns="0" rIns="0" bIns="0" rtlCol="0" anchor="ctr"/>
          <a:lstStyle/>
          <a:p>
            <a:pPr marL="0" indent="0">
              <a:buNone/>
            </a:pPr>
            <a:r>
              <a:rPr lang="en-US" sz="1600" b="1" dirty="0">
                <a:solidFill>
                  <a:srgbClr val="9C4A3C"/>
                </a:solidFill>
                <a:latin typeface="Calibri" pitchFamily="34" charset="0"/>
                <a:ea typeface="Calibri" pitchFamily="34" charset="-122"/>
                <a:cs typeface="Calibri" pitchFamily="34" charset="-120"/>
              </a:rPr>
              <a:t>Alucinaciones</a:t>
            </a:r>
            <a:endParaRPr lang="en-US" sz="1600" dirty="0"/>
          </a:p>
        </p:txBody>
      </p:sp>
      <p:sp>
        <p:nvSpPr>
          <p:cNvPr id="6" name="Text 4"/>
          <p:cNvSpPr/>
          <p:nvPr/>
        </p:nvSpPr>
        <p:spPr>
          <a:xfrm>
            <a:off x="841248" y="2377440"/>
            <a:ext cx="2971800" cy="1234440"/>
          </a:xfrm>
          <a:prstGeom prst="rect">
            <a:avLst/>
          </a:prstGeom>
          <a:noFill/>
          <a:ln/>
        </p:spPr>
        <p:txBody>
          <a:bodyPr wrap="square" lIns="0" tIns="0" rIns="0" bIns="0" rtlCol="0" anchor="ctr"/>
          <a:lstStyle/>
          <a:p>
            <a:pPr marL="0" indent="0">
              <a:lnSpc>
                <a:spcPts val="1800"/>
              </a:lnSpc>
              <a:buNone/>
            </a:pPr>
            <a:r>
              <a:rPr lang="en-US" sz="1200" dirty="0">
                <a:solidFill>
                  <a:srgbClr val="5A6B78"/>
                </a:solidFill>
                <a:latin typeface="Calibri" pitchFamily="34" charset="0"/>
                <a:ea typeface="Calibri" pitchFamily="34" charset="-122"/>
                <a:cs typeface="Calibri" pitchFamily="34" charset="-120"/>
              </a:rPr>
              <a:t>Referencias inventadas y cifras plausibles pero falsas siguen siendo el riesgo principal. La verificación sistemática es una consigna, no un consejo.</a:t>
            </a:r>
            <a:endParaRPr lang="en-US" sz="1200" dirty="0"/>
          </a:p>
        </p:txBody>
      </p:sp>
      <p:sp>
        <p:nvSpPr>
          <p:cNvPr id="7" name="Shape 5"/>
          <p:cNvSpPr/>
          <p:nvPr/>
        </p:nvSpPr>
        <p:spPr>
          <a:xfrm>
            <a:off x="4325112" y="1737360"/>
            <a:ext cx="3538728" cy="2011680"/>
          </a:xfrm>
          <a:prstGeom prst="roundRect">
            <a:avLst>
              <a:gd name="adj" fmla="val 4091"/>
            </a:avLst>
          </a:prstGeom>
          <a:solidFill>
            <a:srgbClr val="F1F5F7"/>
          </a:solidFill>
          <a:ln w="12700">
            <a:solidFill>
              <a:srgbClr val="F1F5F7"/>
            </a:solidFill>
            <a:prstDash val="solid"/>
          </a:ln>
        </p:spPr>
      </p:sp>
      <p:sp>
        <p:nvSpPr>
          <p:cNvPr id="8" name="Text 6"/>
          <p:cNvSpPr/>
          <p:nvPr/>
        </p:nvSpPr>
        <p:spPr>
          <a:xfrm>
            <a:off x="4617720" y="1938528"/>
            <a:ext cx="2971800" cy="384048"/>
          </a:xfrm>
          <a:prstGeom prst="rect">
            <a:avLst/>
          </a:prstGeom>
          <a:noFill/>
          <a:ln/>
        </p:spPr>
        <p:txBody>
          <a:bodyPr wrap="square" lIns="0" tIns="0" rIns="0" bIns="0" rtlCol="0" anchor="ctr"/>
          <a:lstStyle/>
          <a:p>
            <a:pPr marL="0" indent="0">
              <a:buNone/>
            </a:pPr>
            <a:r>
              <a:rPr lang="en-US" sz="1600" b="1" dirty="0">
                <a:solidFill>
                  <a:srgbClr val="9C4A3C"/>
                </a:solidFill>
                <a:latin typeface="Calibri" pitchFamily="34" charset="0"/>
                <a:ea typeface="Calibri" pitchFamily="34" charset="-122"/>
                <a:cs typeface="Calibri" pitchFamily="34" charset="-120"/>
              </a:rPr>
              <a:t>Datos sensibles</a:t>
            </a:r>
            <a:endParaRPr lang="en-US" sz="1600" dirty="0"/>
          </a:p>
        </p:txBody>
      </p:sp>
      <p:sp>
        <p:nvSpPr>
          <p:cNvPr id="9" name="Text 7"/>
          <p:cNvSpPr/>
          <p:nvPr/>
        </p:nvSpPr>
        <p:spPr>
          <a:xfrm>
            <a:off x="4617720" y="2377440"/>
            <a:ext cx="2971800" cy="1234440"/>
          </a:xfrm>
          <a:prstGeom prst="rect">
            <a:avLst/>
          </a:prstGeom>
          <a:noFill/>
          <a:ln/>
        </p:spPr>
        <p:txBody>
          <a:bodyPr wrap="square" lIns="0" tIns="0" rIns="0" bIns="0" rtlCol="0" anchor="ctr"/>
          <a:lstStyle/>
          <a:p>
            <a:pPr marL="0" indent="0">
              <a:lnSpc>
                <a:spcPts val="1800"/>
              </a:lnSpc>
              <a:buNone/>
            </a:pPr>
            <a:r>
              <a:rPr lang="en-US" sz="1200" dirty="0">
                <a:solidFill>
                  <a:srgbClr val="5A6B78"/>
                </a:solidFill>
                <a:latin typeface="Calibri" pitchFamily="34" charset="0"/>
                <a:ea typeface="Calibri" pitchFamily="34" charset="-122"/>
                <a:cs typeface="Calibri" pitchFamily="34" charset="-120"/>
              </a:rPr>
              <a:t>Ningún dato nominativo ni información personal de salud en una herramienta externa — la regla vale para el curso y para el ejercicio profesional.</a:t>
            </a:r>
            <a:endParaRPr lang="en-US" sz="1200" dirty="0"/>
          </a:p>
        </p:txBody>
      </p:sp>
      <p:sp>
        <p:nvSpPr>
          <p:cNvPr id="10" name="Shape 8"/>
          <p:cNvSpPr/>
          <p:nvPr/>
        </p:nvSpPr>
        <p:spPr>
          <a:xfrm>
            <a:off x="8101584" y="1737360"/>
            <a:ext cx="3538728" cy="2011680"/>
          </a:xfrm>
          <a:prstGeom prst="roundRect">
            <a:avLst>
              <a:gd name="adj" fmla="val 4091"/>
            </a:avLst>
          </a:prstGeom>
          <a:solidFill>
            <a:srgbClr val="F1F5F7"/>
          </a:solidFill>
          <a:ln w="12700">
            <a:solidFill>
              <a:srgbClr val="F1F5F7"/>
            </a:solidFill>
            <a:prstDash val="solid"/>
          </a:ln>
        </p:spPr>
      </p:sp>
      <p:sp>
        <p:nvSpPr>
          <p:cNvPr id="11" name="Text 9"/>
          <p:cNvSpPr/>
          <p:nvPr/>
        </p:nvSpPr>
        <p:spPr>
          <a:xfrm>
            <a:off x="8394192" y="1938528"/>
            <a:ext cx="2971800" cy="384048"/>
          </a:xfrm>
          <a:prstGeom prst="rect">
            <a:avLst/>
          </a:prstGeom>
          <a:noFill/>
          <a:ln/>
        </p:spPr>
        <p:txBody>
          <a:bodyPr wrap="square" lIns="0" tIns="0" rIns="0" bIns="0" rtlCol="0" anchor="ctr"/>
          <a:lstStyle/>
          <a:p>
            <a:pPr marL="0" indent="0">
              <a:buNone/>
            </a:pPr>
            <a:r>
              <a:rPr lang="en-US" sz="1600" b="1" dirty="0">
                <a:solidFill>
                  <a:srgbClr val="9C4A3C"/>
                </a:solidFill>
                <a:latin typeface="Calibri" pitchFamily="34" charset="0"/>
                <a:ea typeface="Calibri" pitchFamily="34" charset="-122"/>
                <a:cs typeface="Calibri" pitchFamily="34" charset="-120"/>
              </a:rPr>
              <a:t>Sesgos y equidad</a:t>
            </a:r>
            <a:endParaRPr lang="en-US" sz="1600" dirty="0"/>
          </a:p>
        </p:txBody>
      </p:sp>
      <p:sp>
        <p:nvSpPr>
          <p:cNvPr id="12" name="Text 10"/>
          <p:cNvSpPr/>
          <p:nvPr/>
        </p:nvSpPr>
        <p:spPr>
          <a:xfrm>
            <a:off x="8394192" y="2377440"/>
            <a:ext cx="2971800" cy="1234440"/>
          </a:xfrm>
          <a:prstGeom prst="rect">
            <a:avLst/>
          </a:prstGeom>
          <a:noFill/>
          <a:ln/>
        </p:spPr>
        <p:txBody>
          <a:bodyPr wrap="square" lIns="0" tIns="0" rIns="0" bIns="0" rtlCol="0" anchor="ctr"/>
          <a:lstStyle/>
          <a:p>
            <a:pPr marL="0" indent="0">
              <a:lnSpc>
                <a:spcPts val="1800"/>
              </a:lnSpc>
              <a:buNone/>
            </a:pPr>
            <a:r>
              <a:rPr lang="en-US" sz="1200" dirty="0">
                <a:solidFill>
                  <a:srgbClr val="5A6B78"/>
                </a:solidFill>
                <a:latin typeface="Calibri" pitchFamily="34" charset="0"/>
                <a:ea typeface="Calibri" pitchFamily="34" charset="-122"/>
                <a:cs typeface="Calibri" pitchFamily="34" charset="-120"/>
              </a:rPr>
              <a:t>Los modelos reproducen los sesgos de sus datos. Vigilancia reforzada cuando un análisis trata sobre poblaciones vulnerables.</a:t>
            </a:r>
            <a:endParaRPr lang="en-US" sz="1200" dirty="0"/>
          </a:p>
        </p:txBody>
      </p:sp>
      <p:sp>
        <p:nvSpPr>
          <p:cNvPr id="13" name="Shape 11"/>
          <p:cNvSpPr/>
          <p:nvPr/>
        </p:nvSpPr>
        <p:spPr>
          <a:xfrm>
            <a:off x="548640" y="3886200"/>
            <a:ext cx="3538728" cy="2011680"/>
          </a:xfrm>
          <a:prstGeom prst="roundRect">
            <a:avLst>
              <a:gd name="adj" fmla="val 4091"/>
            </a:avLst>
          </a:prstGeom>
          <a:solidFill>
            <a:srgbClr val="F1F5F7"/>
          </a:solidFill>
          <a:ln w="12700">
            <a:solidFill>
              <a:srgbClr val="F1F5F7"/>
            </a:solidFill>
            <a:prstDash val="solid"/>
          </a:ln>
        </p:spPr>
      </p:sp>
      <p:sp>
        <p:nvSpPr>
          <p:cNvPr id="14" name="Text 12"/>
          <p:cNvSpPr/>
          <p:nvPr/>
        </p:nvSpPr>
        <p:spPr>
          <a:xfrm>
            <a:off x="841248" y="4087368"/>
            <a:ext cx="2971800" cy="384048"/>
          </a:xfrm>
          <a:prstGeom prst="rect">
            <a:avLst/>
          </a:prstGeom>
          <a:noFill/>
          <a:ln/>
        </p:spPr>
        <p:txBody>
          <a:bodyPr wrap="square" lIns="0" tIns="0" rIns="0" bIns="0" rtlCol="0" anchor="ctr"/>
          <a:lstStyle/>
          <a:p>
            <a:pPr marL="0" indent="0">
              <a:buNone/>
            </a:pPr>
            <a:r>
              <a:rPr lang="en-US" sz="1600" b="1" dirty="0">
                <a:solidFill>
                  <a:srgbClr val="9C4A3C"/>
                </a:solidFill>
                <a:latin typeface="Calibri" pitchFamily="34" charset="0"/>
                <a:ea typeface="Calibri" pitchFamily="34" charset="-122"/>
                <a:cs typeface="Calibri" pitchFamily="34" charset="-120"/>
              </a:rPr>
              <a:t>Integridad académica</a:t>
            </a:r>
            <a:endParaRPr lang="en-US" sz="1600" dirty="0"/>
          </a:p>
        </p:txBody>
      </p:sp>
      <p:sp>
        <p:nvSpPr>
          <p:cNvPr id="15" name="Text 13"/>
          <p:cNvSpPr/>
          <p:nvPr/>
        </p:nvSpPr>
        <p:spPr>
          <a:xfrm>
            <a:off x="841248" y="4526280"/>
            <a:ext cx="2971800" cy="1234440"/>
          </a:xfrm>
          <a:prstGeom prst="rect">
            <a:avLst/>
          </a:prstGeom>
          <a:noFill/>
          <a:ln/>
        </p:spPr>
        <p:txBody>
          <a:bodyPr wrap="square" lIns="0" tIns="0" rIns="0" bIns="0" rtlCol="0" anchor="ctr"/>
          <a:lstStyle/>
          <a:p>
            <a:pPr marL="0" indent="0">
              <a:lnSpc>
                <a:spcPts val="1800"/>
              </a:lnSpc>
              <a:buNone/>
            </a:pPr>
            <a:r>
              <a:rPr lang="en-US" sz="1200" dirty="0">
                <a:solidFill>
                  <a:srgbClr val="5A6B78"/>
                </a:solidFill>
                <a:latin typeface="Calibri" pitchFamily="34" charset="0"/>
                <a:ea typeface="Calibri" pitchFamily="34" charset="-122"/>
                <a:cs typeface="Calibri" pitchFamily="34" charset="-120"/>
              </a:rPr>
              <a:t>La Universidad de Montreal actualizó sus reglamentos disciplinarios. Prescribir el uso no exime de declararlo y asumirlo.</a:t>
            </a:r>
            <a:endParaRPr lang="en-US" sz="1200" dirty="0"/>
          </a:p>
        </p:txBody>
      </p:sp>
      <p:sp>
        <p:nvSpPr>
          <p:cNvPr id="16" name="Shape 14"/>
          <p:cNvSpPr/>
          <p:nvPr/>
        </p:nvSpPr>
        <p:spPr>
          <a:xfrm>
            <a:off x="4325112" y="3886200"/>
            <a:ext cx="3538728" cy="2011680"/>
          </a:xfrm>
          <a:prstGeom prst="roundRect">
            <a:avLst>
              <a:gd name="adj" fmla="val 4091"/>
            </a:avLst>
          </a:prstGeom>
          <a:solidFill>
            <a:srgbClr val="F1F5F7"/>
          </a:solidFill>
          <a:ln w="12700">
            <a:solidFill>
              <a:srgbClr val="F1F5F7"/>
            </a:solidFill>
            <a:prstDash val="solid"/>
          </a:ln>
        </p:spPr>
      </p:sp>
      <p:sp>
        <p:nvSpPr>
          <p:cNvPr id="17" name="Text 15"/>
          <p:cNvSpPr/>
          <p:nvPr/>
        </p:nvSpPr>
        <p:spPr>
          <a:xfrm>
            <a:off x="4617720" y="4087368"/>
            <a:ext cx="2971800" cy="384048"/>
          </a:xfrm>
          <a:prstGeom prst="rect">
            <a:avLst/>
          </a:prstGeom>
          <a:noFill/>
          <a:ln/>
        </p:spPr>
        <p:txBody>
          <a:bodyPr wrap="square" lIns="0" tIns="0" rIns="0" bIns="0" rtlCol="0" anchor="ctr"/>
          <a:lstStyle/>
          <a:p>
            <a:pPr marL="0" indent="0">
              <a:buNone/>
            </a:pPr>
            <a:r>
              <a:rPr lang="en-US" sz="1600" b="1" dirty="0">
                <a:solidFill>
                  <a:srgbClr val="9C4A3C"/>
                </a:solidFill>
                <a:latin typeface="Calibri" pitchFamily="34" charset="0"/>
                <a:ea typeface="Calibri" pitchFamily="34" charset="-122"/>
                <a:cs typeface="Calibri" pitchFamily="34" charset="-120"/>
              </a:rPr>
              <a:t>Dependencia de la herramienta</a:t>
            </a:r>
            <a:endParaRPr lang="en-US" sz="1600" dirty="0"/>
          </a:p>
        </p:txBody>
      </p:sp>
      <p:sp>
        <p:nvSpPr>
          <p:cNvPr id="18" name="Text 16"/>
          <p:cNvSpPr/>
          <p:nvPr/>
        </p:nvSpPr>
        <p:spPr>
          <a:xfrm>
            <a:off x="4617720" y="4526280"/>
            <a:ext cx="2971800" cy="1234440"/>
          </a:xfrm>
          <a:prstGeom prst="rect">
            <a:avLst/>
          </a:prstGeom>
          <a:noFill/>
          <a:ln/>
        </p:spPr>
        <p:txBody>
          <a:bodyPr wrap="square" lIns="0" tIns="0" rIns="0" bIns="0" rtlCol="0" anchor="ctr"/>
          <a:lstStyle/>
          <a:p>
            <a:pPr marL="0" indent="0">
              <a:lnSpc>
                <a:spcPts val="1800"/>
              </a:lnSpc>
              <a:buNone/>
            </a:pPr>
            <a:r>
              <a:rPr lang="en-US" sz="1200" dirty="0">
                <a:solidFill>
                  <a:srgbClr val="5A6B78"/>
                </a:solidFill>
                <a:latin typeface="Calibri" pitchFamily="34" charset="0"/>
                <a:ea typeface="Calibri" pitchFamily="34" charset="-122"/>
                <a:cs typeface="Calibri" pitchFamily="34" charset="-120"/>
              </a:rPr>
              <a:t>El riesgo no es que usen la IA: es que dejen de saber juzgar sin ella. De ahí el video, sin asistencia.</a:t>
            </a:r>
            <a:endParaRPr lang="en-US" sz="1200" dirty="0"/>
          </a:p>
        </p:txBody>
      </p:sp>
      <p:sp>
        <p:nvSpPr>
          <p:cNvPr id="19" name="Shape 17"/>
          <p:cNvSpPr/>
          <p:nvPr/>
        </p:nvSpPr>
        <p:spPr>
          <a:xfrm>
            <a:off x="8101584" y="3886200"/>
            <a:ext cx="3538728" cy="2011680"/>
          </a:xfrm>
          <a:prstGeom prst="roundRect">
            <a:avLst>
              <a:gd name="adj" fmla="val 4091"/>
            </a:avLst>
          </a:prstGeom>
          <a:solidFill>
            <a:srgbClr val="F1F5F7"/>
          </a:solidFill>
          <a:ln w="12700">
            <a:solidFill>
              <a:srgbClr val="F1F5F7"/>
            </a:solidFill>
            <a:prstDash val="solid"/>
          </a:ln>
        </p:spPr>
      </p:sp>
      <p:sp>
        <p:nvSpPr>
          <p:cNvPr id="20" name="Text 18"/>
          <p:cNvSpPr/>
          <p:nvPr/>
        </p:nvSpPr>
        <p:spPr>
          <a:xfrm>
            <a:off x="8394192" y="4087368"/>
            <a:ext cx="2971800" cy="384048"/>
          </a:xfrm>
          <a:prstGeom prst="rect">
            <a:avLst/>
          </a:prstGeom>
          <a:noFill/>
          <a:ln/>
        </p:spPr>
        <p:txBody>
          <a:bodyPr wrap="square" lIns="0" tIns="0" rIns="0" bIns="0" rtlCol="0" anchor="ctr"/>
          <a:lstStyle/>
          <a:p>
            <a:pPr marL="0" indent="0">
              <a:buNone/>
            </a:pPr>
            <a:r>
              <a:rPr lang="en-US" sz="1600" b="1" dirty="0">
                <a:solidFill>
                  <a:srgbClr val="9C4A3C"/>
                </a:solidFill>
                <a:latin typeface="Calibri" pitchFamily="34" charset="0"/>
                <a:ea typeface="Calibri" pitchFamily="34" charset="-122"/>
                <a:cs typeface="Calibri" pitchFamily="34" charset="-120"/>
              </a:rPr>
              <a:t>Desigualdades de acceso</a:t>
            </a:r>
            <a:endParaRPr lang="en-US" sz="1600" dirty="0"/>
          </a:p>
        </p:txBody>
      </p:sp>
      <p:sp>
        <p:nvSpPr>
          <p:cNvPr id="21" name="Text 19"/>
          <p:cNvSpPr/>
          <p:nvPr/>
        </p:nvSpPr>
        <p:spPr>
          <a:xfrm>
            <a:off x="8394192" y="4526280"/>
            <a:ext cx="2971800" cy="1234440"/>
          </a:xfrm>
          <a:prstGeom prst="rect">
            <a:avLst/>
          </a:prstGeom>
          <a:noFill/>
          <a:ln/>
        </p:spPr>
        <p:txBody>
          <a:bodyPr wrap="square" lIns="0" tIns="0" rIns="0" bIns="0" rtlCol="0" anchor="ctr"/>
          <a:lstStyle/>
          <a:p>
            <a:pPr marL="0" indent="0">
              <a:lnSpc>
                <a:spcPts val="1800"/>
              </a:lnSpc>
              <a:buNone/>
            </a:pPr>
            <a:r>
              <a:rPr lang="en-US" sz="1200" dirty="0">
                <a:solidFill>
                  <a:srgbClr val="5A6B78"/>
                </a:solidFill>
                <a:latin typeface="Calibri" pitchFamily="34" charset="0"/>
                <a:ea typeface="Calibri" pitchFamily="34" charset="-122"/>
                <a:cs typeface="Calibri" pitchFamily="34" charset="-120"/>
              </a:rPr>
              <a:t>Las funcionalidades más útiles suelen ser de pago. A tener en cuenta antes de convertirlo en una exigencia.</a:t>
            </a:r>
            <a:endParaRPr lang="en-US" sz="1200" dirty="0"/>
          </a:p>
        </p:txBody>
      </p:sp>
      <p:sp>
        <p:nvSpPr>
          <p:cNvPr id="22" name="Text 20"/>
          <p:cNvSpPr/>
          <p:nvPr/>
        </p:nvSpPr>
        <p:spPr>
          <a:xfrm>
            <a:off x="548640" y="6355080"/>
            <a:ext cx="7315200" cy="274320"/>
          </a:xfrm>
          <a:prstGeom prst="rect">
            <a:avLst/>
          </a:prstGeom>
          <a:noFill/>
          <a:ln/>
        </p:spPr>
        <p:txBody>
          <a:bodyPr wrap="square" lIns="0" tIns="0" rIns="0" bIns="0" rtlCol="0" anchor="ctr"/>
          <a:lstStyle/>
          <a:p>
            <a:pPr marL="0" indent="0">
              <a:buNone/>
            </a:pPr>
            <a:r>
              <a:rPr lang="en-US" sz="950" dirty="0">
                <a:solidFill>
                  <a:srgbClr val="5A6B78"/>
                </a:solidFill>
                <a:latin typeface="Calibri" pitchFamily="34" charset="0"/>
                <a:ea typeface="Calibri" pitchFamily="34" charset="-122"/>
                <a:cs typeface="Calibri" pitchFamily="34" charset="-120"/>
              </a:rPr>
              <a:t>Éric Robitaille, Ph. D. — CISSS des Laurentides / ESPUM</a:t>
            </a:r>
            <a:endParaRPr lang="en-US" sz="950" dirty="0"/>
          </a:p>
        </p:txBody>
      </p:sp>
      <p:sp>
        <p:nvSpPr>
          <p:cNvPr id="23" name="Text 21"/>
          <p:cNvSpPr/>
          <p:nvPr/>
        </p:nvSpPr>
        <p:spPr>
          <a:xfrm>
            <a:off x="11155680" y="6355080"/>
            <a:ext cx="502920" cy="274320"/>
          </a:xfrm>
          <a:prstGeom prst="rect">
            <a:avLst/>
          </a:prstGeom>
          <a:noFill/>
          <a:ln/>
        </p:spPr>
        <p:txBody>
          <a:bodyPr wrap="square" lIns="0" tIns="0" rIns="0" bIns="0" rtlCol="0" anchor="ctr"/>
          <a:lstStyle/>
          <a:p>
            <a:pPr marL="0" indent="0" algn="r">
              <a:buNone/>
            </a:pPr>
            <a:r>
              <a:rPr lang="en-US" sz="950" dirty="0">
                <a:solidFill>
                  <a:srgbClr val="5A6B78"/>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lIns="0" tIns="0" rIns="0" bIns="0" rtlCol="0" anchor="ctr"/>
          <a:lstStyle/>
          <a:p>
            <a:pPr marL="0" indent="0">
              <a:buNone/>
            </a:pPr>
            <a:r>
              <a:rPr lang="en-US" sz="1100" b="1" kern="0" spc="200" dirty="0">
                <a:solidFill>
                  <a:srgbClr val="1C6E7D"/>
                </a:solidFill>
                <a:latin typeface="Calibri" pitchFamily="34" charset="0"/>
                <a:ea typeface="Calibri" pitchFamily="34" charset="-122"/>
                <a:cs typeface="Calibri" pitchFamily="34" charset="-120"/>
              </a:rPr>
              <a:t>¿Y AHORA?</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400" b="1" dirty="0">
                <a:solidFill>
                  <a:srgbClr val="0E2233"/>
                </a:solidFill>
                <a:latin typeface="Cambria" pitchFamily="34" charset="0"/>
                <a:ea typeface="Cambria" pitchFamily="34" charset="-122"/>
                <a:cs typeface="Cambria" pitchFamily="34" charset="-120"/>
              </a:rPr>
              <a:t>Pistas transferibles a otros cursos y programas</a:t>
            </a:r>
            <a:endParaRPr lang="en-US" sz="3400" dirty="0"/>
          </a:p>
        </p:txBody>
      </p:sp>
      <p:sp>
        <p:nvSpPr>
          <p:cNvPr id="4" name="Shape 2"/>
          <p:cNvSpPr/>
          <p:nvPr/>
        </p:nvSpPr>
        <p:spPr>
          <a:xfrm>
            <a:off x="548640" y="1828800"/>
            <a:ext cx="438912" cy="438912"/>
          </a:xfrm>
          <a:prstGeom prst="ellipse">
            <a:avLst/>
          </a:prstGeom>
          <a:solidFill>
            <a:srgbClr val="1C6E7D"/>
          </a:solidFill>
          <a:ln/>
        </p:spPr>
      </p:sp>
      <p:sp>
        <p:nvSpPr>
          <p:cNvPr id="5" name="Text 3"/>
          <p:cNvSpPr/>
          <p:nvPr/>
        </p:nvSpPr>
        <p:spPr>
          <a:xfrm>
            <a:off x="548640" y="182880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737360"/>
            <a:ext cx="4754880" cy="411480"/>
          </a:xfrm>
          <a:prstGeom prst="rect">
            <a:avLst/>
          </a:prstGeom>
          <a:noFill/>
          <a:ln/>
        </p:spPr>
        <p:txBody>
          <a:bodyPr wrap="square" lIns="0" tIns="0" rIns="0" bIns="0" rtlCol="0" anchor="ctr"/>
          <a:lstStyle/>
          <a:p>
            <a:pPr marL="0" indent="0">
              <a:buNone/>
            </a:pPr>
            <a:r>
              <a:rPr lang="en-US" sz="1550" b="1" dirty="0">
                <a:solidFill>
                  <a:srgbClr val="0E2233"/>
                </a:solidFill>
                <a:latin typeface="Calibri" pitchFamily="34" charset="0"/>
                <a:ea typeface="Calibri" pitchFamily="34" charset="-122"/>
                <a:cs typeface="Calibri" pitchFamily="34" charset="-120"/>
              </a:rPr>
              <a:t>Prescribir en vez de prohibir</a:t>
            </a:r>
            <a:endParaRPr lang="en-US" sz="1550" dirty="0"/>
          </a:p>
        </p:txBody>
      </p:sp>
      <p:sp>
        <p:nvSpPr>
          <p:cNvPr id="7" name="Text 5"/>
          <p:cNvSpPr/>
          <p:nvPr/>
        </p:nvSpPr>
        <p:spPr>
          <a:xfrm>
            <a:off x="1188720" y="2176272"/>
            <a:ext cx="4754880" cy="731520"/>
          </a:xfrm>
          <a:prstGeom prst="rect">
            <a:avLst/>
          </a:prstGeom>
          <a:noFill/>
          <a:ln/>
        </p:spPr>
        <p:txBody>
          <a:bodyPr wrap="square" lIns="0" tIns="0" rIns="0" bIns="0" rtlCol="0" anchor="ctr"/>
          <a:lstStyle/>
          <a:p>
            <a:pPr marL="0" indent="0">
              <a:lnSpc>
                <a:spcPts val="1800"/>
              </a:lnSpc>
              <a:buNone/>
            </a:pPr>
            <a:r>
              <a:rPr lang="en-US" sz="1250" dirty="0">
                <a:solidFill>
                  <a:srgbClr val="5A6B78"/>
                </a:solidFill>
                <a:latin typeface="Calibri" pitchFamily="34" charset="0"/>
                <a:ea typeface="Calibri" pitchFamily="34" charset="-122"/>
                <a:cs typeface="Calibri" pitchFamily="34" charset="-120"/>
              </a:rPr>
              <a:t>Hacer el uso explícito lo vuelve encuadrable, corregible y evaluable.</a:t>
            </a:r>
            <a:endParaRPr lang="en-US" sz="1250" dirty="0"/>
          </a:p>
        </p:txBody>
      </p:sp>
      <p:sp>
        <p:nvSpPr>
          <p:cNvPr id="8" name="Shape 6"/>
          <p:cNvSpPr/>
          <p:nvPr/>
        </p:nvSpPr>
        <p:spPr>
          <a:xfrm>
            <a:off x="548640" y="3246120"/>
            <a:ext cx="438912" cy="438912"/>
          </a:xfrm>
          <a:prstGeom prst="ellipse">
            <a:avLst/>
          </a:prstGeom>
          <a:solidFill>
            <a:srgbClr val="1C6E7D"/>
          </a:solidFill>
          <a:ln/>
        </p:spPr>
      </p:sp>
      <p:sp>
        <p:nvSpPr>
          <p:cNvPr id="9" name="Text 7"/>
          <p:cNvSpPr/>
          <p:nvPr/>
        </p:nvSpPr>
        <p:spPr>
          <a:xfrm>
            <a:off x="548640" y="32461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188720" y="3154680"/>
            <a:ext cx="4754880" cy="411480"/>
          </a:xfrm>
          <a:prstGeom prst="rect">
            <a:avLst/>
          </a:prstGeom>
          <a:noFill/>
          <a:ln/>
        </p:spPr>
        <p:txBody>
          <a:bodyPr wrap="square" lIns="0" tIns="0" rIns="0" bIns="0" rtlCol="0" anchor="ctr"/>
          <a:lstStyle/>
          <a:p>
            <a:pPr marL="0" indent="0">
              <a:buNone/>
            </a:pPr>
            <a:r>
              <a:rPr lang="en-US" sz="1550" b="1" dirty="0">
                <a:solidFill>
                  <a:srgbClr val="0E2233"/>
                </a:solidFill>
                <a:latin typeface="Calibri" pitchFamily="34" charset="0"/>
                <a:ea typeface="Calibri" pitchFamily="34" charset="-122"/>
                <a:cs typeface="Calibri" pitchFamily="34" charset="-120"/>
              </a:rPr>
              <a:t>Evaluar el proceso, no solo el producto</a:t>
            </a:r>
            <a:endParaRPr lang="en-US" sz="1550" dirty="0"/>
          </a:p>
        </p:txBody>
      </p:sp>
      <p:sp>
        <p:nvSpPr>
          <p:cNvPr id="11" name="Text 9"/>
          <p:cNvSpPr/>
          <p:nvPr/>
        </p:nvSpPr>
        <p:spPr>
          <a:xfrm>
            <a:off x="1188720" y="3593592"/>
            <a:ext cx="4754880" cy="731520"/>
          </a:xfrm>
          <a:prstGeom prst="rect">
            <a:avLst/>
          </a:prstGeom>
          <a:noFill/>
          <a:ln/>
        </p:spPr>
        <p:txBody>
          <a:bodyPr wrap="square" lIns="0" tIns="0" rIns="0" bIns="0" rtlCol="0" anchor="ctr"/>
          <a:lstStyle/>
          <a:p>
            <a:pPr marL="0" indent="0">
              <a:lnSpc>
                <a:spcPts val="1800"/>
              </a:lnSpc>
              <a:buNone/>
            </a:pPr>
            <a:r>
              <a:rPr lang="en-US" sz="1250" dirty="0">
                <a:solidFill>
                  <a:srgbClr val="5A6B78"/>
                </a:solidFill>
                <a:latin typeface="Calibri" pitchFamily="34" charset="0"/>
                <a:ea typeface="Calibri" pitchFamily="34" charset="-122"/>
                <a:cs typeface="Calibri" pitchFamily="34" charset="-120"/>
              </a:rPr>
              <a:t>El análisis crítico del uso se convierte en un criterio calificado por derecho propio.</a:t>
            </a:r>
            <a:endParaRPr lang="en-US" sz="1250" dirty="0"/>
          </a:p>
        </p:txBody>
      </p:sp>
      <p:sp>
        <p:nvSpPr>
          <p:cNvPr id="12" name="Shape 10"/>
          <p:cNvSpPr/>
          <p:nvPr/>
        </p:nvSpPr>
        <p:spPr>
          <a:xfrm>
            <a:off x="548640" y="4663440"/>
            <a:ext cx="438912" cy="438912"/>
          </a:xfrm>
          <a:prstGeom prst="ellipse">
            <a:avLst/>
          </a:prstGeom>
          <a:solidFill>
            <a:srgbClr val="1C6E7D"/>
          </a:solidFill>
          <a:ln/>
        </p:spPr>
      </p:sp>
      <p:sp>
        <p:nvSpPr>
          <p:cNvPr id="13" name="Text 11"/>
          <p:cNvSpPr/>
          <p:nvPr/>
        </p:nvSpPr>
        <p:spPr>
          <a:xfrm>
            <a:off x="548640" y="466344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1188720" y="4572000"/>
            <a:ext cx="4754880" cy="411480"/>
          </a:xfrm>
          <a:prstGeom prst="rect">
            <a:avLst/>
          </a:prstGeom>
          <a:noFill/>
          <a:ln/>
        </p:spPr>
        <p:txBody>
          <a:bodyPr wrap="square" lIns="0" tIns="0" rIns="0" bIns="0" rtlCol="0" anchor="ctr"/>
          <a:lstStyle/>
          <a:p>
            <a:pPr marL="0" indent="0">
              <a:buNone/>
            </a:pPr>
            <a:r>
              <a:rPr lang="en-US" sz="1550" b="1" dirty="0">
                <a:solidFill>
                  <a:srgbClr val="0E2233"/>
                </a:solidFill>
                <a:latin typeface="Calibri" pitchFamily="34" charset="0"/>
                <a:ea typeface="Calibri" pitchFamily="34" charset="-122"/>
                <a:cs typeface="Calibri" pitchFamily="34" charset="-120"/>
              </a:rPr>
              <a:t>Conservar un componente no delegable</a:t>
            </a:r>
            <a:endParaRPr lang="en-US" sz="1550" dirty="0"/>
          </a:p>
        </p:txBody>
      </p:sp>
      <p:sp>
        <p:nvSpPr>
          <p:cNvPr id="15" name="Text 13"/>
          <p:cNvSpPr/>
          <p:nvPr/>
        </p:nvSpPr>
        <p:spPr>
          <a:xfrm>
            <a:off x="1188720" y="5010912"/>
            <a:ext cx="4754880" cy="731520"/>
          </a:xfrm>
          <a:prstGeom prst="rect">
            <a:avLst/>
          </a:prstGeom>
          <a:noFill/>
          <a:ln/>
        </p:spPr>
        <p:txBody>
          <a:bodyPr wrap="square" lIns="0" tIns="0" rIns="0" bIns="0" rtlCol="0" anchor="ctr"/>
          <a:lstStyle/>
          <a:p>
            <a:pPr marL="0" indent="0">
              <a:lnSpc>
                <a:spcPts val="1800"/>
              </a:lnSpc>
              <a:buNone/>
            </a:pPr>
            <a:r>
              <a:rPr lang="en-US" sz="1250" dirty="0">
                <a:solidFill>
                  <a:srgbClr val="5A6B78"/>
                </a:solidFill>
                <a:latin typeface="Calibri" pitchFamily="34" charset="0"/>
                <a:ea typeface="Calibri" pitchFamily="34" charset="-122"/>
                <a:cs typeface="Calibri" pitchFamily="34" charset="-120"/>
              </a:rPr>
              <a:t>Oral, video, defensa: un espacio donde la experticia se manifiesta sin mediación.</a:t>
            </a:r>
            <a:endParaRPr lang="en-US" sz="1250" dirty="0"/>
          </a:p>
        </p:txBody>
      </p:sp>
      <p:sp>
        <p:nvSpPr>
          <p:cNvPr id="16" name="Shape 14"/>
          <p:cNvSpPr/>
          <p:nvPr/>
        </p:nvSpPr>
        <p:spPr>
          <a:xfrm>
            <a:off x="6245352" y="1828800"/>
            <a:ext cx="438912" cy="438912"/>
          </a:xfrm>
          <a:prstGeom prst="ellipse">
            <a:avLst/>
          </a:prstGeom>
          <a:solidFill>
            <a:srgbClr val="E29524"/>
          </a:solidFill>
          <a:ln/>
        </p:spPr>
      </p:sp>
      <p:sp>
        <p:nvSpPr>
          <p:cNvPr id="17" name="Text 15"/>
          <p:cNvSpPr/>
          <p:nvPr/>
        </p:nvSpPr>
        <p:spPr>
          <a:xfrm>
            <a:off x="6245352" y="1828800"/>
            <a:ext cx="438912" cy="438912"/>
          </a:xfrm>
          <a:prstGeom prst="rect">
            <a:avLst/>
          </a:prstGeom>
          <a:noFill/>
          <a:ln/>
        </p:spPr>
        <p:txBody>
          <a:bodyPr wrap="square" lIns="0" tIns="0" rIns="0" bIns="0" rtlCol="0" anchor="ctr"/>
          <a:lstStyle/>
          <a:p>
            <a:pPr marL="0" indent="0" algn="ctr">
              <a:buNone/>
            </a:pPr>
            <a:r>
              <a:rPr lang="en-US" sz="1600" b="1" dirty="0">
                <a:solidFill>
                  <a:srgbClr val="0E2233"/>
                </a:solidFill>
                <a:latin typeface="Calibri" pitchFamily="34" charset="0"/>
                <a:ea typeface="Calibri" pitchFamily="34" charset="-122"/>
                <a:cs typeface="Calibri" pitchFamily="34" charset="-120"/>
              </a:rPr>
              <a:t>4</a:t>
            </a:r>
            <a:endParaRPr lang="en-US" sz="1600" dirty="0"/>
          </a:p>
        </p:txBody>
      </p:sp>
      <p:sp>
        <p:nvSpPr>
          <p:cNvPr id="18" name="Text 16"/>
          <p:cNvSpPr/>
          <p:nvPr/>
        </p:nvSpPr>
        <p:spPr>
          <a:xfrm>
            <a:off x="6885432" y="1737360"/>
            <a:ext cx="4754880" cy="411480"/>
          </a:xfrm>
          <a:prstGeom prst="rect">
            <a:avLst/>
          </a:prstGeom>
          <a:noFill/>
          <a:ln/>
        </p:spPr>
        <p:txBody>
          <a:bodyPr wrap="square" lIns="0" tIns="0" rIns="0" bIns="0" rtlCol="0" anchor="ctr"/>
          <a:lstStyle/>
          <a:p>
            <a:pPr marL="0" indent="0">
              <a:buNone/>
            </a:pPr>
            <a:r>
              <a:rPr lang="en-US" sz="1550" b="1" dirty="0">
                <a:solidFill>
                  <a:srgbClr val="0E2233"/>
                </a:solidFill>
                <a:latin typeface="Calibri" pitchFamily="34" charset="0"/>
                <a:ea typeface="Calibri" pitchFamily="34" charset="-122"/>
                <a:cs typeface="Calibri" pitchFamily="34" charset="-120"/>
              </a:rPr>
              <a:t>Anclar los casos en datos reales</a:t>
            </a:r>
            <a:endParaRPr lang="en-US" sz="1550" dirty="0"/>
          </a:p>
        </p:txBody>
      </p:sp>
      <p:sp>
        <p:nvSpPr>
          <p:cNvPr id="19" name="Text 17"/>
          <p:cNvSpPr/>
          <p:nvPr/>
        </p:nvSpPr>
        <p:spPr>
          <a:xfrm>
            <a:off x="6885432" y="2176272"/>
            <a:ext cx="4754880" cy="731520"/>
          </a:xfrm>
          <a:prstGeom prst="rect">
            <a:avLst/>
          </a:prstGeom>
          <a:noFill/>
          <a:ln/>
        </p:spPr>
        <p:txBody>
          <a:bodyPr wrap="square" lIns="0" tIns="0" rIns="0" bIns="0" rtlCol="0" anchor="ctr"/>
          <a:lstStyle/>
          <a:p>
            <a:pPr marL="0" indent="0">
              <a:lnSpc>
                <a:spcPts val="1800"/>
              </a:lnSpc>
              <a:buNone/>
            </a:pPr>
            <a:r>
              <a:rPr lang="en-US" sz="1250" dirty="0">
                <a:solidFill>
                  <a:srgbClr val="5A6B78"/>
                </a:solidFill>
                <a:latin typeface="Calibri" pitchFamily="34" charset="0"/>
                <a:ea typeface="Calibri" pitchFamily="34" charset="-122"/>
                <a:cs typeface="Calibri" pitchFamily="34" charset="-120"/>
              </a:rPr>
              <a:t>El territorio, el censo, los datos abiertos — nunca el ejercicio abstracto.</a:t>
            </a:r>
            <a:endParaRPr lang="en-US" sz="1250" dirty="0"/>
          </a:p>
        </p:txBody>
      </p:sp>
      <p:sp>
        <p:nvSpPr>
          <p:cNvPr id="20" name="Shape 18"/>
          <p:cNvSpPr/>
          <p:nvPr/>
        </p:nvSpPr>
        <p:spPr>
          <a:xfrm>
            <a:off x="6245352" y="3246120"/>
            <a:ext cx="438912" cy="438912"/>
          </a:xfrm>
          <a:prstGeom prst="ellipse">
            <a:avLst/>
          </a:prstGeom>
          <a:solidFill>
            <a:srgbClr val="E29524"/>
          </a:solidFill>
          <a:ln/>
        </p:spPr>
      </p:sp>
      <p:sp>
        <p:nvSpPr>
          <p:cNvPr id="21" name="Text 19"/>
          <p:cNvSpPr/>
          <p:nvPr/>
        </p:nvSpPr>
        <p:spPr>
          <a:xfrm>
            <a:off x="6245352" y="3246120"/>
            <a:ext cx="438912" cy="438912"/>
          </a:xfrm>
          <a:prstGeom prst="rect">
            <a:avLst/>
          </a:prstGeom>
          <a:noFill/>
          <a:ln/>
        </p:spPr>
        <p:txBody>
          <a:bodyPr wrap="square" lIns="0" tIns="0" rIns="0" bIns="0" rtlCol="0" anchor="ctr"/>
          <a:lstStyle/>
          <a:p>
            <a:pPr marL="0" indent="0" algn="ctr">
              <a:buNone/>
            </a:pPr>
            <a:r>
              <a:rPr lang="en-US" sz="1600" b="1" dirty="0">
                <a:solidFill>
                  <a:srgbClr val="0E2233"/>
                </a:solidFill>
                <a:latin typeface="Calibri" pitchFamily="34" charset="0"/>
                <a:ea typeface="Calibri" pitchFamily="34" charset="-122"/>
                <a:cs typeface="Calibri" pitchFamily="34" charset="-120"/>
              </a:rPr>
              <a:t>5</a:t>
            </a:r>
            <a:endParaRPr lang="en-US" sz="1600" dirty="0"/>
          </a:p>
        </p:txBody>
      </p:sp>
      <p:sp>
        <p:nvSpPr>
          <p:cNvPr id="22" name="Text 20"/>
          <p:cNvSpPr/>
          <p:nvPr/>
        </p:nvSpPr>
        <p:spPr>
          <a:xfrm>
            <a:off x="6885432" y="3154680"/>
            <a:ext cx="4754880" cy="411480"/>
          </a:xfrm>
          <a:prstGeom prst="rect">
            <a:avLst/>
          </a:prstGeom>
          <a:noFill/>
          <a:ln/>
        </p:spPr>
        <p:txBody>
          <a:bodyPr wrap="square" lIns="0" tIns="0" rIns="0" bIns="0" rtlCol="0" anchor="ctr"/>
          <a:lstStyle/>
          <a:p>
            <a:pPr marL="0" indent="0">
              <a:buNone/>
            </a:pPr>
            <a:r>
              <a:rPr lang="en-US" sz="1550" b="1" dirty="0">
                <a:solidFill>
                  <a:srgbClr val="0E2233"/>
                </a:solidFill>
                <a:latin typeface="Calibri" pitchFamily="34" charset="0"/>
                <a:ea typeface="Calibri" pitchFamily="34" charset="-122"/>
                <a:cs typeface="Calibri" pitchFamily="34" charset="-120"/>
              </a:rPr>
              <a:t>Construir herramientas formativas ligeras</a:t>
            </a:r>
            <a:endParaRPr lang="en-US" sz="1550" dirty="0"/>
          </a:p>
        </p:txBody>
      </p:sp>
      <p:sp>
        <p:nvSpPr>
          <p:cNvPr id="23" name="Text 21"/>
          <p:cNvSpPr/>
          <p:nvPr/>
        </p:nvSpPr>
        <p:spPr>
          <a:xfrm>
            <a:off x="6885432" y="3593592"/>
            <a:ext cx="4754880" cy="731520"/>
          </a:xfrm>
          <a:prstGeom prst="rect">
            <a:avLst/>
          </a:prstGeom>
          <a:noFill/>
          <a:ln/>
        </p:spPr>
        <p:txBody>
          <a:bodyPr wrap="square" lIns="0" tIns="0" rIns="0" bIns="0" rtlCol="0" anchor="ctr"/>
          <a:lstStyle/>
          <a:p>
            <a:pPr marL="0" indent="0">
              <a:lnSpc>
                <a:spcPts val="1800"/>
              </a:lnSpc>
              <a:buNone/>
            </a:pPr>
            <a:r>
              <a:rPr lang="en-US" sz="1250" dirty="0">
                <a:solidFill>
                  <a:srgbClr val="5A6B78"/>
                </a:solidFill>
                <a:latin typeface="Calibri" pitchFamily="34" charset="0"/>
                <a:ea typeface="Calibri" pitchFamily="34" charset="-122"/>
                <a:cs typeface="Calibri" pitchFamily="34" charset="-120"/>
              </a:rPr>
              <a:t>Una página web basada en reglas, sin cuenta ni servidor, se produce hoy en pocas horas.</a:t>
            </a:r>
            <a:endParaRPr lang="en-US" sz="1250" dirty="0"/>
          </a:p>
        </p:txBody>
      </p:sp>
      <p:sp>
        <p:nvSpPr>
          <p:cNvPr id="24" name="Shape 22"/>
          <p:cNvSpPr/>
          <p:nvPr/>
        </p:nvSpPr>
        <p:spPr>
          <a:xfrm>
            <a:off x="6245352" y="4663440"/>
            <a:ext cx="438912" cy="438912"/>
          </a:xfrm>
          <a:prstGeom prst="ellipse">
            <a:avLst/>
          </a:prstGeom>
          <a:solidFill>
            <a:srgbClr val="E29524"/>
          </a:solidFill>
          <a:ln/>
        </p:spPr>
      </p:sp>
      <p:sp>
        <p:nvSpPr>
          <p:cNvPr id="25" name="Text 23"/>
          <p:cNvSpPr/>
          <p:nvPr/>
        </p:nvSpPr>
        <p:spPr>
          <a:xfrm>
            <a:off x="6245352" y="4663440"/>
            <a:ext cx="438912" cy="438912"/>
          </a:xfrm>
          <a:prstGeom prst="rect">
            <a:avLst/>
          </a:prstGeom>
          <a:noFill/>
          <a:ln/>
        </p:spPr>
        <p:txBody>
          <a:bodyPr wrap="square" lIns="0" tIns="0" rIns="0" bIns="0" rtlCol="0" anchor="ctr"/>
          <a:lstStyle/>
          <a:p>
            <a:pPr marL="0" indent="0" algn="ctr">
              <a:buNone/>
            </a:pPr>
            <a:r>
              <a:rPr lang="en-US" sz="1600" b="1" dirty="0">
                <a:solidFill>
                  <a:srgbClr val="0E2233"/>
                </a:solidFill>
                <a:latin typeface="Calibri" pitchFamily="34" charset="0"/>
                <a:ea typeface="Calibri" pitchFamily="34" charset="-122"/>
                <a:cs typeface="Calibri" pitchFamily="34" charset="-120"/>
              </a:rPr>
              <a:t>6</a:t>
            </a:r>
            <a:endParaRPr lang="en-US" sz="1600" dirty="0"/>
          </a:p>
        </p:txBody>
      </p:sp>
      <p:sp>
        <p:nvSpPr>
          <p:cNvPr id="26" name="Text 24"/>
          <p:cNvSpPr/>
          <p:nvPr/>
        </p:nvSpPr>
        <p:spPr>
          <a:xfrm>
            <a:off x="6885432" y="4572000"/>
            <a:ext cx="4754880" cy="411480"/>
          </a:xfrm>
          <a:prstGeom prst="rect">
            <a:avLst/>
          </a:prstGeom>
          <a:noFill/>
          <a:ln/>
        </p:spPr>
        <p:txBody>
          <a:bodyPr wrap="square" lIns="0" tIns="0" rIns="0" bIns="0" rtlCol="0" anchor="ctr"/>
          <a:lstStyle/>
          <a:p>
            <a:pPr marL="0" indent="0">
              <a:buNone/>
            </a:pPr>
            <a:r>
              <a:rPr lang="en-US" sz="1550" b="1" dirty="0">
                <a:solidFill>
                  <a:srgbClr val="0E2233"/>
                </a:solidFill>
                <a:latin typeface="Calibri" pitchFamily="34" charset="0"/>
                <a:ea typeface="Calibri" pitchFamily="34" charset="-122"/>
                <a:cs typeface="Calibri" pitchFamily="34" charset="-120"/>
              </a:rPr>
              <a:t>Documentar y compartir los prompts</a:t>
            </a:r>
            <a:endParaRPr lang="en-US" sz="1550" dirty="0"/>
          </a:p>
        </p:txBody>
      </p:sp>
      <p:sp>
        <p:nvSpPr>
          <p:cNvPr id="27" name="Text 25"/>
          <p:cNvSpPr/>
          <p:nvPr/>
        </p:nvSpPr>
        <p:spPr>
          <a:xfrm>
            <a:off x="6885432" y="5010912"/>
            <a:ext cx="4754880" cy="731520"/>
          </a:xfrm>
          <a:prstGeom prst="rect">
            <a:avLst/>
          </a:prstGeom>
          <a:noFill/>
          <a:ln/>
        </p:spPr>
        <p:txBody>
          <a:bodyPr wrap="square" lIns="0" tIns="0" rIns="0" bIns="0" rtlCol="0" anchor="ctr"/>
          <a:lstStyle/>
          <a:p>
            <a:pPr marL="0" indent="0">
              <a:lnSpc>
                <a:spcPts val="1800"/>
              </a:lnSpc>
              <a:buNone/>
            </a:pPr>
            <a:r>
              <a:rPr lang="en-US" sz="1250" dirty="0">
                <a:solidFill>
                  <a:srgbClr val="5A6B78"/>
                </a:solidFill>
                <a:latin typeface="Calibri" pitchFamily="34" charset="0"/>
                <a:ea typeface="Calibri" pitchFamily="34" charset="-122"/>
                <a:cs typeface="Calibri" pitchFamily="34" charset="-120"/>
              </a:rPr>
              <a:t>Una biblioteca de prompts compartida vale más que seis autodidactas aislados.</a:t>
            </a:r>
            <a:endParaRPr lang="en-US" sz="1250" dirty="0"/>
          </a:p>
        </p:txBody>
      </p:sp>
      <p:sp>
        <p:nvSpPr>
          <p:cNvPr id="28" name="Text 26"/>
          <p:cNvSpPr/>
          <p:nvPr/>
        </p:nvSpPr>
        <p:spPr>
          <a:xfrm>
            <a:off x="548640" y="6355080"/>
            <a:ext cx="7315200" cy="274320"/>
          </a:xfrm>
          <a:prstGeom prst="rect">
            <a:avLst/>
          </a:prstGeom>
          <a:noFill/>
          <a:ln/>
        </p:spPr>
        <p:txBody>
          <a:bodyPr wrap="square" lIns="0" tIns="0" rIns="0" bIns="0" rtlCol="0" anchor="ctr"/>
          <a:lstStyle/>
          <a:p>
            <a:pPr marL="0" indent="0">
              <a:buNone/>
            </a:pPr>
            <a:r>
              <a:rPr lang="en-US" sz="950" dirty="0">
                <a:solidFill>
                  <a:srgbClr val="5A6B78"/>
                </a:solidFill>
                <a:latin typeface="Calibri" pitchFamily="34" charset="0"/>
                <a:ea typeface="Calibri" pitchFamily="34" charset="-122"/>
                <a:cs typeface="Calibri" pitchFamily="34" charset="-120"/>
              </a:rPr>
              <a:t>Éric Robitaille, Ph. D. — CISSS des Laurentides / ESPUM</a:t>
            </a:r>
            <a:endParaRPr lang="en-US" sz="950" dirty="0"/>
          </a:p>
        </p:txBody>
      </p:sp>
      <p:sp>
        <p:nvSpPr>
          <p:cNvPr id="29" name="Text 27"/>
          <p:cNvSpPr/>
          <p:nvPr/>
        </p:nvSpPr>
        <p:spPr>
          <a:xfrm>
            <a:off x="11155680" y="6355080"/>
            <a:ext cx="502920" cy="274320"/>
          </a:xfrm>
          <a:prstGeom prst="rect">
            <a:avLst/>
          </a:prstGeom>
          <a:noFill/>
          <a:ln/>
        </p:spPr>
        <p:txBody>
          <a:bodyPr wrap="square" lIns="0" tIns="0" rIns="0" bIns="0" rtlCol="0" anchor="ctr"/>
          <a:lstStyle/>
          <a:p>
            <a:pPr marL="0" indent="0" algn="r">
              <a:buNone/>
            </a:pPr>
            <a:r>
              <a:rPr lang="en-US" sz="950" dirty="0">
                <a:solidFill>
                  <a:srgbClr val="5A6B78"/>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2233"/>
        </a:solidFill>
        <a:effectLst/>
      </p:bgPr>
    </p:bg>
    <p:spTree>
      <p:nvGrpSpPr>
        <p:cNvPr id="1" name=""/>
        <p:cNvGrpSpPr/>
        <p:nvPr/>
      </p:nvGrpSpPr>
      <p:grpSpPr>
        <a:xfrm>
          <a:off x="0" y="0"/>
          <a:ext cx="0" cy="0"/>
          <a:chOff x="0" y="0"/>
          <a:chExt cx="0" cy="0"/>
        </a:xfrm>
      </p:grpSpPr>
      <p:sp>
        <p:nvSpPr>
          <p:cNvPr id="2" name="Text 0"/>
          <p:cNvSpPr/>
          <p:nvPr/>
        </p:nvSpPr>
        <p:spPr>
          <a:xfrm>
            <a:off x="914400" y="1188720"/>
            <a:ext cx="10058400" cy="320040"/>
          </a:xfrm>
          <a:prstGeom prst="rect">
            <a:avLst/>
          </a:prstGeom>
          <a:noFill/>
          <a:ln/>
        </p:spPr>
        <p:txBody>
          <a:bodyPr wrap="square" lIns="0" tIns="0" rIns="0" bIns="0" rtlCol="0" anchor="ctr"/>
          <a:lstStyle/>
          <a:p>
            <a:pPr marL="0" indent="0">
              <a:buNone/>
            </a:pPr>
            <a:r>
              <a:rPr lang="en-US" sz="1200" b="1" kern="0" spc="200" dirty="0">
                <a:solidFill>
                  <a:srgbClr val="3D9AA8"/>
                </a:solidFill>
                <a:latin typeface="Calibri" pitchFamily="34" charset="0"/>
                <a:ea typeface="Calibri" pitchFamily="34" charset="-122"/>
                <a:cs typeface="Calibri" pitchFamily="34" charset="-120"/>
              </a:rPr>
              <a:t>Para recordar</a:t>
            </a:r>
            <a:endParaRPr lang="en-US" sz="1200" dirty="0"/>
          </a:p>
        </p:txBody>
      </p:sp>
      <p:sp>
        <p:nvSpPr>
          <p:cNvPr id="3" name="Text 1"/>
          <p:cNvSpPr/>
          <p:nvPr/>
        </p:nvSpPr>
        <p:spPr>
          <a:xfrm>
            <a:off x="914400" y="1737360"/>
            <a:ext cx="10332720" cy="1737360"/>
          </a:xfrm>
          <a:prstGeom prst="rect">
            <a:avLst/>
          </a:prstGeom>
          <a:noFill/>
          <a:ln/>
        </p:spPr>
        <p:txBody>
          <a:bodyPr wrap="square" lIns="0" tIns="0" rIns="0" bIns="0" rtlCol="0" anchor="ctr"/>
          <a:lstStyle/>
          <a:p>
            <a:pPr marL="0" indent="0">
              <a:lnSpc>
                <a:spcPts val="4600"/>
              </a:lnSpc>
              <a:buNone/>
            </a:pPr>
            <a:r>
              <a:rPr lang="en-US" sz="3400" b="1" dirty="0">
                <a:solidFill>
                  <a:srgbClr val="FFFFFF"/>
                </a:solidFill>
                <a:latin typeface="Cambria" pitchFamily="34" charset="0"/>
                <a:ea typeface="Cambria" pitchFamily="34" charset="-122"/>
                <a:cs typeface="Cambria" pitchFamily="34" charset="-120"/>
              </a:rPr>
              <a:t>La pregunta ya no es si los estudiantes usan la IA,</a:t>
            </a:r>
            <a:endParaRPr lang="en-US" sz="3400" dirty="0"/>
          </a:p>
          <a:p>
            <a:pPr marL="0" indent="0">
              <a:lnSpc>
                <a:spcPts val="4600"/>
              </a:lnSpc>
              <a:buNone/>
            </a:pPr>
            <a:r>
              <a:rPr lang="en-US" sz="3400" b="1" dirty="0">
                <a:solidFill>
                  <a:srgbClr val="FFFFFF"/>
                </a:solidFill>
                <a:latin typeface="Cambria" pitchFamily="34" charset="0"/>
                <a:ea typeface="Cambria" pitchFamily="34" charset="-122"/>
                <a:cs typeface="Cambria" pitchFamily="34" charset="-120"/>
              </a:rPr>
              <a:t>sino si saben juzgar lo que ella les devuelve.</a:t>
            </a:r>
            <a:endParaRPr lang="en-US" sz="3400" dirty="0"/>
          </a:p>
        </p:txBody>
      </p:sp>
      <p:sp>
        <p:nvSpPr>
          <p:cNvPr id="4" name="Text 2"/>
          <p:cNvSpPr/>
          <p:nvPr/>
        </p:nvSpPr>
        <p:spPr>
          <a:xfrm>
            <a:off x="914400" y="3749040"/>
            <a:ext cx="7863840" cy="1554480"/>
          </a:xfrm>
          <a:prstGeom prst="rect">
            <a:avLst/>
          </a:prstGeom>
          <a:noFill/>
          <a:ln/>
        </p:spPr>
        <p:txBody>
          <a:bodyPr wrap="square" lIns="0" tIns="0" rIns="0" bIns="0" rtlCol="0" anchor="ctr"/>
          <a:lstStyle/>
          <a:p>
            <a:pPr marL="0" indent="0">
              <a:lnSpc>
                <a:spcPts val="2400"/>
              </a:lnSpc>
              <a:buNone/>
            </a:pPr>
            <a:r>
              <a:rPr lang="en-US" sz="1500" dirty="0">
                <a:solidFill>
                  <a:srgbClr val="C6D5DE"/>
                </a:solidFill>
                <a:latin typeface="Calibri" pitchFamily="34" charset="0"/>
                <a:ea typeface="Calibri" pitchFamily="34" charset="-122"/>
                <a:cs typeface="Calibri" pitchFamily="34" charset="-120"/>
              </a:rPr>
              <a:t>El paso de menos del 3 % a casi el 100 % no ocurrió gracias a un curso: ocurrió en seis meses, entre dos cohortes, sin que nadie lo planificara. Lo que queda por enseñar es la capacidad de formular una petición precisa, de detectar un error plausible y de asumir la decisión que sigue — es decir, exactamente las competencias que la salud pública ya esperaba de sus egresados.</a:t>
            </a:r>
            <a:endParaRPr lang="en-US" sz="1500" dirty="0"/>
          </a:p>
        </p:txBody>
      </p:sp>
      <p:sp>
        <p:nvSpPr>
          <p:cNvPr id="5" name="Text 3"/>
          <p:cNvSpPr/>
          <p:nvPr/>
        </p:nvSpPr>
        <p:spPr>
          <a:xfrm>
            <a:off x="914400" y="5440680"/>
            <a:ext cx="7315200" cy="731520"/>
          </a:xfrm>
          <a:prstGeom prst="rect">
            <a:avLst/>
          </a:prstGeom>
          <a:noFill/>
          <a:ln/>
        </p:spPr>
        <p:txBody>
          <a:bodyPr wrap="square" lIns="0" tIns="0" rIns="0" bIns="0" rtlCol="0" anchor="b"/>
          <a:lstStyle/>
          <a:p>
            <a:pPr marL="0" indent="0" algn="l">
              <a:lnSpc>
                <a:spcPts val="2000"/>
              </a:lnSpc>
              <a:buNone/>
            </a:pPr>
            <a:r>
              <a:rPr lang="en-US" sz="1400" b="1" dirty="0">
                <a:solidFill>
                  <a:srgbClr val="FFFFFF"/>
                </a:solidFill>
                <a:latin typeface="Calibri" pitchFamily="34" charset="0"/>
                <a:ea typeface="Calibri" pitchFamily="34" charset="-122"/>
                <a:cs typeface="Calibri" pitchFamily="34" charset="-120"/>
              </a:rPr>
              <a:t>Éric Robitaille, Ph. D.
</a:t>
            </a:r>
            <a:r>
              <a:rPr lang="en-US" sz="1200" dirty="0">
                <a:solidFill>
                  <a:srgbClr val="E29524"/>
                </a:solidFill>
                <a:latin typeface="Calibri" pitchFamily="34" charset="0"/>
                <a:ea typeface="Calibri" pitchFamily="34" charset="-122"/>
                <a:cs typeface="Calibri" pitchFamily="34" charset="-120"/>
              </a:rPr>
              <a:t>eric.robitaille.cisss16@ssss.gouv.qc.ca</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lIns="0" tIns="0" rIns="0" bIns="0" rtlCol="0" anchor="ctr"/>
          <a:lstStyle/>
          <a:p>
            <a:pPr marL="0" indent="0">
              <a:buNone/>
            </a:pPr>
            <a:r>
              <a:rPr lang="en-US" sz="1100" b="1" kern="0" spc="200" dirty="0">
                <a:solidFill>
                  <a:srgbClr val="1C6E7D"/>
                </a:solidFill>
                <a:latin typeface="Calibri" pitchFamily="34" charset="0"/>
                <a:ea typeface="Calibri" pitchFamily="34" charset="-122"/>
                <a:cs typeface="Calibri" pitchFamily="34" charset="-120"/>
              </a:rPr>
              <a:t>PARA PROFUNDIZAR</a:t>
            </a:r>
            <a:endParaRPr lang="en-US" sz="11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400" b="1" dirty="0">
                <a:solidFill>
                  <a:srgbClr val="0E2233"/>
                </a:solidFill>
                <a:latin typeface="Cambria" pitchFamily="34" charset="0"/>
                <a:ea typeface="Cambria" pitchFamily="34" charset="-122"/>
                <a:cs typeface="Cambria" pitchFamily="34" charset="-120"/>
              </a:rPr>
              <a:t>Herramientas, enlaces y referencias</a:t>
            </a:r>
            <a:endParaRPr lang="en-US" sz="3400" dirty="0"/>
          </a:p>
        </p:txBody>
      </p:sp>
      <p:sp>
        <p:nvSpPr>
          <p:cNvPr id="4" name="Shape 2"/>
          <p:cNvSpPr/>
          <p:nvPr/>
        </p:nvSpPr>
        <p:spPr>
          <a:xfrm>
            <a:off x="548640" y="1737360"/>
            <a:ext cx="5486400" cy="3931920"/>
          </a:xfrm>
          <a:prstGeom prst="roundRect">
            <a:avLst>
              <a:gd name="adj" fmla="val 2093"/>
            </a:avLst>
          </a:prstGeom>
          <a:solidFill>
            <a:srgbClr val="F1F5F7"/>
          </a:solidFill>
          <a:ln w="12700">
            <a:solidFill>
              <a:srgbClr val="F1F5F7"/>
            </a:solidFill>
            <a:prstDash val="solid"/>
          </a:ln>
        </p:spPr>
      </p:sp>
      <p:sp>
        <p:nvSpPr>
          <p:cNvPr id="5" name="Text 3"/>
          <p:cNvSpPr/>
          <p:nvPr/>
        </p:nvSpPr>
        <p:spPr>
          <a:xfrm>
            <a:off x="914400" y="1920240"/>
            <a:ext cx="4754880" cy="365760"/>
          </a:xfrm>
          <a:prstGeom prst="rect">
            <a:avLst/>
          </a:prstGeom>
          <a:noFill/>
          <a:ln/>
        </p:spPr>
        <p:txBody>
          <a:bodyPr wrap="square" lIns="0" tIns="0" rIns="0" bIns="0" rtlCol="0" anchor="ctr"/>
          <a:lstStyle/>
          <a:p>
            <a:pPr marL="0" indent="0">
              <a:buNone/>
            </a:pPr>
            <a:r>
              <a:rPr lang="en-US" sz="1700" b="1" dirty="0">
                <a:solidFill>
                  <a:srgbClr val="0E2233"/>
                </a:solidFill>
                <a:latin typeface="Calibri" pitchFamily="34" charset="0"/>
                <a:ea typeface="Calibri" pitchFamily="34" charset="-122"/>
                <a:cs typeface="Calibri" pitchFamily="34" charset="-120"/>
              </a:rPr>
              <a:t>Las herramientas del curso</a:t>
            </a:r>
            <a:endParaRPr lang="en-US" sz="1700" dirty="0"/>
          </a:p>
        </p:txBody>
      </p:sp>
      <p:sp>
        <p:nvSpPr>
          <p:cNvPr id="6" name="Text 4"/>
          <p:cNvSpPr/>
          <p:nvPr/>
        </p:nvSpPr>
        <p:spPr>
          <a:xfrm>
            <a:off x="914400" y="2514600"/>
            <a:ext cx="4846320" cy="274320"/>
          </a:xfrm>
          <a:prstGeom prst="rect">
            <a:avLst/>
          </a:prstGeom>
          <a:noFill/>
          <a:ln/>
        </p:spPr>
        <p:txBody>
          <a:bodyPr wrap="square" lIns="0" tIns="0" rIns="0" bIns="0" rtlCol="0" anchor="ctr"/>
          <a:lstStyle/>
          <a:p>
            <a:pPr marL="0" indent="0">
              <a:buNone/>
            </a:pPr>
            <a:r>
              <a:rPr lang="en-US" sz="1300" b="1" dirty="0">
                <a:solidFill>
                  <a:srgbClr val="0E2233"/>
                </a:solidFill>
                <a:latin typeface="Calibri" pitchFamily="34" charset="0"/>
                <a:ea typeface="Calibri" pitchFamily="34" charset="-122"/>
                <a:cs typeface="Calibri" pitchFamily="34" charset="-120"/>
              </a:rPr>
              <a:t>Evaluador de objetivos — nota de política</a:t>
            </a:r>
            <a:endParaRPr lang="en-US" sz="1300" dirty="0"/>
          </a:p>
        </p:txBody>
      </p:sp>
      <p:sp>
        <p:nvSpPr>
          <p:cNvPr id="7" name="Text 5"/>
          <p:cNvSpPr/>
          <p:nvPr/>
        </p:nvSpPr>
        <p:spPr>
          <a:xfrm>
            <a:off x="914400" y="2788920"/>
            <a:ext cx="4892040" cy="274320"/>
          </a:xfrm>
          <a:prstGeom prst="rect">
            <a:avLst/>
          </a:prstGeom>
          <a:noFill/>
          <a:ln/>
        </p:spPr>
        <p:txBody>
          <a:bodyPr wrap="square" lIns="0" tIns="0" rIns="0" bIns="0" rtlCol="0" anchor="ctr"/>
          <a:lstStyle/>
          <a:p>
            <a:pPr marL="0" indent="0">
              <a:buNone/>
            </a:pPr>
            <a:r>
              <a:rPr lang="en-US" sz="1050" dirty="0">
                <a:solidFill>
                  <a:srgbClr val="1C6E7D"/>
                </a:solidFill>
                <a:latin typeface="Courier New" pitchFamily="34" charset="0"/>
                <a:ea typeface="Courier New" pitchFamily="34" charset="-122"/>
                <a:cs typeface="Courier New" pitchFamily="34" charset="-120"/>
              </a:rPr>
              <a:t>eranlorob-dotcom.github.io/MSO6083/objectifs/objectifsnoia.html</a:t>
            </a:r>
            <a:endParaRPr lang="en-US" sz="1050" dirty="0"/>
          </a:p>
        </p:txBody>
      </p:sp>
      <p:sp>
        <p:nvSpPr>
          <p:cNvPr id="8" name="Text 6"/>
          <p:cNvSpPr/>
          <p:nvPr/>
        </p:nvSpPr>
        <p:spPr>
          <a:xfrm>
            <a:off x="914400" y="3273552"/>
            <a:ext cx="4846320" cy="274320"/>
          </a:xfrm>
          <a:prstGeom prst="rect">
            <a:avLst/>
          </a:prstGeom>
          <a:noFill/>
          <a:ln/>
        </p:spPr>
        <p:txBody>
          <a:bodyPr wrap="square" lIns="0" tIns="0" rIns="0" bIns="0" rtlCol="0" anchor="ctr"/>
          <a:lstStyle/>
          <a:p>
            <a:pPr marL="0" indent="0">
              <a:buNone/>
            </a:pPr>
            <a:r>
              <a:rPr lang="en-US" sz="1300" b="1" dirty="0">
                <a:solidFill>
                  <a:srgbClr val="0E2233"/>
                </a:solidFill>
                <a:latin typeface="Calibri" pitchFamily="34" charset="0"/>
                <a:ea typeface="Calibri" pitchFamily="34" charset="-122"/>
                <a:cs typeface="Calibri" pitchFamily="34" charset="-120"/>
              </a:rPr>
              <a:t>Evaluador de objetivos de pasantía 2.0</a:t>
            </a:r>
            <a:endParaRPr lang="en-US" sz="1300" dirty="0"/>
          </a:p>
        </p:txBody>
      </p:sp>
      <p:sp>
        <p:nvSpPr>
          <p:cNvPr id="9" name="Text 7"/>
          <p:cNvSpPr/>
          <p:nvPr/>
        </p:nvSpPr>
        <p:spPr>
          <a:xfrm>
            <a:off x="914400" y="3547872"/>
            <a:ext cx="4892040" cy="274320"/>
          </a:xfrm>
          <a:prstGeom prst="rect">
            <a:avLst/>
          </a:prstGeom>
          <a:noFill/>
          <a:ln/>
        </p:spPr>
        <p:txBody>
          <a:bodyPr wrap="square" lIns="0" tIns="0" rIns="0" bIns="0" rtlCol="0" anchor="ctr"/>
          <a:lstStyle/>
          <a:p>
            <a:pPr marL="0" indent="0">
              <a:buNone/>
            </a:pPr>
            <a:r>
              <a:rPr lang="en-US" sz="1050" dirty="0">
                <a:solidFill>
                  <a:srgbClr val="1C6E7D"/>
                </a:solidFill>
                <a:latin typeface="Courier New" pitchFamily="34" charset="0"/>
                <a:ea typeface="Courier New" pitchFamily="34" charset="-122"/>
                <a:cs typeface="Courier New" pitchFamily="34" charset="-120"/>
              </a:rPr>
              <a:t>eranlorob-dotcom.github.io/MSO6083/objectifs/objectifsstages.html</a:t>
            </a:r>
            <a:endParaRPr lang="en-US" sz="1050" dirty="0"/>
          </a:p>
        </p:txBody>
      </p:sp>
      <p:sp>
        <p:nvSpPr>
          <p:cNvPr id="10" name="Text 8"/>
          <p:cNvSpPr/>
          <p:nvPr/>
        </p:nvSpPr>
        <p:spPr>
          <a:xfrm>
            <a:off x="914400" y="4032504"/>
            <a:ext cx="4846320" cy="274320"/>
          </a:xfrm>
          <a:prstGeom prst="rect">
            <a:avLst/>
          </a:prstGeom>
          <a:noFill/>
          <a:ln/>
        </p:spPr>
        <p:txBody>
          <a:bodyPr wrap="square" lIns="0" tIns="0" rIns="0" bIns="0" rtlCol="0" anchor="ctr"/>
          <a:lstStyle/>
          <a:p>
            <a:pPr marL="0" indent="0">
              <a:buNone/>
            </a:pPr>
            <a:r>
              <a:rPr lang="en-US" sz="1300" b="1" dirty="0">
                <a:solidFill>
                  <a:srgbClr val="0E2233"/>
                </a:solidFill>
                <a:latin typeface="Calibri" pitchFamily="34" charset="0"/>
                <a:ea typeface="Calibri" pitchFamily="34" charset="-122"/>
                <a:cs typeface="Calibri" pitchFamily="34" charset="-120"/>
              </a:rPr>
              <a:t>El banco de pruebas del título</a:t>
            </a:r>
            <a:endParaRPr lang="en-US" sz="1300" dirty="0"/>
          </a:p>
        </p:txBody>
      </p:sp>
      <p:sp>
        <p:nvSpPr>
          <p:cNvPr id="11" name="Text 9"/>
          <p:cNvSpPr/>
          <p:nvPr/>
        </p:nvSpPr>
        <p:spPr>
          <a:xfrm>
            <a:off x="914400" y="4306824"/>
            <a:ext cx="4892040" cy="274320"/>
          </a:xfrm>
          <a:prstGeom prst="rect">
            <a:avLst/>
          </a:prstGeom>
          <a:noFill/>
          <a:ln/>
        </p:spPr>
        <p:txBody>
          <a:bodyPr wrap="square" lIns="0" tIns="0" rIns="0" bIns="0" rtlCol="0" anchor="ctr"/>
          <a:lstStyle/>
          <a:p>
            <a:pPr marL="0" indent="0">
              <a:buNone/>
            </a:pPr>
            <a:r>
              <a:rPr lang="en-US" sz="1050" dirty="0">
                <a:solidFill>
                  <a:srgbClr val="1C6E7D"/>
                </a:solidFill>
                <a:latin typeface="Courier New" pitchFamily="34" charset="0"/>
                <a:ea typeface="Courier New" pitchFamily="34" charset="-122"/>
                <a:cs typeface="Courier New" pitchFamily="34" charset="-120"/>
              </a:rPr>
              <a:t>eranlorob-dotcom.github.io/MSO6083/titre/titre.html</a:t>
            </a:r>
            <a:endParaRPr lang="en-US" sz="1050" dirty="0"/>
          </a:p>
        </p:txBody>
      </p:sp>
      <p:sp>
        <p:nvSpPr>
          <p:cNvPr id="12" name="Text 10"/>
          <p:cNvSpPr/>
          <p:nvPr/>
        </p:nvSpPr>
        <p:spPr>
          <a:xfrm>
            <a:off x="914400" y="4791456"/>
            <a:ext cx="4846320" cy="274320"/>
          </a:xfrm>
          <a:prstGeom prst="rect">
            <a:avLst/>
          </a:prstGeom>
          <a:noFill/>
          <a:ln/>
        </p:spPr>
        <p:txBody>
          <a:bodyPr wrap="square" lIns="0" tIns="0" rIns="0" bIns="0" rtlCol="0" anchor="ctr"/>
          <a:lstStyle/>
          <a:p>
            <a:pPr marL="0" indent="0">
              <a:buNone/>
            </a:pPr>
            <a:r>
              <a:rPr lang="en-US" sz="1300" b="1" dirty="0">
                <a:solidFill>
                  <a:srgbClr val="0E2233"/>
                </a:solidFill>
                <a:latin typeface="Calibri" pitchFamily="34" charset="0"/>
                <a:ea typeface="Calibri" pitchFamily="34" charset="-122"/>
                <a:cs typeface="Calibri" pitchFamily="34" charset="-120"/>
              </a:rPr>
              <a:t>El entregable multimodal — texto y video</a:t>
            </a:r>
            <a:endParaRPr lang="en-US" sz="1300" dirty="0"/>
          </a:p>
        </p:txBody>
      </p:sp>
      <p:sp>
        <p:nvSpPr>
          <p:cNvPr id="13" name="Text 11"/>
          <p:cNvSpPr/>
          <p:nvPr/>
        </p:nvSpPr>
        <p:spPr>
          <a:xfrm>
            <a:off x="914400" y="5065776"/>
            <a:ext cx="4892040" cy="274320"/>
          </a:xfrm>
          <a:prstGeom prst="rect">
            <a:avLst/>
          </a:prstGeom>
          <a:noFill/>
          <a:ln/>
        </p:spPr>
        <p:txBody>
          <a:bodyPr wrap="square" lIns="0" tIns="0" rIns="0" bIns="0" rtlCol="0" anchor="ctr"/>
          <a:lstStyle/>
          <a:p>
            <a:pPr marL="0" indent="0">
              <a:buNone/>
            </a:pPr>
            <a:r>
              <a:rPr lang="en-US" sz="1050" dirty="0">
                <a:solidFill>
                  <a:srgbClr val="1C6E7D"/>
                </a:solidFill>
                <a:latin typeface="Courier New" pitchFamily="34" charset="0"/>
                <a:ea typeface="Courier New" pitchFamily="34" charset="-122"/>
                <a:cs typeface="Courier New" pitchFamily="34" charset="-120"/>
              </a:rPr>
              <a:t>eranlorob-dotcom.github.io/MSO6083/TP/index.html</a:t>
            </a:r>
            <a:endParaRPr lang="en-US" sz="1050" dirty="0"/>
          </a:p>
        </p:txBody>
      </p:sp>
      <p:sp>
        <p:nvSpPr>
          <p:cNvPr id="14" name="Shape 12"/>
          <p:cNvSpPr/>
          <p:nvPr/>
        </p:nvSpPr>
        <p:spPr>
          <a:xfrm>
            <a:off x="6336792" y="1737360"/>
            <a:ext cx="5303520" cy="3931920"/>
          </a:xfrm>
          <a:prstGeom prst="roundRect">
            <a:avLst>
              <a:gd name="adj" fmla="val 2093"/>
            </a:avLst>
          </a:prstGeom>
          <a:solidFill>
            <a:srgbClr val="FFFFFF"/>
          </a:solidFill>
          <a:ln w="12700">
            <a:solidFill>
              <a:srgbClr val="FFFFFF"/>
            </a:solidFill>
            <a:prstDash val="solid"/>
          </a:ln>
        </p:spPr>
      </p:sp>
      <p:sp>
        <p:nvSpPr>
          <p:cNvPr id="15" name="Text 13"/>
          <p:cNvSpPr/>
          <p:nvPr/>
        </p:nvSpPr>
        <p:spPr>
          <a:xfrm>
            <a:off x="6400800" y="1920240"/>
            <a:ext cx="4754880" cy="365760"/>
          </a:xfrm>
          <a:prstGeom prst="rect">
            <a:avLst/>
          </a:prstGeom>
          <a:noFill/>
          <a:ln/>
        </p:spPr>
        <p:txBody>
          <a:bodyPr wrap="square" lIns="0" tIns="0" rIns="0" bIns="0" rtlCol="0" anchor="ctr"/>
          <a:lstStyle/>
          <a:p>
            <a:pPr marL="0" indent="0">
              <a:buNone/>
            </a:pPr>
            <a:r>
              <a:rPr lang="en-US" sz="1700" b="1" dirty="0">
                <a:solidFill>
                  <a:srgbClr val="0E2233"/>
                </a:solidFill>
                <a:latin typeface="Calibri" pitchFamily="34" charset="0"/>
                <a:ea typeface="Calibri" pitchFamily="34" charset="-122"/>
                <a:cs typeface="Calibri" pitchFamily="34" charset="-120"/>
              </a:rPr>
              <a:t>Referencias</a:t>
            </a:r>
            <a:endParaRPr lang="en-US" sz="1700" dirty="0"/>
          </a:p>
        </p:txBody>
      </p:sp>
      <p:sp>
        <p:nvSpPr>
          <p:cNvPr id="16" name="Text 14"/>
          <p:cNvSpPr/>
          <p:nvPr/>
        </p:nvSpPr>
        <p:spPr>
          <a:xfrm>
            <a:off x="6400800" y="2377440"/>
            <a:ext cx="5029200" cy="3200400"/>
          </a:xfrm>
          <a:prstGeom prst="rect">
            <a:avLst/>
          </a:prstGeom>
          <a:noFill/>
          <a:ln/>
        </p:spPr>
        <p:txBody>
          <a:bodyPr wrap="square" lIns="0" tIns="0" rIns="0" bIns="0" rtlCol="0" anchor="ctr"/>
          <a:lstStyle/>
          <a:p>
            <a:pPr marL="342900" indent="-342900">
              <a:lnSpc>
                <a:spcPts val="1300"/>
              </a:lnSpc>
              <a:spcAft>
                <a:spcPts val="700"/>
              </a:spcAft>
              <a:buSzPct val="100000"/>
              <a:buChar char="•"/>
            </a:pPr>
            <a:r>
              <a:rPr lang="en-US" sz="1000" dirty="0">
                <a:solidFill>
                  <a:srgbClr val="5A6B78"/>
                </a:solidFill>
                <a:latin typeface="Calibri" pitchFamily="34" charset="0"/>
                <a:ea typeface="Calibri" pitchFamily="34" charset="-122"/>
                <a:cs typeface="Calibri" pitchFamily="34" charset="-120"/>
              </a:rPr>
              <a:t>Ali, F., Ahmed, A., Alipour, M. A. y Terashima-Marin, H. (2025). Adoption of AI-coding assistants in programming education. Journal of Computers in Education.</a:t>
            </a:r>
            <a:endParaRPr lang="en-US" sz="1000" dirty="0"/>
          </a:p>
          <a:p>
            <a:pPr marL="342900" indent="-342900">
              <a:lnSpc>
                <a:spcPts val="1300"/>
              </a:lnSpc>
              <a:spcAft>
                <a:spcPts val="700"/>
              </a:spcAft>
              <a:buSzPct val="100000"/>
              <a:buChar char="•"/>
            </a:pPr>
            <a:r>
              <a:rPr lang="en-US" sz="1000" dirty="0">
                <a:solidFill>
                  <a:srgbClr val="5A6B78"/>
                </a:solidFill>
                <a:latin typeface="Calibri" pitchFamily="34" charset="0"/>
                <a:ea typeface="Calibri" pitchFamily="34" charset="-122"/>
                <a:cs typeface="Calibri" pitchFamily="34" charset="-120"/>
              </a:rPr>
              <a:t>Caballar, R. D. (2024, 2 de mayo). AI copilots are changing how coding is taught. IEEE Spectrum.</a:t>
            </a:r>
            <a:endParaRPr lang="en-US" sz="1000" dirty="0"/>
          </a:p>
          <a:p>
            <a:pPr marL="342900" indent="-342900">
              <a:lnSpc>
                <a:spcPts val="1300"/>
              </a:lnSpc>
              <a:spcAft>
                <a:spcPts val="700"/>
              </a:spcAft>
              <a:buSzPct val="100000"/>
              <a:buChar char="•"/>
            </a:pPr>
            <a:r>
              <a:rPr lang="en-US" sz="1000" dirty="0">
                <a:solidFill>
                  <a:srgbClr val="5A6B78"/>
                </a:solidFill>
                <a:latin typeface="Calibri" pitchFamily="34" charset="0"/>
                <a:ea typeface="Calibri" pitchFamily="34" charset="-122"/>
                <a:cs typeface="Calibri" pitchFamily="34" charset="-120"/>
              </a:rPr>
              <a:t>Karpathy, A. (2025, 2 de febrero). Publicación en X que introduce el término «vibe coding».</a:t>
            </a:r>
            <a:endParaRPr lang="en-US" sz="1000" dirty="0"/>
          </a:p>
          <a:p>
            <a:pPr marL="342900" indent="-342900">
              <a:lnSpc>
                <a:spcPts val="1300"/>
              </a:lnSpc>
              <a:spcAft>
                <a:spcPts val="700"/>
              </a:spcAft>
              <a:buSzPct val="100000"/>
              <a:buChar char="•"/>
            </a:pPr>
            <a:r>
              <a:rPr lang="en-US" sz="1000" dirty="0">
                <a:solidFill>
                  <a:srgbClr val="5A6B78"/>
                </a:solidFill>
                <a:latin typeface="Calibri" pitchFamily="34" charset="0"/>
                <a:ea typeface="Calibri" pitchFamily="34" charset="-122"/>
                <a:cs typeface="Calibri" pitchFamily="34" charset="-120"/>
              </a:rPr>
              <a:t>Lin, Y. y Zhao, B. (2025). Posthuman cartography? Annals of the AAG, 115(3), 499-512.</a:t>
            </a:r>
            <a:endParaRPr lang="en-US" sz="1000" dirty="0"/>
          </a:p>
          <a:p>
            <a:pPr marL="342900" indent="-342900">
              <a:lnSpc>
                <a:spcPts val="1300"/>
              </a:lnSpc>
              <a:spcAft>
                <a:spcPts val="700"/>
              </a:spcAft>
              <a:buSzPct val="100000"/>
              <a:buChar char="•"/>
            </a:pPr>
            <a:r>
              <a:rPr lang="en-US" sz="1000" dirty="0">
                <a:solidFill>
                  <a:srgbClr val="5A6B78"/>
                </a:solidFill>
                <a:latin typeface="Calibri" pitchFamily="34" charset="0"/>
                <a:ea typeface="Calibri" pitchFamily="34" charset="-122"/>
                <a:cs typeface="Calibri" pitchFamily="34" charset="-120"/>
              </a:rPr>
              <a:t>Prather, J. et al. (2024). Beyond the hype: current trends in generative AI research, teaching practices, and tools. ITiCSE-WGR 2024.</a:t>
            </a:r>
            <a:endParaRPr lang="en-US" sz="1000" dirty="0"/>
          </a:p>
          <a:p>
            <a:pPr marL="342900" indent="-342900">
              <a:lnSpc>
                <a:spcPts val="1300"/>
              </a:lnSpc>
              <a:spcAft>
                <a:spcPts val="700"/>
              </a:spcAft>
              <a:buSzPct val="100000"/>
              <a:buChar char="•"/>
            </a:pPr>
            <a:r>
              <a:rPr lang="en-US" sz="1000" dirty="0">
                <a:solidFill>
                  <a:srgbClr val="5A6B78"/>
                </a:solidFill>
                <a:latin typeface="Calibri" pitchFamily="34" charset="0"/>
                <a:ea typeface="Calibri" pitchFamily="34" charset="-122"/>
                <a:cs typeface="Calibri" pitchFamily="34" charset="-120"/>
              </a:rPr>
              <a:t>Jungwirth, D. y Haluza, D. (2023). Artificial intelligence and public health: an exploratory study. IJERPH, 20(5), 4541.</a:t>
            </a:r>
            <a:endParaRPr lang="en-US" sz="1000" dirty="0"/>
          </a:p>
          <a:p>
            <a:pPr marL="342900" indent="-342900">
              <a:lnSpc>
                <a:spcPts val="1300"/>
              </a:lnSpc>
              <a:spcAft>
                <a:spcPts val="700"/>
              </a:spcAft>
              <a:buSzPct val="100000"/>
              <a:buChar char="•"/>
            </a:pPr>
            <a:r>
              <a:rPr lang="en-US" sz="1000" dirty="0">
                <a:solidFill>
                  <a:srgbClr val="5A6B78"/>
                </a:solidFill>
                <a:latin typeface="Calibri" pitchFamily="34" charset="0"/>
                <a:ea typeface="Calibri" pitchFamily="34" charset="-122"/>
                <a:cs typeface="Calibri" pitchFamily="34" charset="-120"/>
              </a:rPr>
              <a:t>Sifat, R. I. (2023). ChatGPT and the future of health policy analysis. Annals of Biomedical Engineering.</a:t>
            </a:r>
            <a:endParaRPr lang="en-US" sz="1000" dirty="0"/>
          </a:p>
          <a:p>
            <a:pPr marL="342900" indent="-342900">
              <a:lnSpc>
                <a:spcPts val="1300"/>
              </a:lnSpc>
              <a:spcAft>
                <a:spcPts val="700"/>
              </a:spcAft>
              <a:buSzPct val="100000"/>
              <a:buChar char="•"/>
            </a:pPr>
            <a:r>
              <a:rPr lang="en-US" sz="1000" dirty="0">
                <a:solidFill>
                  <a:srgbClr val="5A6B78"/>
                </a:solidFill>
                <a:latin typeface="Calibri" pitchFamily="34" charset="0"/>
                <a:ea typeface="Calibri" pitchFamily="34" charset="-122"/>
                <a:cs typeface="Calibri" pitchFamily="34" charset="-120"/>
              </a:rPr>
              <a:t>Tessier, C. (2019). La note de breffage (policy brief). CCNPPS / INSPQ.</a:t>
            </a:r>
            <a:endParaRPr lang="en-US" sz="1000" dirty="0"/>
          </a:p>
        </p:txBody>
      </p:sp>
      <p:sp>
        <p:nvSpPr>
          <p:cNvPr id="17" name="Text 15"/>
          <p:cNvSpPr/>
          <p:nvPr/>
        </p:nvSpPr>
        <p:spPr>
          <a:xfrm>
            <a:off x="548640" y="6355080"/>
            <a:ext cx="7315200" cy="274320"/>
          </a:xfrm>
          <a:prstGeom prst="rect">
            <a:avLst/>
          </a:prstGeom>
          <a:noFill/>
          <a:ln/>
        </p:spPr>
        <p:txBody>
          <a:bodyPr wrap="square" lIns="0" tIns="0" rIns="0" bIns="0" rtlCol="0" anchor="ctr"/>
          <a:lstStyle/>
          <a:p>
            <a:pPr marL="0" indent="0">
              <a:buNone/>
            </a:pPr>
            <a:r>
              <a:rPr lang="en-US" sz="950" dirty="0">
                <a:solidFill>
                  <a:srgbClr val="5A6B78"/>
                </a:solidFill>
                <a:latin typeface="Calibri" pitchFamily="34" charset="0"/>
                <a:ea typeface="Calibri" pitchFamily="34" charset="-122"/>
                <a:cs typeface="Calibri" pitchFamily="34" charset="-120"/>
              </a:rPr>
              <a:t>Éric Robitaille, Ph. D. — CISSS des Laurentides / ESPUM</a:t>
            </a:r>
            <a:endParaRPr lang="en-US" sz="950" dirty="0"/>
          </a:p>
        </p:txBody>
      </p:sp>
      <p:sp>
        <p:nvSpPr>
          <p:cNvPr id="18" name="Text 16"/>
          <p:cNvSpPr/>
          <p:nvPr/>
        </p:nvSpPr>
        <p:spPr>
          <a:xfrm>
            <a:off x="11155680" y="6355080"/>
            <a:ext cx="502920" cy="274320"/>
          </a:xfrm>
          <a:prstGeom prst="rect">
            <a:avLst/>
          </a:prstGeom>
          <a:noFill/>
          <a:ln/>
        </p:spPr>
        <p:txBody>
          <a:bodyPr wrap="square" lIns="0" tIns="0" rIns="0" bIns="0" rtlCol="0" anchor="ctr"/>
          <a:lstStyle/>
          <a:p>
            <a:pPr marL="0" indent="0" algn="r">
              <a:buNone/>
            </a:pPr>
            <a:r>
              <a:rPr lang="en-US" sz="950" dirty="0">
                <a:solidFill>
                  <a:srgbClr val="5A6B78"/>
                </a:solidFill>
                <a:latin typeface="Calibri" pitchFamily="34" charset="0"/>
                <a:ea typeface="Calibri" pitchFamily="34" charset="-122"/>
                <a:cs typeface="Calibri" pitchFamily="34" charset="-120"/>
              </a:rPr>
              <a:t>19</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13566</TotalTime>
  <Words>4594</Words>
  <Application>Microsoft Office PowerPoint</Application>
  <PresentationFormat>Grand écran</PresentationFormat>
  <Paragraphs>348</Paragraphs>
  <Slides>19</Slides>
  <Notes>19</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19</vt:i4>
      </vt:variant>
    </vt:vector>
  </HeadingPairs>
  <TitlesOfParts>
    <vt:vector size="24" baseType="lpstr">
      <vt:lpstr>Arial</vt:lpstr>
      <vt:lpstr>Calibri</vt:lpstr>
      <vt:lpstr>Cambria</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 3 % a casi el 100 %</dc:title>
  <dc:subject>PptxGenJS Presentation</dc:subject>
  <dc:creator>Éric Robitaille</dc:creator>
  <cp:lastModifiedBy>Robitaille Eric</cp:lastModifiedBy>
  <cp:revision>1</cp:revision>
  <dcterms:created xsi:type="dcterms:W3CDTF">2026-08-18T13:47:34Z</dcterms:created>
  <dcterms:modified xsi:type="dcterms:W3CDTF">2026-08-28T00:07:47Z</dcterms:modified>
</cp:coreProperties>
</file>